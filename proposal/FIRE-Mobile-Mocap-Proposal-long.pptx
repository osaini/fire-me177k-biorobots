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lab motion capture is accurate but stuck in one room; we want to find out if two phones running OpenCap are good enough to take it anywhere. Introduce the team and mentors.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abstract from the lecture's proposal structure. If a reviewer only reads one slide, it should be this one: the problem, what we will do (three aims), and what the lab gets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Rationale. The lecture says reviewers decide on the first page, so lead with the problem, not the tools. Keep the comparison qualitative; we are not claiming exact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Numbers are from Uhlrich et al. 2023 (PLOS Comp Bio); double-check them against the paper before presenting. Point out that the OpenCap validation was against markers in the developers' lab. Our contribution is checking it against Theia3D in our lab, on our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Aims are ordered by priority: Aim 1 must happen, Aim 2 builds on it, Aim 3 is the payoff. The 5° hypothesis comes from the OpenCap paper's 4.5° error vs markers; agree the exact thresholds with Finn.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we are not starting from zero. If you have them, swap in or add a photo of the printed holder and a screenshot of the OpenCap skeleton from your two-camera session. Real photos help more than any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with Finn: whether the lab's existing IRB covers team members as participants, treadmill speeds, and whether Theia3D cameras can see around the treadmill handrails. The stomp gives a sharp vertical ankle event both systems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Bertec + OpenSim piece from Finn's list. The hard part is syncing Bertec forces with phone video; the stomp event from Aim 1 shows up in both. If time allows, compare OpenCap's own video-only force estimate to the measured Bertec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Outdoors has no reference system, so the result there is practical: does it work, how long does setup take, what breaks? That feeds the lab setup guide deliverable. Confirm Theia3D camera coverage in the terrain park with Finn.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these separate protects the core aims: if we fall behind, we drop stretch goals, not Aims 1–3. The phone holder could move into the core plan if camera placement turns out to matter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are estimates; check prices and ask Finn what the lab already has. The filament number comes from our actual slicer output (31 g for the holder). The lecture's budget categories are personnel, equipment, and travel, so all three appear even where they are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role split is a draft. Reassign leads to match what each of you wants to learn (see the first-meeting questions in the group doc). The lecture asks for a reporting structure, so the org chart shows who we answer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 specifically called out the difference between milestones and deliverables, so we split them. Dates are targets; adjust them once you know the proposal and poster due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labels are Mondays. Aims overlap on purpose: we can build the OpenSim pipeline while treadmill captures are still going. Shift bars once the course gives exact dates for the poster session and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trust a plan more when it names its own weak points. The 'no ground truth' risk is the one to say out loud: it shows we understand what the comparison can and can't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every citation on Google Scholar before submitting, especially [5]: fill in the full author list and venue for the Cotton lab paper Finn pointed us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ask. Reviewers should leave knowing exactly what resources we need and when they'll see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B"/>
        </a:solidFill>
      </p:bgPr>
    </p:bg>
    <p:spTree>
      <p:nvGrpSpPr>
        <p:cNvPr id="1" name=""/>
        <p:cNvGrpSpPr/>
        <p:nvPr/>
      </p:nvGrpSpPr>
      <p:grpSpPr>
        <a:xfrm>
          <a:off x="0" y="0"/>
          <a:ext cx="0" cy="0"/>
          <a:chOff x="0" y="0"/>
          <a:chExt cx="0" cy="0"/>
        </a:xfrm>
      </p:grpSpPr>
      <p:sp>
        <p:nvSpPr>
          <p:cNvPr id="2" name="Text 0"/>
          <p:cNvSpPr txBox="1"/>
          <p:nvPr/>
        </p:nvSpPr>
        <p:spPr>
          <a:xfrm>
            <a:off x="640080" y="640080"/>
            <a:ext cx="6400800" cy="274320"/>
          </a:xfrm>
          <a:prstGeom prst="rect">
            <a:avLst/>
          </a:prstGeom>
          <a:noFill/>
          <a:ln/>
        </p:spPr>
        <p:txBody>
          <a:bodyPr wrap="square" lIns="0" tIns="0" rIns="0" bIns="0" rtlCol="0" anchor="t"/>
          <a:lstStyle/>
          <a:p>
            <a:pPr indent="0" marL="0">
              <a:buNone/>
            </a:pPr>
            <a:r>
              <a:rPr lang="en-US" sz="1200" b="1" spc="200" kern="0" dirty="0">
                <a:solidFill>
                  <a:srgbClr val="BF5700"/>
                </a:solidFill>
                <a:latin typeface="Calibri" pitchFamily="34" charset="0"/>
                <a:ea typeface="Calibri" pitchFamily="34" charset="-122"/>
                <a:cs typeface="Calibri" pitchFamily="34" charset="-120"/>
              </a:rPr>
              <a:t>FIRE ME 177K  ·  BIOMECHANICS  ·  FALL 2026</a:t>
            </a:r>
            <a:endParaRPr lang="en-US" sz="1200" dirty="0"/>
          </a:p>
        </p:txBody>
      </p:sp>
      <p:sp>
        <p:nvSpPr>
          <p:cNvPr id="3" name="Text 1"/>
          <p:cNvSpPr txBox="1"/>
          <p:nvPr/>
        </p:nvSpPr>
        <p:spPr>
          <a:xfrm>
            <a:off x="640080" y="1234440"/>
            <a:ext cx="6766560" cy="18288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Taking the Motion Capture Lab Anywhere</a:t>
            </a:r>
            <a:endParaRPr lang="en-US" sz="4400" dirty="0"/>
          </a:p>
        </p:txBody>
      </p:sp>
      <p:sp>
        <p:nvSpPr>
          <p:cNvPr id="4" name="Text 2"/>
          <p:cNvSpPr txBox="1"/>
          <p:nvPr/>
        </p:nvSpPr>
        <p:spPr>
          <a:xfrm>
            <a:off x="640080" y="3154680"/>
            <a:ext cx="6309360" cy="822960"/>
          </a:xfrm>
          <a:prstGeom prst="rect">
            <a:avLst/>
          </a:prstGeom>
          <a:noFill/>
          <a:ln/>
        </p:spPr>
        <p:txBody>
          <a:bodyPr wrap="square" lIns="0" tIns="0" rIns="0" bIns="0" rtlCol="0" anchor="t"/>
          <a:lstStyle/>
          <a:p>
            <a:pPr indent="0" marL="0">
              <a:buNone/>
            </a:pPr>
            <a:r>
              <a:rPr lang="en-US" sz="1800" dirty="0">
                <a:solidFill>
                  <a:srgbClr val="C9CFD9"/>
                </a:solidFill>
                <a:latin typeface="Calibri" pitchFamily="34" charset="0"/>
                <a:ea typeface="Calibri" pitchFamily="34" charset="-122"/>
                <a:cs typeface="Calibri" pitchFamily="34" charset="-120"/>
              </a:rPr>
              <a:t>Validating a two-smartphone OpenCap setup against the lab's Theia3D system, from the treadmill to the outdoors</a:t>
            </a:r>
            <a:endParaRPr lang="en-US" sz="1800" dirty="0"/>
          </a:p>
        </p:txBody>
      </p:sp>
      <p:sp>
        <p:nvSpPr>
          <p:cNvPr id="5" name="Text 3"/>
          <p:cNvSpPr txBox="1"/>
          <p:nvPr/>
        </p:nvSpPr>
        <p:spPr>
          <a:xfrm>
            <a:off x="640080" y="4846320"/>
            <a:ext cx="6858000" cy="109728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latin typeface="Calibri" pitchFamily="34" charset="0"/>
                <a:ea typeface="Calibri" pitchFamily="34" charset="-122"/>
                <a:cs typeface="Calibri" pitchFamily="34" charset="-120"/>
              </a:rPr>
              <a:t>Oaj Saini  ·  Asiya Sunesara  ·  Tarun Muruganandham</a:t>
            </a:r>
            <a:endParaRPr lang="en-US" sz="1400" dirty="0"/>
          </a:p>
          <a:p>
            <a:pPr indent="0" marL="0">
              <a:spcAft>
                <a:spcPts val="400"/>
              </a:spcAft>
              <a:buNone/>
            </a:pPr>
            <a:r>
              <a:rPr lang="en-US" sz="1400" dirty="0">
                <a:solidFill>
                  <a:srgbClr val="C9CFD9"/>
                </a:solidFill>
                <a:latin typeface="Calibri" pitchFamily="34" charset="0"/>
                <a:ea typeface="Calibri" pitchFamily="34" charset="-122"/>
                <a:cs typeface="Calibri" pitchFamily="34" charset="-120"/>
              </a:rPr>
              <a:t>Graduate mentor: Finn Eagen   |   Faculty: Dr. Nicholas P. Fey</a:t>
            </a:r>
            <a:endParaRPr lang="en-US" sz="1400" dirty="0"/>
          </a:p>
          <a:p>
            <a:pPr indent="0" marL="0">
              <a:spcAft>
                <a:spcPts val="400"/>
              </a:spcAft>
              <a:buNone/>
            </a:pPr>
            <a:r>
              <a:rPr lang="en-US" sz="1400" dirty="0">
                <a:solidFill>
                  <a:srgbClr val="8A93A3"/>
                </a:solidFill>
                <a:latin typeface="Calibri" pitchFamily="34" charset="0"/>
                <a:ea typeface="Calibri" pitchFamily="34" charset="-122"/>
                <a:cs typeface="Calibri" pitchFamily="34" charset="-120"/>
              </a:rPr>
              <a:t>SAHM Lab, Walker Department of Mechanical Engineering, UT Austin</a:t>
            </a:r>
            <a:endParaRPr lang="en-US" sz="1400" dirty="0"/>
          </a:p>
        </p:txBody>
      </p:sp>
      <p:sp>
        <p:nvSpPr>
          <p:cNvPr id="6" name="Shape 4"/>
          <p:cNvSpPr/>
          <p:nvPr/>
        </p:nvSpPr>
        <p:spPr>
          <a:xfrm flipV="1">
            <a:off x="9347454" y="1945386"/>
            <a:ext cx="48006" cy="1440180"/>
          </a:xfrm>
          <a:prstGeom prst="line">
            <a:avLst/>
          </a:prstGeom>
          <a:noFill/>
          <a:ln w="28575">
            <a:solidFill>
              <a:srgbClr val="6B7485"/>
            </a:solidFill>
            <a:prstDash val="solid"/>
          </a:ln>
        </p:spPr>
      </p:sp>
      <p:sp>
        <p:nvSpPr>
          <p:cNvPr id="7" name="Shape 5"/>
          <p:cNvSpPr/>
          <p:nvPr/>
        </p:nvSpPr>
        <p:spPr>
          <a:xfrm>
            <a:off x="9395460" y="1945386"/>
            <a:ext cx="115214" cy="163220"/>
          </a:xfrm>
          <a:prstGeom prst="line">
            <a:avLst/>
          </a:prstGeom>
          <a:noFill/>
          <a:ln w="28575">
            <a:solidFill>
              <a:srgbClr val="6B7485"/>
            </a:solidFill>
            <a:prstDash val="solid"/>
          </a:ln>
        </p:spPr>
      </p:sp>
      <p:sp>
        <p:nvSpPr>
          <p:cNvPr id="8" name="Shape 6"/>
          <p:cNvSpPr/>
          <p:nvPr/>
        </p:nvSpPr>
        <p:spPr>
          <a:xfrm flipV="1">
            <a:off x="9280246" y="1945386"/>
            <a:ext cx="115214" cy="163220"/>
          </a:xfrm>
          <a:prstGeom prst="line">
            <a:avLst/>
          </a:prstGeom>
          <a:noFill/>
          <a:ln w="28575">
            <a:solidFill>
              <a:srgbClr val="6B7485"/>
            </a:solidFill>
            <a:prstDash val="solid"/>
          </a:ln>
        </p:spPr>
      </p:sp>
      <p:sp>
        <p:nvSpPr>
          <p:cNvPr id="9" name="Shape 7"/>
          <p:cNvSpPr/>
          <p:nvPr/>
        </p:nvSpPr>
        <p:spPr>
          <a:xfrm>
            <a:off x="9510674" y="2108606"/>
            <a:ext cx="268834" cy="604876"/>
          </a:xfrm>
          <a:prstGeom prst="line">
            <a:avLst/>
          </a:prstGeom>
          <a:noFill/>
          <a:ln w="28575">
            <a:solidFill>
              <a:srgbClr val="6B7485"/>
            </a:solidFill>
            <a:prstDash val="solid"/>
          </a:ln>
        </p:spPr>
      </p:sp>
      <p:sp>
        <p:nvSpPr>
          <p:cNvPr id="10" name="Shape 8"/>
          <p:cNvSpPr/>
          <p:nvPr/>
        </p:nvSpPr>
        <p:spPr>
          <a:xfrm>
            <a:off x="9779508" y="2713482"/>
            <a:ext cx="211226" cy="480060"/>
          </a:xfrm>
          <a:prstGeom prst="line">
            <a:avLst/>
          </a:prstGeom>
          <a:noFill/>
          <a:ln w="28575">
            <a:solidFill>
              <a:srgbClr val="6B7485"/>
            </a:solidFill>
            <a:prstDash val="solid"/>
          </a:ln>
        </p:spPr>
      </p:sp>
      <p:sp>
        <p:nvSpPr>
          <p:cNvPr id="11" name="Shape 9"/>
          <p:cNvSpPr/>
          <p:nvPr/>
        </p:nvSpPr>
        <p:spPr>
          <a:xfrm flipV="1">
            <a:off x="9107424" y="2108606"/>
            <a:ext cx="172822" cy="604876"/>
          </a:xfrm>
          <a:prstGeom prst="line">
            <a:avLst/>
          </a:prstGeom>
          <a:noFill/>
          <a:ln w="28575">
            <a:solidFill>
              <a:srgbClr val="6B7485"/>
            </a:solidFill>
            <a:prstDash val="solid"/>
          </a:ln>
        </p:spPr>
      </p:sp>
      <p:sp>
        <p:nvSpPr>
          <p:cNvPr id="12" name="Shape 10"/>
          <p:cNvSpPr/>
          <p:nvPr/>
        </p:nvSpPr>
        <p:spPr>
          <a:xfrm flipV="1">
            <a:off x="8934602" y="2713482"/>
            <a:ext cx="172822" cy="432054"/>
          </a:xfrm>
          <a:prstGeom prst="line">
            <a:avLst/>
          </a:prstGeom>
          <a:noFill/>
          <a:ln w="28575">
            <a:solidFill>
              <a:srgbClr val="6B7485"/>
            </a:solidFill>
            <a:prstDash val="solid"/>
          </a:ln>
        </p:spPr>
      </p:sp>
      <p:sp>
        <p:nvSpPr>
          <p:cNvPr id="13" name="Shape 11"/>
          <p:cNvSpPr/>
          <p:nvPr/>
        </p:nvSpPr>
        <p:spPr>
          <a:xfrm>
            <a:off x="9347454" y="3385566"/>
            <a:ext cx="96012" cy="48006"/>
          </a:xfrm>
          <a:prstGeom prst="line">
            <a:avLst/>
          </a:prstGeom>
          <a:noFill/>
          <a:ln w="28575">
            <a:solidFill>
              <a:srgbClr val="6B7485"/>
            </a:solidFill>
            <a:prstDash val="solid"/>
          </a:ln>
        </p:spPr>
      </p:sp>
      <p:sp>
        <p:nvSpPr>
          <p:cNvPr id="14" name="Shape 12"/>
          <p:cNvSpPr/>
          <p:nvPr/>
        </p:nvSpPr>
        <p:spPr>
          <a:xfrm flipV="1">
            <a:off x="9251442" y="3385566"/>
            <a:ext cx="96012" cy="48006"/>
          </a:xfrm>
          <a:prstGeom prst="line">
            <a:avLst/>
          </a:prstGeom>
          <a:noFill/>
          <a:ln w="28575">
            <a:solidFill>
              <a:srgbClr val="6B7485"/>
            </a:solidFill>
            <a:prstDash val="solid"/>
          </a:ln>
        </p:spPr>
      </p:sp>
      <p:sp>
        <p:nvSpPr>
          <p:cNvPr id="15" name="Shape 13"/>
          <p:cNvSpPr/>
          <p:nvPr/>
        </p:nvSpPr>
        <p:spPr>
          <a:xfrm>
            <a:off x="9443466" y="3433572"/>
            <a:ext cx="288036" cy="720090"/>
          </a:xfrm>
          <a:prstGeom prst="line">
            <a:avLst/>
          </a:prstGeom>
          <a:noFill/>
          <a:ln w="28575">
            <a:solidFill>
              <a:srgbClr val="6B7485"/>
            </a:solidFill>
            <a:prstDash val="solid"/>
          </a:ln>
        </p:spPr>
      </p:sp>
      <p:sp>
        <p:nvSpPr>
          <p:cNvPr id="16" name="Shape 14"/>
          <p:cNvSpPr/>
          <p:nvPr/>
        </p:nvSpPr>
        <p:spPr>
          <a:xfrm flipV="1">
            <a:off x="9635490" y="4153662"/>
            <a:ext cx="96012" cy="768096"/>
          </a:xfrm>
          <a:prstGeom prst="line">
            <a:avLst/>
          </a:prstGeom>
          <a:noFill/>
          <a:ln w="28575">
            <a:solidFill>
              <a:srgbClr val="6B7485"/>
            </a:solidFill>
            <a:prstDash val="solid"/>
          </a:ln>
        </p:spPr>
      </p:sp>
      <p:sp>
        <p:nvSpPr>
          <p:cNvPr id="17" name="Shape 15"/>
          <p:cNvSpPr/>
          <p:nvPr/>
        </p:nvSpPr>
        <p:spPr>
          <a:xfrm>
            <a:off x="9635490" y="4921758"/>
            <a:ext cx="288036" cy="67208"/>
          </a:xfrm>
          <a:prstGeom prst="line">
            <a:avLst/>
          </a:prstGeom>
          <a:noFill/>
          <a:ln w="28575">
            <a:solidFill>
              <a:srgbClr val="6B7485"/>
            </a:solidFill>
            <a:prstDash val="solid"/>
          </a:ln>
        </p:spPr>
      </p:sp>
      <p:sp>
        <p:nvSpPr>
          <p:cNvPr id="18" name="Shape 16"/>
          <p:cNvSpPr/>
          <p:nvPr/>
        </p:nvSpPr>
        <p:spPr>
          <a:xfrm flipV="1">
            <a:off x="9107424" y="3433572"/>
            <a:ext cx="144018" cy="720090"/>
          </a:xfrm>
          <a:prstGeom prst="line">
            <a:avLst/>
          </a:prstGeom>
          <a:noFill/>
          <a:ln w="28575">
            <a:solidFill>
              <a:srgbClr val="6B7485"/>
            </a:solidFill>
            <a:prstDash val="solid"/>
          </a:ln>
        </p:spPr>
      </p:sp>
      <p:sp>
        <p:nvSpPr>
          <p:cNvPr id="19" name="Shape 17"/>
          <p:cNvSpPr/>
          <p:nvPr/>
        </p:nvSpPr>
        <p:spPr>
          <a:xfrm flipV="1">
            <a:off x="8723376" y="4153662"/>
            <a:ext cx="384048" cy="624078"/>
          </a:xfrm>
          <a:prstGeom prst="line">
            <a:avLst/>
          </a:prstGeom>
          <a:noFill/>
          <a:ln w="28575">
            <a:solidFill>
              <a:srgbClr val="6B7485"/>
            </a:solidFill>
            <a:prstDash val="solid"/>
          </a:ln>
        </p:spPr>
      </p:sp>
      <p:sp>
        <p:nvSpPr>
          <p:cNvPr id="20" name="Shape 18"/>
          <p:cNvSpPr/>
          <p:nvPr/>
        </p:nvSpPr>
        <p:spPr>
          <a:xfrm>
            <a:off x="8723376" y="4777740"/>
            <a:ext cx="144018" cy="211226"/>
          </a:xfrm>
          <a:prstGeom prst="line">
            <a:avLst/>
          </a:prstGeom>
          <a:noFill/>
          <a:ln w="28575">
            <a:solidFill>
              <a:srgbClr val="6B7485"/>
            </a:solidFill>
            <a:prstDash val="solid"/>
          </a:ln>
        </p:spPr>
      </p:sp>
      <p:sp>
        <p:nvSpPr>
          <p:cNvPr id="21" name="Shape 19"/>
          <p:cNvSpPr/>
          <p:nvPr/>
        </p:nvSpPr>
        <p:spPr>
          <a:xfrm>
            <a:off x="9174632" y="1148486"/>
            <a:ext cx="537667" cy="537667"/>
          </a:xfrm>
          <a:prstGeom prst="ellipse">
            <a:avLst/>
          </a:prstGeom>
          <a:solidFill>
            <a:srgbClr val="6B7485">
              <a:alpha val="0"/>
            </a:srgbClr>
          </a:solidFill>
          <a:ln w="28575">
            <a:solidFill>
              <a:srgbClr val="6B7485"/>
            </a:solidFill>
            <a:prstDash val="solid"/>
          </a:ln>
        </p:spPr>
      </p:sp>
      <p:sp>
        <p:nvSpPr>
          <p:cNvPr id="22" name="Shape 20"/>
          <p:cNvSpPr/>
          <p:nvPr/>
        </p:nvSpPr>
        <p:spPr>
          <a:xfrm>
            <a:off x="9444152" y="2042084"/>
            <a:ext cx="133045" cy="133045"/>
          </a:xfrm>
          <a:prstGeom prst="ellipse">
            <a:avLst/>
          </a:prstGeom>
          <a:solidFill>
            <a:srgbClr val="BF5700"/>
          </a:solidFill>
          <a:ln w="12700">
            <a:solidFill>
              <a:srgbClr val="BF5700"/>
            </a:solidFill>
            <a:prstDash val="solid"/>
          </a:ln>
        </p:spPr>
      </p:sp>
      <p:sp>
        <p:nvSpPr>
          <p:cNvPr id="23" name="Shape 21"/>
          <p:cNvSpPr/>
          <p:nvPr/>
        </p:nvSpPr>
        <p:spPr>
          <a:xfrm>
            <a:off x="9213723" y="2042084"/>
            <a:ext cx="133045" cy="133045"/>
          </a:xfrm>
          <a:prstGeom prst="ellipse">
            <a:avLst/>
          </a:prstGeom>
          <a:solidFill>
            <a:srgbClr val="BF5700"/>
          </a:solidFill>
          <a:ln w="12700">
            <a:solidFill>
              <a:srgbClr val="BF5700"/>
            </a:solidFill>
            <a:prstDash val="solid"/>
          </a:ln>
        </p:spPr>
      </p:sp>
      <p:sp>
        <p:nvSpPr>
          <p:cNvPr id="24" name="Shape 22"/>
          <p:cNvSpPr/>
          <p:nvPr/>
        </p:nvSpPr>
        <p:spPr>
          <a:xfrm>
            <a:off x="9712985" y="2646959"/>
            <a:ext cx="133045" cy="133045"/>
          </a:xfrm>
          <a:prstGeom prst="ellipse">
            <a:avLst/>
          </a:prstGeom>
          <a:solidFill>
            <a:srgbClr val="BF5700"/>
          </a:solidFill>
          <a:ln w="12700">
            <a:solidFill>
              <a:srgbClr val="BF5700"/>
            </a:solidFill>
            <a:prstDash val="solid"/>
          </a:ln>
        </p:spPr>
      </p:sp>
      <p:sp>
        <p:nvSpPr>
          <p:cNvPr id="25" name="Shape 23"/>
          <p:cNvSpPr/>
          <p:nvPr/>
        </p:nvSpPr>
        <p:spPr>
          <a:xfrm>
            <a:off x="9924212" y="3127019"/>
            <a:ext cx="133045" cy="133045"/>
          </a:xfrm>
          <a:prstGeom prst="ellipse">
            <a:avLst/>
          </a:prstGeom>
          <a:solidFill>
            <a:srgbClr val="BF5700"/>
          </a:solidFill>
          <a:ln w="12700">
            <a:solidFill>
              <a:srgbClr val="BF5700"/>
            </a:solidFill>
            <a:prstDash val="solid"/>
          </a:ln>
        </p:spPr>
      </p:sp>
      <p:sp>
        <p:nvSpPr>
          <p:cNvPr id="26" name="Shape 24"/>
          <p:cNvSpPr/>
          <p:nvPr/>
        </p:nvSpPr>
        <p:spPr>
          <a:xfrm>
            <a:off x="9040901" y="2646959"/>
            <a:ext cx="133045" cy="133045"/>
          </a:xfrm>
          <a:prstGeom prst="ellipse">
            <a:avLst/>
          </a:prstGeom>
          <a:solidFill>
            <a:srgbClr val="BF5700"/>
          </a:solidFill>
          <a:ln w="12700">
            <a:solidFill>
              <a:srgbClr val="BF5700"/>
            </a:solidFill>
            <a:prstDash val="solid"/>
          </a:ln>
        </p:spPr>
      </p:sp>
      <p:sp>
        <p:nvSpPr>
          <p:cNvPr id="27" name="Shape 25"/>
          <p:cNvSpPr/>
          <p:nvPr/>
        </p:nvSpPr>
        <p:spPr>
          <a:xfrm>
            <a:off x="8868080" y="3079013"/>
            <a:ext cx="133045" cy="133045"/>
          </a:xfrm>
          <a:prstGeom prst="ellipse">
            <a:avLst/>
          </a:prstGeom>
          <a:solidFill>
            <a:srgbClr val="BF5700"/>
          </a:solidFill>
          <a:ln w="12700">
            <a:solidFill>
              <a:srgbClr val="BF5700"/>
            </a:solidFill>
            <a:prstDash val="solid"/>
          </a:ln>
        </p:spPr>
      </p:sp>
      <p:sp>
        <p:nvSpPr>
          <p:cNvPr id="28" name="Shape 26"/>
          <p:cNvSpPr/>
          <p:nvPr/>
        </p:nvSpPr>
        <p:spPr>
          <a:xfrm>
            <a:off x="9376943" y="3367049"/>
            <a:ext cx="133045" cy="133045"/>
          </a:xfrm>
          <a:prstGeom prst="ellipse">
            <a:avLst/>
          </a:prstGeom>
          <a:solidFill>
            <a:srgbClr val="BF5700"/>
          </a:solidFill>
          <a:ln w="12700">
            <a:solidFill>
              <a:srgbClr val="BF5700"/>
            </a:solidFill>
            <a:prstDash val="solid"/>
          </a:ln>
        </p:spPr>
      </p:sp>
      <p:sp>
        <p:nvSpPr>
          <p:cNvPr id="29" name="Shape 27"/>
          <p:cNvSpPr/>
          <p:nvPr/>
        </p:nvSpPr>
        <p:spPr>
          <a:xfrm>
            <a:off x="9184919" y="3367049"/>
            <a:ext cx="133045" cy="133045"/>
          </a:xfrm>
          <a:prstGeom prst="ellipse">
            <a:avLst/>
          </a:prstGeom>
          <a:solidFill>
            <a:srgbClr val="BF5700"/>
          </a:solidFill>
          <a:ln w="12700">
            <a:solidFill>
              <a:srgbClr val="BF5700"/>
            </a:solidFill>
            <a:prstDash val="solid"/>
          </a:ln>
        </p:spPr>
      </p:sp>
      <p:sp>
        <p:nvSpPr>
          <p:cNvPr id="30" name="Shape 28"/>
          <p:cNvSpPr/>
          <p:nvPr/>
        </p:nvSpPr>
        <p:spPr>
          <a:xfrm>
            <a:off x="9664979" y="4087139"/>
            <a:ext cx="133045" cy="133045"/>
          </a:xfrm>
          <a:prstGeom prst="ellipse">
            <a:avLst/>
          </a:prstGeom>
          <a:solidFill>
            <a:srgbClr val="BF5700"/>
          </a:solidFill>
          <a:ln w="12700">
            <a:solidFill>
              <a:srgbClr val="BF5700"/>
            </a:solidFill>
            <a:prstDash val="solid"/>
          </a:ln>
        </p:spPr>
      </p:sp>
      <p:sp>
        <p:nvSpPr>
          <p:cNvPr id="31" name="Shape 29"/>
          <p:cNvSpPr/>
          <p:nvPr/>
        </p:nvSpPr>
        <p:spPr>
          <a:xfrm>
            <a:off x="9568967" y="4855235"/>
            <a:ext cx="133045" cy="133045"/>
          </a:xfrm>
          <a:prstGeom prst="ellipse">
            <a:avLst/>
          </a:prstGeom>
          <a:solidFill>
            <a:srgbClr val="BF5700"/>
          </a:solidFill>
          <a:ln w="12700">
            <a:solidFill>
              <a:srgbClr val="BF5700"/>
            </a:solidFill>
            <a:prstDash val="solid"/>
          </a:ln>
        </p:spPr>
      </p:sp>
      <p:sp>
        <p:nvSpPr>
          <p:cNvPr id="32" name="Shape 30"/>
          <p:cNvSpPr/>
          <p:nvPr/>
        </p:nvSpPr>
        <p:spPr>
          <a:xfrm>
            <a:off x="9857003" y="4922444"/>
            <a:ext cx="133045" cy="133045"/>
          </a:xfrm>
          <a:prstGeom prst="ellipse">
            <a:avLst/>
          </a:prstGeom>
          <a:solidFill>
            <a:srgbClr val="BF5700"/>
          </a:solidFill>
          <a:ln w="12700">
            <a:solidFill>
              <a:srgbClr val="BF5700"/>
            </a:solidFill>
            <a:prstDash val="solid"/>
          </a:ln>
        </p:spPr>
      </p:sp>
      <p:sp>
        <p:nvSpPr>
          <p:cNvPr id="33" name="Shape 31"/>
          <p:cNvSpPr/>
          <p:nvPr/>
        </p:nvSpPr>
        <p:spPr>
          <a:xfrm>
            <a:off x="9040901" y="4087139"/>
            <a:ext cx="133045" cy="133045"/>
          </a:xfrm>
          <a:prstGeom prst="ellipse">
            <a:avLst/>
          </a:prstGeom>
          <a:solidFill>
            <a:srgbClr val="BF5700"/>
          </a:solidFill>
          <a:ln w="12700">
            <a:solidFill>
              <a:srgbClr val="BF5700"/>
            </a:solidFill>
            <a:prstDash val="solid"/>
          </a:ln>
        </p:spPr>
      </p:sp>
      <p:sp>
        <p:nvSpPr>
          <p:cNvPr id="34" name="Shape 32"/>
          <p:cNvSpPr/>
          <p:nvPr/>
        </p:nvSpPr>
        <p:spPr>
          <a:xfrm>
            <a:off x="8656853" y="4711217"/>
            <a:ext cx="133045" cy="133045"/>
          </a:xfrm>
          <a:prstGeom prst="ellipse">
            <a:avLst/>
          </a:prstGeom>
          <a:solidFill>
            <a:srgbClr val="BF5700"/>
          </a:solidFill>
          <a:ln w="12700">
            <a:solidFill>
              <a:srgbClr val="BF5700"/>
            </a:solidFill>
            <a:prstDash val="solid"/>
          </a:ln>
        </p:spPr>
      </p:sp>
      <p:sp>
        <p:nvSpPr>
          <p:cNvPr id="35" name="Shape 33"/>
          <p:cNvSpPr/>
          <p:nvPr/>
        </p:nvSpPr>
        <p:spPr>
          <a:xfrm>
            <a:off x="8800871" y="4922444"/>
            <a:ext cx="133045" cy="133045"/>
          </a:xfrm>
          <a:prstGeom prst="ellipse">
            <a:avLst/>
          </a:prstGeom>
          <a:solidFill>
            <a:srgbClr val="BF5700"/>
          </a:solidFill>
          <a:ln w="12700">
            <a:solidFill>
              <a:srgbClr val="BF5700"/>
            </a:solidFill>
            <a:prstDash val="solid"/>
          </a:ln>
        </p:spPr>
      </p:sp>
      <p:sp>
        <p:nvSpPr>
          <p:cNvPr id="36" name="Shape 34"/>
          <p:cNvSpPr/>
          <p:nvPr/>
        </p:nvSpPr>
        <p:spPr>
          <a:xfrm flipV="1">
            <a:off x="8001000" y="3433572"/>
            <a:ext cx="1442466" cy="2007108"/>
          </a:xfrm>
          <a:prstGeom prst="line">
            <a:avLst/>
          </a:prstGeom>
          <a:noFill/>
          <a:ln w="9525">
            <a:solidFill>
              <a:srgbClr val="3E4758"/>
            </a:solidFill>
            <a:prstDash val="dash"/>
          </a:ln>
        </p:spPr>
      </p:sp>
      <p:sp>
        <p:nvSpPr>
          <p:cNvPr id="37" name="Shape 35"/>
          <p:cNvSpPr/>
          <p:nvPr/>
        </p:nvSpPr>
        <p:spPr>
          <a:xfrm flipV="1">
            <a:off x="8001000" y="4153662"/>
            <a:ext cx="1730502" cy="1287018"/>
          </a:xfrm>
          <a:prstGeom prst="line">
            <a:avLst/>
          </a:prstGeom>
          <a:noFill/>
          <a:ln w="9525">
            <a:solidFill>
              <a:srgbClr val="3E4758"/>
            </a:solidFill>
            <a:prstDash val="dash"/>
          </a:ln>
        </p:spPr>
      </p:sp>
      <p:sp>
        <p:nvSpPr>
          <p:cNvPr id="38" name="Shape 36"/>
          <p:cNvSpPr/>
          <p:nvPr/>
        </p:nvSpPr>
        <p:spPr>
          <a:xfrm flipV="1">
            <a:off x="8001000" y="2108606"/>
            <a:ext cx="1509674" cy="3332074"/>
          </a:xfrm>
          <a:prstGeom prst="line">
            <a:avLst/>
          </a:prstGeom>
          <a:noFill/>
          <a:ln w="9525">
            <a:solidFill>
              <a:srgbClr val="3E4758"/>
            </a:solidFill>
            <a:prstDash val="dash"/>
          </a:ln>
        </p:spPr>
      </p:sp>
      <p:sp>
        <p:nvSpPr>
          <p:cNvPr id="39" name="Shape 37"/>
          <p:cNvSpPr/>
          <p:nvPr/>
        </p:nvSpPr>
        <p:spPr>
          <a:xfrm flipV="1">
            <a:off x="8001000" y="4777740"/>
            <a:ext cx="722376" cy="662940"/>
          </a:xfrm>
          <a:prstGeom prst="line">
            <a:avLst/>
          </a:prstGeom>
          <a:noFill/>
          <a:ln w="9525">
            <a:solidFill>
              <a:srgbClr val="3E4758"/>
            </a:solidFill>
            <a:prstDash val="dash"/>
          </a:ln>
        </p:spPr>
      </p:sp>
      <p:sp>
        <p:nvSpPr>
          <p:cNvPr id="40" name="Shape 38"/>
          <p:cNvSpPr/>
          <p:nvPr/>
        </p:nvSpPr>
        <p:spPr>
          <a:xfrm>
            <a:off x="7818120" y="5440680"/>
            <a:ext cx="365760" cy="566928"/>
          </a:xfrm>
          <a:prstGeom prst="roundRect">
            <a:avLst>
              <a:gd name="adj" fmla="val 15000"/>
            </a:avLst>
          </a:prstGeom>
          <a:solidFill>
            <a:srgbClr val="2A3140"/>
          </a:solidFill>
          <a:ln w="15875">
            <a:solidFill>
              <a:srgbClr val="BF5700"/>
            </a:solidFill>
            <a:prstDash val="solid"/>
          </a:ln>
        </p:spPr>
      </p:sp>
      <p:pic>
        <p:nvPicPr>
          <p:cNvPr id="41" name="Image 0" descr="preencoded.png">    </p:cNvPr>
          <p:cNvPicPr>
            <a:picLocks noChangeAspect="1"/>
          </p:cNvPicPr>
          <p:nvPr/>
        </p:nvPicPr>
        <p:blipFill>
          <a:blip r:embed="rId1"/>
          <a:stretch>
            <a:fillRect/>
          </a:stretch>
        </p:blipFill>
        <p:spPr>
          <a:xfrm>
            <a:off x="7882128" y="5550408"/>
            <a:ext cx="237744" cy="347472"/>
          </a:xfrm>
          <a:prstGeom prst="rect">
            <a:avLst/>
          </a:prstGeom>
        </p:spPr>
      </p:pic>
      <p:sp>
        <p:nvSpPr>
          <p:cNvPr id="42" name="Shape 39"/>
          <p:cNvSpPr/>
          <p:nvPr/>
        </p:nvSpPr>
        <p:spPr>
          <a:xfrm>
            <a:off x="9443466" y="3433572"/>
            <a:ext cx="1803654" cy="2007108"/>
          </a:xfrm>
          <a:prstGeom prst="line">
            <a:avLst/>
          </a:prstGeom>
          <a:noFill/>
          <a:ln w="9525">
            <a:solidFill>
              <a:srgbClr val="3E4758"/>
            </a:solidFill>
            <a:prstDash val="dash"/>
          </a:ln>
        </p:spPr>
      </p:sp>
      <p:sp>
        <p:nvSpPr>
          <p:cNvPr id="43" name="Shape 40"/>
          <p:cNvSpPr/>
          <p:nvPr/>
        </p:nvSpPr>
        <p:spPr>
          <a:xfrm>
            <a:off x="9731502" y="4153662"/>
            <a:ext cx="1515618" cy="1287018"/>
          </a:xfrm>
          <a:prstGeom prst="line">
            <a:avLst/>
          </a:prstGeom>
          <a:noFill/>
          <a:ln w="9525">
            <a:solidFill>
              <a:srgbClr val="3E4758"/>
            </a:solidFill>
            <a:prstDash val="dash"/>
          </a:ln>
        </p:spPr>
      </p:sp>
      <p:sp>
        <p:nvSpPr>
          <p:cNvPr id="44" name="Shape 41"/>
          <p:cNvSpPr/>
          <p:nvPr/>
        </p:nvSpPr>
        <p:spPr>
          <a:xfrm>
            <a:off x="9510674" y="2108606"/>
            <a:ext cx="1736446" cy="3332074"/>
          </a:xfrm>
          <a:prstGeom prst="line">
            <a:avLst/>
          </a:prstGeom>
          <a:noFill/>
          <a:ln w="9525">
            <a:solidFill>
              <a:srgbClr val="3E4758"/>
            </a:solidFill>
            <a:prstDash val="dash"/>
          </a:ln>
        </p:spPr>
      </p:sp>
      <p:sp>
        <p:nvSpPr>
          <p:cNvPr id="45" name="Shape 42"/>
          <p:cNvSpPr/>
          <p:nvPr/>
        </p:nvSpPr>
        <p:spPr>
          <a:xfrm>
            <a:off x="8723376" y="4777740"/>
            <a:ext cx="2523744" cy="662940"/>
          </a:xfrm>
          <a:prstGeom prst="line">
            <a:avLst/>
          </a:prstGeom>
          <a:noFill/>
          <a:ln w="9525">
            <a:solidFill>
              <a:srgbClr val="3E4758"/>
            </a:solidFill>
            <a:prstDash val="dash"/>
          </a:ln>
        </p:spPr>
      </p:sp>
      <p:sp>
        <p:nvSpPr>
          <p:cNvPr id="46" name="Shape 43"/>
          <p:cNvSpPr/>
          <p:nvPr/>
        </p:nvSpPr>
        <p:spPr>
          <a:xfrm>
            <a:off x="11064240" y="5440680"/>
            <a:ext cx="365760" cy="566928"/>
          </a:xfrm>
          <a:prstGeom prst="roundRect">
            <a:avLst>
              <a:gd name="adj" fmla="val 15000"/>
            </a:avLst>
          </a:prstGeom>
          <a:solidFill>
            <a:srgbClr val="2A3140"/>
          </a:solidFill>
          <a:ln w="15875">
            <a:solidFill>
              <a:srgbClr val="BF5700"/>
            </a:solidFill>
            <a:prstDash val="solid"/>
          </a:ln>
        </p:spPr>
      </p:sp>
      <p:pic>
        <p:nvPicPr>
          <p:cNvPr id="47" name="Image 1" descr="preencoded.png">    </p:cNvPr>
          <p:cNvPicPr>
            <a:picLocks noChangeAspect="1"/>
          </p:cNvPicPr>
          <p:nvPr/>
        </p:nvPicPr>
        <p:blipFill>
          <a:blip r:embed="rId2"/>
          <a:stretch>
            <a:fillRect/>
          </a:stretch>
        </p:blipFill>
        <p:spPr>
          <a:xfrm>
            <a:off x="11128248" y="5550408"/>
            <a:ext cx="237744"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ABSTRACT</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The project in one slide</a:t>
            </a:r>
            <a:endParaRPr lang="en-US" sz="3200" dirty="0"/>
          </a:p>
        </p:txBody>
      </p:sp>
      <p:sp>
        <p:nvSpPr>
          <p:cNvPr id="4" name="Shape 2"/>
          <p:cNvSpPr/>
          <p:nvPr/>
        </p:nvSpPr>
        <p:spPr>
          <a:xfrm>
            <a:off x="548640" y="1417320"/>
            <a:ext cx="6675120" cy="4754880"/>
          </a:xfrm>
          <a:prstGeom prst="roundRect">
            <a:avLst>
              <a:gd name="adj" fmla="val 1538"/>
            </a:avLst>
          </a:prstGeom>
          <a:solidFill>
            <a:srgbClr val="F1F3F6"/>
          </a:solidFill>
          <a:ln w="12700">
            <a:solidFill>
              <a:srgbClr val="F1F3F6"/>
            </a:solidFill>
            <a:prstDash val="solid"/>
          </a:ln>
        </p:spPr>
      </p:sp>
      <p:sp>
        <p:nvSpPr>
          <p:cNvPr id="5" name="Text 3"/>
          <p:cNvSpPr txBox="1"/>
          <p:nvPr/>
        </p:nvSpPr>
        <p:spPr>
          <a:xfrm>
            <a:off x="868680" y="1600200"/>
            <a:ext cx="6035040" cy="4389120"/>
          </a:xfrm>
          <a:prstGeom prst="rect">
            <a:avLst/>
          </a:prstGeom>
          <a:noFill/>
          <a:ln/>
        </p:spPr>
        <p:txBody>
          <a:bodyPr wrap="square" lIns="0" tIns="0" rIns="0" bIns="0" rtlCol="0" anchor="ctr"/>
          <a:lstStyle/>
          <a:p>
            <a:pPr indent="0" marL="0">
              <a:lnSpc>
                <a:spcPct val="110000"/>
              </a:lnSpc>
              <a:spcAft>
                <a:spcPts val="200"/>
              </a:spcAft>
              <a:buNone/>
            </a:pPr>
            <a:r>
              <a:rPr lang="en-US" sz="1700" dirty="0">
                <a:solidFill>
                  <a:srgbClr val="1A1F2B"/>
                </a:solidFill>
                <a:latin typeface="Calibri" pitchFamily="34" charset="0"/>
                <a:ea typeface="Calibri" pitchFamily="34" charset="-122"/>
                <a:cs typeface="Calibri" pitchFamily="34" charset="-120"/>
              </a:rPr>
              <a:t>Lab motion capture measures joint mechanics well, but it is expensive, slow to set up, and fixed to one room. </a:t>
            </a:r>
            <a:pPr indent="0" marL="0">
              <a:lnSpc>
                <a:spcPct val="110000"/>
              </a:lnSpc>
              <a:spcAft>
                <a:spcPts val="200"/>
              </a:spcAft>
              <a:buNone/>
            </a:pPr>
            <a:r>
              <a:rPr lang="en-US" sz="1700" b="1" dirty="0">
                <a:solidFill>
                  <a:srgbClr val="1A1F2B"/>
                </a:solidFill>
                <a:latin typeface="Calibri" pitchFamily="34" charset="0"/>
                <a:ea typeface="Calibri" pitchFamily="34" charset="-122"/>
                <a:cs typeface="Calibri" pitchFamily="34" charset="-120"/>
              </a:rPr>
              <a:t>OpenCap</a:t>
            </a:r>
            <a:pPr indent="0" marL="0">
              <a:lnSpc>
                <a:spcPct val="110000"/>
              </a:lnSpc>
              <a:spcAft>
                <a:spcPts val="200"/>
              </a:spcAft>
              <a:buNone/>
            </a:pPr>
            <a:r>
              <a:rPr lang="en-US" sz="1700" dirty="0">
                <a:solidFill>
                  <a:srgbClr val="1A1F2B"/>
                </a:solidFill>
                <a:latin typeface="Calibri" pitchFamily="34" charset="0"/>
                <a:ea typeface="Calibri" pitchFamily="34" charset="-122"/>
                <a:cs typeface="Calibri" pitchFamily="34" charset="-120"/>
              </a:rPr>
              <a:t> estimates 3D movement from as few as two smartphone videos, which could let the SAHM Lab study people on ramps, stairs, and outdoors.</a:t>
            </a:r>
            <a:endParaRPr lang="en-US" sz="1700" dirty="0"/>
          </a:p>
          <a:p>
            <a:pPr indent="0" marL="0">
              <a:lnSpc>
                <a:spcPct val="110000"/>
              </a:lnSpc>
              <a:spcAft>
                <a:spcPts val="200"/>
              </a:spcAft>
              <a:buNone/>
            </a:pPr>
            <a:r>
              <a:rPr lang="en-US" sz="800" dirty="0">
                <a:solidFill>
                  <a:srgbClr val="1A1F2B"/>
                </a:solidFill>
                <a:latin typeface="Calibri" pitchFamily="34" charset="0"/>
                <a:ea typeface="Calibri" pitchFamily="34" charset="-122"/>
                <a:cs typeface="Calibri" pitchFamily="34" charset="-120"/>
              </a:rPr>
              <a:t> </a:t>
            </a:r>
            <a:endParaRPr lang="en-US" sz="1700" dirty="0"/>
          </a:p>
          <a:p>
            <a:pPr indent="0" marL="0">
              <a:lnSpc>
                <a:spcPct val="110000"/>
              </a:lnSpc>
              <a:spcAft>
                <a:spcPts val="200"/>
              </a:spcAft>
              <a:buNone/>
            </a:pPr>
            <a:r>
              <a:rPr lang="en-US" sz="1700" dirty="0">
                <a:solidFill>
                  <a:srgbClr val="1A1F2B"/>
                </a:solidFill>
                <a:latin typeface="Calibri" pitchFamily="34" charset="0"/>
                <a:ea typeface="Calibri" pitchFamily="34" charset="-122"/>
                <a:cs typeface="Calibri" pitchFamily="34" charset="-120"/>
              </a:rPr>
              <a:t>We will test a two-phone OpenCap setup against the lab's Theia3D markerless system, add Bertec treadmill forces to compute joint moments in OpenSim, and then take the setup out to the terrain park and outdoors.</a:t>
            </a:r>
            <a:endParaRPr lang="en-US" sz="1700" dirty="0"/>
          </a:p>
          <a:p>
            <a:pPr indent="0" marL="0">
              <a:lnSpc>
                <a:spcPct val="110000"/>
              </a:lnSpc>
              <a:spcAft>
                <a:spcPts val="200"/>
              </a:spcAft>
              <a:buNone/>
            </a:pPr>
            <a:r>
              <a:rPr lang="en-US" sz="800" dirty="0">
                <a:solidFill>
                  <a:srgbClr val="1A1F2B"/>
                </a:solidFill>
                <a:latin typeface="Calibri" pitchFamily="34" charset="0"/>
                <a:ea typeface="Calibri" pitchFamily="34" charset="-122"/>
                <a:cs typeface="Calibri" pitchFamily="34" charset="-120"/>
              </a:rPr>
              <a:t> </a:t>
            </a:r>
            <a:endParaRPr lang="en-US" sz="1700" dirty="0"/>
          </a:p>
          <a:p>
            <a:pPr indent="0" marL="0">
              <a:lnSpc>
                <a:spcPct val="110000"/>
              </a:lnSpc>
              <a:spcAft>
                <a:spcPts val="200"/>
              </a:spcAft>
              <a:buNone/>
            </a:pPr>
            <a:r>
              <a:rPr lang="en-US" sz="1700" b="1" dirty="0">
                <a:solidFill>
                  <a:srgbClr val="BF5700"/>
                </a:solidFill>
                <a:latin typeface="Calibri" pitchFamily="34" charset="0"/>
                <a:ea typeface="Calibri" pitchFamily="34" charset="-122"/>
                <a:cs typeface="Calibri" pitchFamily="34" charset="-120"/>
              </a:rPr>
              <a:t>The result is a validated protocol, a processed dataset, and a setup guide the lab can reuse.</a:t>
            </a:r>
            <a:endParaRPr lang="en-US" sz="1700" dirty="0"/>
          </a:p>
        </p:txBody>
      </p:sp>
      <p:sp>
        <p:nvSpPr>
          <p:cNvPr id="6" name="Shape 4"/>
          <p:cNvSpPr/>
          <p:nvPr/>
        </p:nvSpPr>
        <p:spPr>
          <a:xfrm>
            <a:off x="7589520" y="1417320"/>
            <a:ext cx="4050792" cy="1463040"/>
          </a:xfrm>
          <a:prstGeom prst="roundRect">
            <a:avLst>
              <a:gd name="adj" fmla="val 5000"/>
            </a:avLst>
          </a:prstGeom>
          <a:solidFill>
            <a:srgbClr val="FFFFFF"/>
          </a:solidFill>
          <a:ln w="12700">
            <a:solidFill>
              <a:srgbClr val="D5DAE1"/>
            </a:solidFill>
            <a:prstDash val="solid"/>
          </a:ln>
        </p:spPr>
      </p:sp>
      <p:sp>
        <p:nvSpPr>
          <p:cNvPr id="7" name="Shape 5"/>
          <p:cNvSpPr/>
          <p:nvPr/>
        </p:nvSpPr>
        <p:spPr>
          <a:xfrm>
            <a:off x="7818120" y="1828800"/>
            <a:ext cx="566928" cy="566928"/>
          </a:xfrm>
          <a:prstGeom prst="ellipse">
            <a:avLst/>
          </a:prstGeom>
          <a:solidFill>
            <a:srgbClr val="BF5700"/>
          </a:solidFill>
          <a:ln w="12700">
            <a:solidFill>
              <a:srgbClr val="BF5700"/>
            </a:solidFill>
            <a:prstDash val="solid"/>
          </a:ln>
        </p:spPr>
      </p:sp>
      <p:pic>
        <p:nvPicPr>
          <p:cNvPr id="8" name="Image 0" descr="preencoded.png">    </p:cNvPr>
          <p:cNvPicPr>
            <a:picLocks noChangeAspect="1"/>
          </p:cNvPicPr>
          <p:nvPr/>
        </p:nvPicPr>
        <p:blipFill>
          <a:blip r:embed="rId1"/>
          <a:stretch>
            <a:fillRect/>
          </a:stretch>
        </p:blipFill>
        <p:spPr>
          <a:xfrm>
            <a:off x="7959852" y="1970532"/>
            <a:ext cx="283464" cy="283464"/>
          </a:xfrm>
          <a:prstGeom prst="rect">
            <a:avLst/>
          </a:prstGeom>
        </p:spPr>
      </p:pic>
      <p:sp>
        <p:nvSpPr>
          <p:cNvPr id="9" name="Text 6"/>
          <p:cNvSpPr txBox="1"/>
          <p:nvPr/>
        </p:nvSpPr>
        <p:spPr>
          <a:xfrm>
            <a:off x="8595360" y="1691640"/>
            <a:ext cx="2880360" cy="365760"/>
          </a:xfrm>
          <a:prstGeom prst="rect">
            <a:avLst/>
          </a:prstGeom>
          <a:noFill/>
          <a:ln/>
        </p:spPr>
        <p:txBody>
          <a:bodyPr wrap="square" lIns="0" tIns="0" rIns="0" bIns="0" rtlCol="0" anchor="t"/>
          <a:lstStyle/>
          <a:p>
            <a:pPr indent="0" marL="0">
              <a:buNone/>
            </a:pPr>
            <a:r>
              <a:rPr lang="en-US" sz="1600" b="1" dirty="0">
                <a:solidFill>
                  <a:srgbClr val="1A1F2B"/>
                </a:solidFill>
                <a:latin typeface="Arial" pitchFamily="34" charset="0"/>
                <a:ea typeface="Arial" pitchFamily="34" charset="-122"/>
                <a:cs typeface="Arial" pitchFamily="34" charset="-120"/>
              </a:rPr>
              <a:t>Aim 1 · Validate</a:t>
            </a:r>
            <a:endParaRPr lang="en-US" sz="1600" dirty="0"/>
          </a:p>
        </p:txBody>
      </p:sp>
      <p:sp>
        <p:nvSpPr>
          <p:cNvPr id="10" name="Text 7"/>
          <p:cNvSpPr txBox="1"/>
          <p:nvPr/>
        </p:nvSpPr>
        <p:spPr>
          <a:xfrm>
            <a:off x="8595360" y="2075688"/>
            <a:ext cx="28803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Joint angles from OpenCap vs. Theia3D on the treadmill</a:t>
            </a:r>
            <a:endParaRPr lang="en-US" sz="1400" dirty="0"/>
          </a:p>
        </p:txBody>
      </p:sp>
      <p:sp>
        <p:nvSpPr>
          <p:cNvPr id="11" name="Shape 8"/>
          <p:cNvSpPr/>
          <p:nvPr/>
        </p:nvSpPr>
        <p:spPr>
          <a:xfrm>
            <a:off x="7589520" y="3063240"/>
            <a:ext cx="4050792" cy="1463040"/>
          </a:xfrm>
          <a:prstGeom prst="roundRect">
            <a:avLst>
              <a:gd name="adj" fmla="val 5000"/>
            </a:avLst>
          </a:prstGeom>
          <a:solidFill>
            <a:srgbClr val="FFFFFF"/>
          </a:solidFill>
          <a:ln w="12700">
            <a:solidFill>
              <a:srgbClr val="D5DAE1"/>
            </a:solidFill>
            <a:prstDash val="solid"/>
          </a:ln>
        </p:spPr>
      </p:sp>
      <p:sp>
        <p:nvSpPr>
          <p:cNvPr id="12" name="Shape 9"/>
          <p:cNvSpPr/>
          <p:nvPr/>
        </p:nvSpPr>
        <p:spPr>
          <a:xfrm>
            <a:off x="7818120" y="3474720"/>
            <a:ext cx="566928" cy="566928"/>
          </a:xfrm>
          <a:prstGeom prst="ellipse">
            <a:avLst/>
          </a:prstGeom>
          <a:solidFill>
            <a:srgbClr val="BF5700"/>
          </a:solidFill>
          <a:ln w="12700">
            <a:solidFill>
              <a:srgbClr val="BF5700"/>
            </a:solidFill>
            <a:prstDash val="solid"/>
          </a:ln>
        </p:spPr>
      </p:sp>
      <p:pic>
        <p:nvPicPr>
          <p:cNvPr id="13" name="Image 1" descr="preencoded.png">    </p:cNvPr>
          <p:cNvPicPr>
            <a:picLocks noChangeAspect="1"/>
          </p:cNvPicPr>
          <p:nvPr/>
        </p:nvPicPr>
        <p:blipFill>
          <a:blip r:embed="rId2"/>
          <a:stretch>
            <a:fillRect/>
          </a:stretch>
        </p:blipFill>
        <p:spPr>
          <a:xfrm>
            <a:off x="7959852" y="3616452"/>
            <a:ext cx="283464" cy="283464"/>
          </a:xfrm>
          <a:prstGeom prst="rect">
            <a:avLst/>
          </a:prstGeom>
        </p:spPr>
      </p:pic>
      <p:sp>
        <p:nvSpPr>
          <p:cNvPr id="14" name="Text 10"/>
          <p:cNvSpPr txBox="1"/>
          <p:nvPr/>
        </p:nvSpPr>
        <p:spPr>
          <a:xfrm>
            <a:off x="8595360" y="3337560"/>
            <a:ext cx="2880360" cy="365760"/>
          </a:xfrm>
          <a:prstGeom prst="rect">
            <a:avLst/>
          </a:prstGeom>
          <a:noFill/>
          <a:ln/>
        </p:spPr>
        <p:txBody>
          <a:bodyPr wrap="square" lIns="0" tIns="0" rIns="0" bIns="0" rtlCol="0" anchor="t"/>
          <a:lstStyle/>
          <a:p>
            <a:pPr indent="0" marL="0">
              <a:buNone/>
            </a:pPr>
            <a:r>
              <a:rPr lang="en-US" sz="1600" b="1" dirty="0">
                <a:solidFill>
                  <a:srgbClr val="1A1F2B"/>
                </a:solidFill>
                <a:latin typeface="Arial" pitchFamily="34" charset="0"/>
                <a:ea typeface="Arial" pitchFamily="34" charset="-122"/>
                <a:cs typeface="Arial" pitchFamily="34" charset="-120"/>
              </a:rPr>
              <a:t>Aim 2 · Add kinetics</a:t>
            </a:r>
            <a:endParaRPr lang="en-US" sz="1600" dirty="0"/>
          </a:p>
        </p:txBody>
      </p:sp>
      <p:sp>
        <p:nvSpPr>
          <p:cNvPr id="15" name="Text 11"/>
          <p:cNvSpPr txBox="1"/>
          <p:nvPr/>
        </p:nvSpPr>
        <p:spPr>
          <a:xfrm>
            <a:off x="8595360" y="3721608"/>
            <a:ext cx="28803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OpenCap + Bertec forces → OpenSim inverse dynamics</a:t>
            </a:r>
            <a:endParaRPr lang="en-US" sz="1400" dirty="0"/>
          </a:p>
        </p:txBody>
      </p:sp>
      <p:sp>
        <p:nvSpPr>
          <p:cNvPr id="16" name="Shape 12"/>
          <p:cNvSpPr/>
          <p:nvPr/>
        </p:nvSpPr>
        <p:spPr>
          <a:xfrm>
            <a:off x="7589520" y="4709160"/>
            <a:ext cx="4050792" cy="1463040"/>
          </a:xfrm>
          <a:prstGeom prst="roundRect">
            <a:avLst>
              <a:gd name="adj" fmla="val 5000"/>
            </a:avLst>
          </a:prstGeom>
          <a:solidFill>
            <a:srgbClr val="FFFFFF"/>
          </a:solidFill>
          <a:ln w="12700">
            <a:solidFill>
              <a:srgbClr val="D5DAE1"/>
            </a:solidFill>
            <a:prstDash val="solid"/>
          </a:ln>
        </p:spPr>
      </p:sp>
      <p:sp>
        <p:nvSpPr>
          <p:cNvPr id="17" name="Shape 13"/>
          <p:cNvSpPr/>
          <p:nvPr/>
        </p:nvSpPr>
        <p:spPr>
          <a:xfrm>
            <a:off x="7818120" y="5120640"/>
            <a:ext cx="566928" cy="566928"/>
          </a:xfrm>
          <a:prstGeom prst="ellipse">
            <a:avLst/>
          </a:prstGeom>
          <a:solidFill>
            <a:srgbClr val="BF5700"/>
          </a:solidFill>
          <a:ln w="12700">
            <a:solidFill>
              <a:srgbClr val="BF5700"/>
            </a:solidFill>
            <a:prstDash val="solid"/>
          </a:ln>
        </p:spPr>
      </p:sp>
      <p:pic>
        <p:nvPicPr>
          <p:cNvPr id="18" name="Image 2" descr="preencoded.png">    </p:cNvPr>
          <p:cNvPicPr>
            <a:picLocks noChangeAspect="1"/>
          </p:cNvPicPr>
          <p:nvPr/>
        </p:nvPicPr>
        <p:blipFill>
          <a:blip r:embed="rId3"/>
          <a:stretch>
            <a:fillRect/>
          </a:stretch>
        </p:blipFill>
        <p:spPr>
          <a:xfrm>
            <a:off x="7959852" y="5262372"/>
            <a:ext cx="283464" cy="283464"/>
          </a:xfrm>
          <a:prstGeom prst="rect">
            <a:avLst/>
          </a:prstGeom>
        </p:spPr>
      </p:pic>
      <p:sp>
        <p:nvSpPr>
          <p:cNvPr id="19" name="Text 14"/>
          <p:cNvSpPr txBox="1"/>
          <p:nvPr/>
        </p:nvSpPr>
        <p:spPr>
          <a:xfrm>
            <a:off x="8595360" y="4983480"/>
            <a:ext cx="2880360" cy="365760"/>
          </a:xfrm>
          <a:prstGeom prst="rect">
            <a:avLst/>
          </a:prstGeom>
          <a:noFill/>
          <a:ln/>
        </p:spPr>
        <p:txBody>
          <a:bodyPr wrap="square" lIns="0" tIns="0" rIns="0" bIns="0" rtlCol="0" anchor="t"/>
          <a:lstStyle/>
          <a:p>
            <a:pPr indent="0" marL="0">
              <a:buNone/>
            </a:pPr>
            <a:r>
              <a:rPr lang="en-US" sz="1600" b="1" dirty="0">
                <a:solidFill>
                  <a:srgbClr val="1A1F2B"/>
                </a:solidFill>
                <a:latin typeface="Arial" pitchFamily="34" charset="0"/>
                <a:ea typeface="Arial" pitchFamily="34" charset="-122"/>
                <a:cs typeface="Arial" pitchFamily="34" charset="-120"/>
              </a:rPr>
              <a:t>Aim 3 · Leave the lab</a:t>
            </a:r>
            <a:endParaRPr lang="en-US" sz="1600" dirty="0"/>
          </a:p>
        </p:txBody>
      </p:sp>
      <p:sp>
        <p:nvSpPr>
          <p:cNvPr id="20" name="Text 15"/>
          <p:cNvSpPr txBox="1"/>
          <p:nvPr/>
        </p:nvSpPr>
        <p:spPr>
          <a:xfrm>
            <a:off x="8595360" y="5367528"/>
            <a:ext cx="288036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Terrain park and outdoor captures</a:t>
            </a:r>
            <a:endParaRPr lang="en-US" sz="1400" dirty="0"/>
          </a:p>
        </p:txBody>
      </p:sp>
      <p:sp>
        <p:nvSpPr>
          <p:cNvPr id="21" name="Text 16"/>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PROBLEM &amp; RATIONALE</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Good biomechanics data is stuck in the lab</a:t>
            </a:r>
            <a:endParaRPr lang="en-US" sz="3200" dirty="0"/>
          </a:p>
        </p:txBody>
      </p:sp>
      <p:sp>
        <p:nvSpPr>
          <p:cNvPr id="4" name="Shape 2"/>
          <p:cNvSpPr/>
          <p:nvPr/>
        </p:nvSpPr>
        <p:spPr>
          <a:xfrm>
            <a:off x="548640" y="1417320"/>
            <a:ext cx="5394960" cy="3931920"/>
          </a:xfrm>
          <a:prstGeom prst="roundRect">
            <a:avLst>
              <a:gd name="adj" fmla="val 1860"/>
            </a:avLst>
          </a:prstGeom>
          <a:solidFill>
            <a:srgbClr val="F1F3F6"/>
          </a:solidFill>
          <a:ln w="12700">
            <a:solidFill>
              <a:srgbClr val="F1F3F6"/>
            </a:solidFill>
            <a:prstDash val="solid"/>
          </a:ln>
        </p:spPr>
      </p:sp>
      <p:sp>
        <p:nvSpPr>
          <p:cNvPr id="5" name="Shape 3"/>
          <p:cNvSpPr/>
          <p:nvPr/>
        </p:nvSpPr>
        <p:spPr>
          <a:xfrm>
            <a:off x="822960" y="1645920"/>
            <a:ext cx="548640" cy="548640"/>
          </a:xfrm>
          <a:prstGeom prst="ellipse">
            <a:avLst/>
          </a:prstGeom>
          <a:solidFill>
            <a:srgbClr val="1A1F2B"/>
          </a:solidFill>
          <a:ln w="12700">
            <a:solidFill>
              <a:srgbClr val="1A1F2B"/>
            </a:solidFill>
            <a:prstDash val="solid"/>
          </a:ln>
        </p:spPr>
      </p:sp>
      <p:pic>
        <p:nvPicPr>
          <p:cNvPr id="6" name="Image 0" descr="preencoded.png">    </p:cNvPr>
          <p:cNvPicPr>
            <a:picLocks noChangeAspect="1"/>
          </p:cNvPicPr>
          <p:nvPr/>
        </p:nvPicPr>
        <p:blipFill>
          <a:blip r:embed="rId1"/>
          <a:stretch>
            <a:fillRect/>
          </a:stretch>
        </p:blipFill>
        <p:spPr>
          <a:xfrm>
            <a:off x="960120" y="1783080"/>
            <a:ext cx="274320" cy="274320"/>
          </a:xfrm>
          <a:prstGeom prst="rect">
            <a:avLst/>
          </a:prstGeom>
        </p:spPr>
      </p:pic>
      <p:sp>
        <p:nvSpPr>
          <p:cNvPr id="7" name="Text 4"/>
          <p:cNvSpPr txBox="1"/>
          <p:nvPr/>
        </p:nvSpPr>
        <p:spPr>
          <a:xfrm>
            <a:off x="1554480" y="1691640"/>
            <a:ext cx="4206240" cy="457200"/>
          </a:xfrm>
          <a:prstGeom prst="rect">
            <a:avLst/>
          </a:prstGeom>
          <a:noFill/>
          <a:ln/>
        </p:spPr>
        <p:txBody>
          <a:bodyPr wrap="square" lIns="0" tIns="0" rIns="0" bIns="0" rtlCol="0" anchor="ctr"/>
          <a:lstStyle/>
          <a:p>
            <a:pPr indent="0" marL="0">
              <a:buNone/>
            </a:pPr>
            <a:r>
              <a:rPr lang="en-US" sz="1800" b="1" dirty="0">
                <a:solidFill>
                  <a:srgbClr val="1A1F2B"/>
                </a:solidFill>
                <a:latin typeface="Arial" pitchFamily="34" charset="0"/>
                <a:ea typeface="Arial" pitchFamily="34" charset="-122"/>
                <a:cs typeface="Arial" pitchFamily="34" charset="-120"/>
              </a:rPr>
              <a:t>Lab motion capture today</a:t>
            </a:r>
            <a:endParaRPr lang="en-US" sz="1800" dirty="0"/>
          </a:p>
        </p:txBody>
      </p:sp>
      <p:sp>
        <p:nvSpPr>
          <p:cNvPr id="8" name="Text 5"/>
          <p:cNvSpPr txBox="1"/>
          <p:nvPr/>
        </p:nvSpPr>
        <p:spPr>
          <a:xfrm>
            <a:off x="868680" y="25146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Hardware</a:t>
            </a:r>
            <a:endParaRPr lang="en-US" sz="1400" dirty="0"/>
          </a:p>
        </p:txBody>
      </p:sp>
      <p:sp>
        <p:nvSpPr>
          <p:cNvPr id="9" name="Text 6"/>
          <p:cNvSpPr txBox="1"/>
          <p:nvPr/>
        </p:nvSpPr>
        <p:spPr>
          <a:xfrm>
            <a:off x="2011680" y="25146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Many synchronized cameras, force plates, dedicated space</a:t>
            </a:r>
            <a:endParaRPr lang="en-US" sz="1500" dirty="0"/>
          </a:p>
        </p:txBody>
      </p:sp>
      <p:sp>
        <p:nvSpPr>
          <p:cNvPr id="10" name="Text 7"/>
          <p:cNvSpPr txBox="1"/>
          <p:nvPr/>
        </p:nvSpPr>
        <p:spPr>
          <a:xfrm>
            <a:off x="868680" y="32004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Setup</a:t>
            </a:r>
            <a:endParaRPr lang="en-US" sz="1400" dirty="0"/>
          </a:p>
        </p:txBody>
      </p:sp>
      <p:sp>
        <p:nvSpPr>
          <p:cNvPr id="11" name="Text 8"/>
          <p:cNvSpPr txBox="1"/>
          <p:nvPr/>
        </p:nvSpPr>
        <p:spPr>
          <a:xfrm>
            <a:off x="2011680" y="32004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Fixed install; people come to the lab</a:t>
            </a:r>
            <a:endParaRPr lang="en-US" sz="1500" dirty="0"/>
          </a:p>
        </p:txBody>
      </p:sp>
      <p:sp>
        <p:nvSpPr>
          <p:cNvPr id="12" name="Text 9"/>
          <p:cNvSpPr txBox="1"/>
          <p:nvPr/>
        </p:nvSpPr>
        <p:spPr>
          <a:xfrm>
            <a:off x="868680" y="38862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Tasks</a:t>
            </a:r>
            <a:endParaRPr lang="en-US" sz="1400" dirty="0"/>
          </a:p>
        </p:txBody>
      </p:sp>
      <p:sp>
        <p:nvSpPr>
          <p:cNvPr id="13" name="Text 10"/>
          <p:cNvSpPr txBox="1"/>
          <p:nvPr/>
        </p:nvSpPr>
        <p:spPr>
          <a:xfrm>
            <a:off x="2011680" y="38862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Limited to what fits in the capture volume</a:t>
            </a:r>
            <a:endParaRPr lang="en-US" sz="1500" dirty="0"/>
          </a:p>
        </p:txBody>
      </p:sp>
      <p:sp>
        <p:nvSpPr>
          <p:cNvPr id="14" name="Text 11"/>
          <p:cNvSpPr txBox="1"/>
          <p:nvPr/>
        </p:nvSpPr>
        <p:spPr>
          <a:xfrm>
            <a:off x="868680" y="45720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Reach</a:t>
            </a:r>
            <a:endParaRPr lang="en-US" sz="1400" dirty="0"/>
          </a:p>
        </p:txBody>
      </p:sp>
      <p:sp>
        <p:nvSpPr>
          <p:cNvPr id="15" name="Text 12"/>
          <p:cNvSpPr txBox="1"/>
          <p:nvPr/>
        </p:nvSpPr>
        <p:spPr>
          <a:xfrm>
            <a:off x="2011680" y="45720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Hard to use in clinics, homes, or real terrain</a:t>
            </a:r>
            <a:endParaRPr lang="en-US" sz="1500" dirty="0"/>
          </a:p>
        </p:txBody>
      </p:sp>
      <p:sp>
        <p:nvSpPr>
          <p:cNvPr id="16" name="Shape 13"/>
          <p:cNvSpPr/>
          <p:nvPr/>
        </p:nvSpPr>
        <p:spPr>
          <a:xfrm>
            <a:off x="6263640" y="1417320"/>
            <a:ext cx="5394960" cy="3931920"/>
          </a:xfrm>
          <a:prstGeom prst="roundRect">
            <a:avLst>
              <a:gd name="adj" fmla="val 1860"/>
            </a:avLst>
          </a:prstGeom>
          <a:solidFill>
            <a:srgbClr val="F6E3D6"/>
          </a:solidFill>
          <a:ln w="12700">
            <a:solidFill>
              <a:srgbClr val="F6E3D6"/>
            </a:solidFill>
            <a:prstDash val="solid"/>
          </a:ln>
        </p:spPr>
      </p:sp>
      <p:sp>
        <p:nvSpPr>
          <p:cNvPr id="17" name="Shape 14"/>
          <p:cNvSpPr/>
          <p:nvPr/>
        </p:nvSpPr>
        <p:spPr>
          <a:xfrm>
            <a:off x="6537960" y="1645920"/>
            <a:ext cx="548640" cy="548640"/>
          </a:xfrm>
          <a:prstGeom prst="ellipse">
            <a:avLst/>
          </a:prstGeom>
          <a:solidFill>
            <a:srgbClr val="BF5700"/>
          </a:solidFill>
          <a:ln w="12700">
            <a:solidFill>
              <a:srgbClr val="BF5700"/>
            </a:solidFill>
            <a:prstDash val="solid"/>
          </a:ln>
        </p:spPr>
      </p:sp>
      <p:pic>
        <p:nvPicPr>
          <p:cNvPr id="18" name="Image 1" descr="preencoded.png">    </p:cNvPr>
          <p:cNvPicPr>
            <a:picLocks noChangeAspect="1"/>
          </p:cNvPicPr>
          <p:nvPr/>
        </p:nvPicPr>
        <p:blipFill>
          <a:blip r:embed="rId2"/>
          <a:stretch>
            <a:fillRect/>
          </a:stretch>
        </p:blipFill>
        <p:spPr>
          <a:xfrm>
            <a:off x="6675120" y="1783080"/>
            <a:ext cx="274320" cy="274320"/>
          </a:xfrm>
          <a:prstGeom prst="rect">
            <a:avLst/>
          </a:prstGeom>
        </p:spPr>
      </p:pic>
      <p:sp>
        <p:nvSpPr>
          <p:cNvPr id="19" name="Text 15"/>
          <p:cNvSpPr txBox="1"/>
          <p:nvPr/>
        </p:nvSpPr>
        <p:spPr>
          <a:xfrm>
            <a:off x="7269480" y="1691640"/>
            <a:ext cx="4206240" cy="457200"/>
          </a:xfrm>
          <a:prstGeom prst="rect">
            <a:avLst/>
          </a:prstGeom>
          <a:noFill/>
          <a:ln/>
        </p:spPr>
        <p:txBody>
          <a:bodyPr wrap="square" lIns="0" tIns="0" rIns="0" bIns="0" rtlCol="0" anchor="ctr"/>
          <a:lstStyle/>
          <a:p>
            <a:pPr indent="0" marL="0">
              <a:buNone/>
            </a:pPr>
            <a:r>
              <a:rPr lang="en-US" sz="1800" b="1" dirty="0">
                <a:solidFill>
                  <a:srgbClr val="BF5700"/>
                </a:solidFill>
                <a:latin typeface="Arial" pitchFamily="34" charset="0"/>
                <a:ea typeface="Arial" pitchFamily="34" charset="-122"/>
                <a:cs typeface="Arial" pitchFamily="34" charset="-120"/>
              </a:rPr>
              <a:t>What smartphone capture could offer</a:t>
            </a:r>
            <a:endParaRPr lang="en-US" sz="1800" dirty="0"/>
          </a:p>
        </p:txBody>
      </p:sp>
      <p:sp>
        <p:nvSpPr>
          <p:cNvPr id="20" name="Text 16"/>
          <p:cNvSpPr txBox="1"/>
          <p:nvPr/>
        </p:nvSpPr>
        <p:spPr>
          <a:xfrm>
            <a:off x="6583680" y="25146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Hardware</a:t>
            </a:r>
            <a:endParaRPr lang="en-US" sz="1400" dirty="0"/>
          </a:p>
        </p:txBody>
      </p:sp>
      <p:sp>
        <p:nvSpPr>
          <p:cNvPr id="21" name="Text 17"/>
          <p:cNvSpPr txBox="1"/>
          <p:nvPr/>
        </p:nvSpPr>
        <p:spPr>
          <a:xfrm>
            <a:off x="7726680" y="25146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Two iPhones, tripods, a printed checkerboard</a:t>
            </a:r>
            <a:endParaRPr lang="en-US" sz="1500" dirty="0"/>
          </a:p>
        </p:txBody>
      </p:sp>
      <p:sp>
        <p:nvSpPr>
          <p:cNvPr id="22" name="Text 18"/>
          <p:cNvSpPr txBox="1"/>
          <p:nvPr/>
        </p:nvSpPr>
        <p:spPr>
          <a:xfrm>
            <a:off x="6583680" y="32004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Setup</a:t>
            </a:r>
            <a:endParaRPr lang="en-US" sz="1400" dirty="0"/>
          </a:p>
        </p:txBody>
      </p:sp>
      <p:sp>
        <p:nvSpPr>
          <p:cNvPr id="23" name="Text 19"/>
          <p:cNvSpPr txBox="1"/>
          <p:nvPr/>
        </p:nvSpPr>
        <p:spPr>
          <a:xfrm>
            <a:off x="7726680" y="32004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Minutes, anywhere with Wi-Fi</a:t>
            </a:r>
            <a:endParaRPr lang="en-US" sz="1500" dirty="0"/>
          </a:p>
        </p:txBody>
      </p:sp>
      <p:sp>
        <p:nvSpPr>
          <p:cNvPr id="24" name="Text 20"/>
          <p:cNvSpPr txBox="1"/>
          <p:nvPr/>
        </p:nvSpPr>
        <p:spPr>
          <a:xfrm>
            <a:off x="6583680" y="38862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Tasks</a:t>
            </a:r>
            <a:endParaRPr lang="en-US" sz="1400" dirty="0"/>
          </a:p>
        </p:txBody>
      </p:sp>
      <p:sp>
        <p:nvSpPr>
          <p:cNvPr id="25" name="Text 21"/>
          <p:cNvSpPr txBox="1"/>
          <p:nvPr/>
        </p:nvSpPr>
        <p:spPr>
          <a:xfrm>
            <a:off x="7726680" y="38862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Ramps, stairs, sidewalks, open ground</a:t>
            </a:r>
            <a:endParaRPr lang="en-US" sz="1500" dirty="0"/>
          </a:p>
        </p:txBody>
      </p:sp>
      <p:sp>
        <p:nvSpPr>
          <p:cNvPr id="26" name="Text 22"/>
          <p:cNvSpPr txBox="1"/>
          <p:nvPr/>
        </p:nvSpPr>
        <p:spPr>
          <a:xfrm>
            <a:off x="6583680" y="4572000"/>
            <a:ext cx="1097280" cy="548640"/>
          </a:xfrm>
          <a:prstGeom prst="rect">
            <a:avLst/>
          </a:prstGeom>
          <a:noFill/>
          <a:ln/>
        </p:spPr>
        <p:txBody>
          <a:bodyPr wrap="square" lIns="0" tIns="0" rIns="0" bIns="0" rtlCol="0" anchor="t"/>
          <a:lstStyle/>
          <a:p>
            <a:pPr indent="0" marL="0">
              <a:buNone/>
            </a:pPr>
            <a:r>
              <a:rPr lang="en-US" sz="1400" b="1" dirty="0">
                <a:solidFill>
                  <a:srgbClr val="5B6472"/>
                </a:solidFill>
                <a:latin typeface="Calibri" pitchFamily="34" charset="0"/>
                <a:ea typeface="Calibri" pitchFamily="34" charset="-122"/>
                <a:cs typeface="Calibri" pitchFamily="34" charset="-120"/>
              </a:rPr>
              <a:t>Reach</a:t>
            </a:r>
            <a:endParaRPr lang="en-US" sz="1400" dirty="0"/>
          </a:p>
        </p:txBody>
      </p:sp>
      <p:sp>
        <p:nvSpPr>
          <p:cNvPr id="27" name="Text 23"/>
          <p:cNvSpPr txBox="1"/>
          <p:nvPr/>
        </p:nvSpPr>
        <p:spPr>
          <a:xfrm>
            <a:off x="7726680" y="4572000"/>
            <a:ext cx="3749040" cy="548640"/>
          </a:xfrm>
          <a:prstGeom prst="rect">
            <a:avLst/>
          </a:prstGeom>
          <a:noFill/>
          <a:ln/>
        </p:spPr>
        <p:txBody>
          <a:bodyPr wrap="square" lIns="0" tIns="0" rIns="0" bIns="0" rtlCol="0" anchor="t"/>
          <a:lstStyle/>
          <a:p>
            <a:pPr indent="0" marL="0">
              <a:buNone/>
            </a:pPr>
            <a:r>
              <a:rPr lang="en-US" sz="1500" dirty="0">
                <a:solidFill>
                  <a:srgbClr val="1A1F2B"/>
                </a:solidFill>
                <a:latin typeface="Calibri" pitchFamily="34" charset="0"/>
                <a:ea typeface="Calibri" pitchFamily="34" charset="-122"/>
                <a:cs typeface="Calibri" pitchFamily="34" charset="-120"/>
              </a:rPr>
              <a:t>Free, open-source, cloud-processed</a:t>
            </a:r>
            <a:endParaRPr lang="en-US" sz="1500" dirty="0"/>
          </a:p>
        </p:txBody>
      </p:sp>
      <p:sp>
        <p:nvSpPr>
          <p:cNvPr id="28" name="Shape 24"/>
          <p:cNvSpPr/>
          <p:nvPr/>
        </p:nvSpPr>
        <p:spPr>
          <a:xfrm>
            <a:off x="548640" y="5532120"/>
            <a:ext cx="11109960" cy="731520"/>
          </a:xfrm>
          <a:prstGeom prst="roundRect">
            <a:avLst>
              <a:gd name="adj" fmla="val 10000"/>
            </a:avLst>
          </a:prstGeom>
          <a:solidFill>
            <a:srgbClr val="1A1F2B"/>
          </a:solidFill>
          <a:ln w="12700">
            <a:solidFill>
              <a:srgbClr val="1A1F2B"/>
            </a:solidFill>
            <a:prstDash val="solid"/>
          </a:ln>
        </p:spPr>
      </p:sp>
      <p:sp>
        <p:nvSpPr>
          <p:cNvPr id="29" name="Text 25"/>
          <p:cNvSpPr txBox="1"/>
          <p:nvPr/>
        </p:nvSpPr>
        <p:spPr>
          <a:xfrm>
            <a:off x="822960" y="5596128"/>
            <a:ext cx="10607040" cy="603504"/>
          </a:xfrm>
          <a:prstGeom prst="rect">
            <a:avLst/>
          </a:prstGeom>
          <a:noFill/>
          <a:ln/>
        </p:spPr>
        <p:txBody>
          <a:bodyPr wrap="square" lIns="0" tIns="0" rIns="0" bIns="0" rtlCol="0" anchor="ctr"/>
          <a:lstStyle/>
          <a:p>
            <a:pPr indent="0" marL="0">
              <a:buNone/>
            </a:pPr>
            <a:r>
              <a:rPr lang="en-US" sz="1500" b="1" dirty="0">
                <a:solidFill>
                  <a:srgbClr val="BF5700"/>
                </a:solidFill>
                <a:latin typeface="Calibri" pitchFamily="34" charset="0"/>
                <a:ea typeface="Calibri" pitchFamily="34" charset="-122"/>
                <a:cs typeface="Calibri" pitchFamily="34" charset="-120"/>
              </a:rPr>
              <a:t>The open question: </a:t>
            </a:r>
            <a:pPr indent="0" marL="0">
              <a:buNone/>
            </a:pPr>
            <a:r>
              <a:rPr lang="en-US" sz="1500" dirty="0">
                <a:solidFill>
                  <a:srgbClr val="FFFFFF"/>
                </a:solidFill>
                <a:latin typeface="Calibri" pitchFamily="34" charset="0"/>
                <a:ea typeface="Calibri" pitchFamily="34" charset="-122"/>
                <a:cs typeface="Calibri" pitchFamily="34" charset="-120"/>
              </a:rPr>
              <a:t>is a two-phone setup accurate enough to trust for the lab's own studies? We need to check it against the system we already rely on.</a:t>
            </a:r>
            <a:endParaRPr lang="en-US" sz="1500" dirty="0"/>
          </a:p>
        </p:txBody>
      </p:sp>
      <p:sp>
        <p:nvSpPr>
          <p:cNvPr id="30" name="Text 26"/>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How OpenCap turns two videos into joint angles</a:t>
            </a:r>
            <a:endParaRPr lang="en-US" sz="3200" dirty="0"/>
          </a:p>
        </p:txBody>
      </p:sp>
      <p:sp>
        <p:nvSpPr>
          <p:cNvPr id="4" name="Shape 2"/>
          <p:cNvSpPr/>
          <p:nvPr/>
        </p:nvSpPr>
        <p:spPr>
          <a:xfrm>
            <a:off x="548640" y="1508760"/>
            <a:ext cx="2011680" cy="2331720"/>
          </a:xfrm>
          <a:prstGeom prst="roundRect">
            <a:avLst>
              <a:gd name="adj" fmla="val 3636"/>
            </a:avLst>
          </a:prstGeom>
          <a:solidFill>
            <a:srgbClr val="F6E3D6"/>
          </a:solidFill>
          <a:ln w="12700">
            <a:solidFill>
              <a:srgbClr val="F6E3D6"/>
            </a:solidFill>
            <a:prstDash val="solid"/>
          </a:ln>
        </p:spPr>
      </p:sp>
      <p:sp>
        <p:nvSpPr>
          <p:cNvPr id="5" name="Shape 3"/>
          <p:cNvSpPr/>
          <p:nvPr/>
        </p:nvSpPr>
        <p:spPr>
          <a:xfrm>
            <a:off x="1252728" y="1783080"/>
            <a:ext cx="603504" cy="603504"/>
          </a:xfrm>
          <a:prstGeom prst="ellipse">
            <a:avLst/>
          </a:prstGeom>
          <a:solidFill>
            <a:srgbClr val="BF5700"/>
          </a:solidFill>
          <a:ln w="12700">
            <a:solidFill>
              <a:srgbClr val="BF5700"/>
            </a:solidFill>
            <a:prstDash val="solid"/>
          </a:ln>
        </p:spPr>
      </p:sp>
      <p:pic>
        <p:nvPicPr>
          <p:cNvPr id="6" name="Image 0" descr="preencoded.png">    </p:cNvPr>
          <p:cNvPicPr>
            <a:picLocks noChangeAspect="1"/>
          </p:cNvPicPr>
          <p:nvPr/>
        </p:nvPicPr>
        <p:blipFill>
          <a:blip r:embed="rId1"/>
          <a:stretch>
            <a:fillRect/>
          </a:stretch>
        </p:blipFill>
        <p:spPr>
          <a:xfrm>
            <a:off x="1403604" y="1933956"/>
            <a:ext cx="301752" cy="301752"/>
          </a:xfrm>
          <a:prstGeom prst="rect">
            <a:avLst/>
          </a:prstGeom>
        </p:spPr>
      </p:pic>
      <p:sp>
        <p:nvSpPr>
          <p:cNvPr id="7" name="Text 4"/>
          <p:cNvSpPr txBox="1"/>
          <p:nvPr/>
        </p:nvSpPr>
        <p:spPr>
          <a:xfrm>
            <a:off x="685800" y="2514600"/>
            <a:ext cx="1737360" cy="365760"/>
          </a:xfrm>
          <a:prstGeom prst="rect">
            <a:avLst/>
          </a:prstGeom>
          <a:noFill/>
          <a:ln/>
        </p:spPr>
        <p:txBody>
          <a:bodyPr wrap="square" lIns="0" tIns="0" rIns="0" bIns="0" rtlCol="0" anchor="t"/>
          <a:lstStyle/>
          <a:p>
            <a:pPr algn="ctr" indent="0" marL="0">
              <a:buNone/>
            </a:pPr>
            <a:r>
              <a:rPr lang="en-US" sz="1600" b="1" dirty="0">
                <a:solidFill>
                  <a:srgbClr val="1A1F2B"/>
                </a:solidFill>
                <a:latin typeface="Arial" pitchFamily="34" charset="0"/>
                <a:ea typeface="Arial" pitchFamily="34" charset="-122"/>
                <a:cs typeface="Arial" pitchFamily="34" charset="-120"/>
              </a:rPr>
              <a:t>1. Calibrate</a:t>
            </a:r>
            <a:endParaRPr lang="en-US" sz="1600" dirty="0"/>
          </a:p>
        </p:txBody>
      </p:sp>
      <p:sp>
        <p:nvSpPr>
          <p:cNvPr id="8" name="Text 5"/>
          <p:cNvSpPr txBox="1"/>
          <p:nvPr/>
        </p:nvSpPr>
        <p:spPr>
          <a:xfrm>
            <a:off x="685800" y="2926080"/>
            <a:ext cx="1737360" cy="82296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Checkerboard gives each phone's position</a:t>
            </a:r>
            <a:endParaRPr lang="en-US" sz="1300" dirty="0"/>
          </a:p>
        </p:txBody>
      </p:sp>
      <p:sp>
        <p:nvSpPr>
          <p:cNvPr id="9" name="Text 6"/>
          <p:cNvSpPr txBox="1"/>
          <p:nvPr/>
        </p:nvSpPr>
        <p:spPr>
          <a:xfrm>
            <a:off x="2560320" y="2377440"/>
            <a:ext cx="265176" cy="457200"/>
          </a:xfrm>
          <a:prstGeom prst="rect">
            <a:avLst/>
          </a:prstGeom>
          <a:noFill/>
          <a:ln/>
        </p:spPr>
        <p:txBody>
          <a:bodyPr wrap="square" lIns="0" tIns="0" rIns="0" bIns="0" rtlCol="0" anchor="ctr"/>
          <a:lstStyle/>
          <a:p>
            <a:pPr algn="ctr" indent="0" marL="0">
              <a:buNone/>
            </a:pPr>
            <a:r>
              <a:rPr lang="en-US" sz="2800" b="1" dirty="0">
                <a:solidFill>
                  <a:srgbClr val="BF5700"/>
                </a:solidFill>
                <a:latin typeface="Calibri" pitchFamily="34" charset="0"/>
                <a:ea typeface="Calibri" pitchFamily="34" charset="-122"/>
                <a:cs typeface="Calibri" pitchFamily="34" charset="-120"/>
              </a:rPr>
              <a:t>›</a:t>
            </a:r>
            <a:endParaRPr lang="en-US" sz="2800" dirty="0"/>
          </a:p>
        </p:txBody>
      </p:sp>
      <p:sp>
        <p:nvSpPr>
          <p:cNvPr id="10" name="Shape 7"/>
          <p:cNvSpPr/>
          <p:nvPr/>
        </p:nvSpPr>
        <p:spPr>
          <a:xfrm>
            <a:off x="2825496" y="1508760"/>
            <a:ext cx="2011680" cy="2331720"/>
          </a:xfrm>
          <a:prstGeom prst="roundRect">
            <a:avLst>
              <a:gd name="adj" fmla="val 3636"/>
            </a:avLst>
          </a:prstGeom>
          <a:solidFill>
            <a:srgbClr val="F1F3F6"/>
          </a:solidFill>
          <a:ln w="12700">
            <a:solidFill>
              <a:srgbClr val="F1F3F6"/>
            </a:solidFill>
            <a:prstDash val="solid"/>
          </a:ln>
        </p:spPr>
      </p:sp>
      <p:sp>
        <p:nvSpPr>
          <p:cNvPr id="11" name="Shape 8"/>
          <p:cNvSpPr/>
          <p:nvPr/>
        </p:nvSpPr>
        <p:spPr>
          <a:xfrm>
            <a:off x="3529584" y="1783080"/>
            <a:ext cx="603504" cy="603504"/>
          </a:xfrm>
          <a:prstGeom prst="ellipse">
            <a:avLst/>
          </a:prstGeom>
          <a:solidFill>
            <a:srgbClr val="BF5700"/>
          </a:solidFill>
          <a:ln w="12700">
            <a:solidFill>
              <a:srgbClr val="BF5700"/>
            </a:solidFill>
            <a:prstDash val="solid"/>
          </a:ln>
        </p:spPr>
      </p:sp>
      <p:pic>
        <p:nvPicPr>
          <p:cNvPr id="12" name="Image 1" descr="preencoded.png">    </p:cNvPr>
          <p:cNvPicPr>
            <a:picLocks noChangeAspect="1"/>
          </p:cNvPicPr>
          <p:nvPr/>
        </p:nvPicPr>
        <p:blipFill>
          <a:blip r:embed="rId2"/>
          <a:stretch>
            <a:fillRect/>
          </a:stretch>
        </p:blipFill>
        <p:spPr>
          <a:xfrm>
            <a:off x="3680460" y="1933956"/>
            <a:ext cx="301752" cy="301752"/>
          </a:xfrm>
          <a:prstGeom prst="rect">
            <a:avLst/>
          </a:prstGeom>
        </p:spPr>
      </p:pic>
      <p:sp>
        <p:nvSpPr>
          <p:cNvPr id="13" name="Text 9"/>
          <p:cNvSpPr txBox="1"/>
          <p:nvPr/>
        </p:nvSpPr>
        <p:spPr>
          <a:xfrm>
            <a:off x="2962656" y="2514600"/>
            <a:ext cx="1737360" cy="365760"/>
          </a:xfrm>
          <a:prstGeom prst="rect">
            <a:avLst/>
          </a:prstGeom>
          <a:noFill/>
          <a:ln/>
        </p:spPr>
        <p:txBody>
          <a:bodyPr wrap="square" lIns="0" tIns="0" rIns="0" bIns="0" rtlCol="0" anchor="t"/>
          <a:lstStyle/>
          <a:p>
            <a:pPr algn="ctr" indent="0" marL="0">
              <a:buNone/>
            </a:pPr>
            <a:r>
              <a:rPr lang="en-US" sz="1600" b="1" dirty="0">
                <a:solidFill>
                  <a:srgbClr val="1A1F2B"/>
                </a:solidFill>
                <a:latin typeface="Arial" pitchFamily="34" charset="0"/>
                <a:ea typeface="Arial" pitchFamily="34" charset="-122"/>
                <a:cs typeface="Arial" pitchFamily="34" charset="-120"/>
              </a:rPr>
              <a:t>2. Record</a:t>
            </a:r>
            <a:endParaRPr lang="en-US" sz="1600" dirty="0"/>
          </a:p>
        </p:txBody>
      </p:sp>
      <p:sp>
        <p:nvSpPr>
          <p:cNvPr id="14" name="Text 10"/>
          <p:cNvSpPr txBox="1"/>
          <p:nvPr/>
        </p:nvSpPr>
        <p:spPr>
          <a:xfrm>
            <a:off x="2962656" y="2926080"/>
            <a:ext cx="1737360" cy="82296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2+ iPhones film the same movement</a:t>
            </a:r>
            <a:endParaRPr lang="en-US" sz="1300" dirty="0"/>
          </a:p>
        </p:txBody>
      </p:sp>
      <p:sp>
        <p:nvSpPr>
          <p:cNvPr id="15" name="Text 11"/>
          <p:cNvSpPr txBox="1"/>
          <p:nvPr/>
        </p:nvSpPr>
        <p:spPr>
          <a:xfrm>
            <a:off x="4837176" y="2377440"/>
            <a:ext cx="265176" cy="457200"/>
          </a:xfrm>
          <a:prstGeom prst="rect">
            <a:avLst/>
          </a:prstGeom>
          <a:noFill/>
          <a:ln/>
        </p:spPr>
        <p:txBody>
          <a:bodyPr wrap="square" lIns="0" tIns="0" rIns="0" bIns="0" rtlCol="0" anchor="ctr"/>
          <a:lstStyle/>
          <a:p>
            <a:pPr algn="ctr" indent="0" marL="0">
              <a:buNone/>
            </a:pPr>
            <a:r>
              <a:rPr lang="en-US" sz="2800" b="1" dirty="0">
                <a:solidFill>
                  <a:srgbClr val="BF5700"/>
                </a:solidFill>
                <a:latin typeface="Calibri" pitchFamily="34" charset="0"/>
                <a:ea typeface="Calibri" pitchFamily="34" charset="-122"/>
                <a:cs typeface="Calibri" pitchFamily="34" charset="-120"/>
              </a:rPr>
              <a:t>›</a:t>
            </a:r>
            <a:endParaRPr lang="en-US" sz="2800" dirty="0"/>
          </a:p>
        </p:txBody>
      </p:sp>
      <p:sp>
        <p:nvSpPr>
          <p:cNvPr id="16" name="Shape 12"/>
          <p:cNvSpPr/>
          <p:nvPr/>
        </p:nvSpPr>
        <p:spPr>
          <a:xfrm>
            <a:off x="5102352" y="1508760"/>
            <a:ext cx="2011680" cy="2331720"/>
          </a:xfrm>
          <a:prstGeom prst="roundRect">
            <a:avLst>
              <a:gd name="adj" fmla="val 3636"/>
            </a:avLst>
          </a:prstGeom>
          <a:solidFill>
            <a:srgbClr val="F1F3F6"/>
          </a:solidFill>
          <a:ln w="12700">
            <a:solidFill>
              <a:srgbClr val="F1F3F6"/>
            </a:solidFill>
            <a:prstDash val="solid"/>
          </a:ln>
        </p:spPr>
      </p:sp>
      <p:sp>
        <p:nvSpPr>
          <p:cNvPr id="17" name="Shape 13"/>
          <p:cNvSpPr/>
          <p:nvPr/>
        </p:nvSpPr>
        <p:spPr>
          <a:xfrm>
            <a:off x="5806440" y="1783080"/>
            <a:ext cx="603504" cy="603504"/>
          </a:xfrm>
          <a:prstGeom prst="ellipse">
            <a:avLst/>
          </a:prstGeom>
          <a:solidFill>
            <a:srgbClr val="BF5700"/>
          </a:solidFill>
          <a:ln w="12700">
            <a:solidFill>
              <a:srgbClr val="BF5700"/>
            </a:solidFill>
            <a:prstDash val="solid"/>
          </a:ln>
        </p:spPr>
      </p:sp>
      <p:pic>
        <p:nvPicPr>
          <p:cNvPr id="18" name="Image 2" descr="preencoded.png">    </p:cNvPr>
          <p:cNvPicPr>
            <a:picLocks noChangeAspect="1"/>
          </p:cNvPicPr>
          <p:nvPr/>
        </p:nvPicPr>
        <p:blipFill>
          <a:blip r:embed="rId3"/>
          <a:stretch>
            <a:fillRect/>
          </a:stretch>
        </p:blipFill>
        <p:spPr>
          <a:xfrm>
            <a:off x="5957316" y="1933956"/>
            <a:ext cx="301752" cy="301752"/>
          </a:xfrm>
          <a:prstGeom prst="rect">
            <a:avLst/>
          </a:prstGeom>
        </p:spPr>
      </p:pic>
      <p:sp>
        <p:nvSpPr>
          <p:cNvPr id="19" name="Text 14"/>
          <p:cNvSpPr txBox="1"/>
          <p:nvPr/>
        </p:nvSpPr>
        <p:spPr>
          <a:xfrm>
            <a:off x="5239512" y="2514600"/>
            <a:ext cx="1737360" cy="365760"/>
          </a:xfrm>
          <a:prstGeom prst="rect">
            <a:avLst/>
          </a:prstGeom>
          <a:noFill/>
          <a:ln/>
        </p:spPr>
        <p:txBody>
          <a:bodyPr wrap="square" lIns="0" tIns="0" rIns="0" bIns="0" rtlCol="0" anchor="t"/>
          <a:lstStyle/>
          <a:p>
            <a:pPr algn="ctr" indent="0" marL="0">
              <a:buNone/>
            </a:pPr>
            <a:r>
              <a:rPr lang="en-US" sz="1600" b="1" dirty="0">
                <a:solidFill>
                  <a:srgbClr val="1A1F2B"/>
                </a:solidFill>
                <a:latin typeface="Arial" pitchFamily="34" charset="0"/>
                <a:ea typeface="Arial" pitchFamily="34" charset="-122"/>
                <a:cs typeface="Arial" pitchFamily="34" charset="-120"/>
              </a:rPr>
              <a:t>3. Detect</a:t>
            </a:r>
            <a:endParaRPr lang="en-US" sz="1600" dirty="0"/>
          </a:p>
        </p:txBody>
      </p:sp>
      <p:sp>
        <p:nvSpPr>
          <p:cNvPr id="20" name="Text 15"/>
          <p:cNvSpPr txBox="1"/>
          <p:nvPr/>
        </p:nvSpPr>
        <p:spPr>
          <a:xfrm>
            <a:off x="5239512" y="2926080"/>
            <a:ext cx="1737360" cy="82296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Pose model finds body keypoints per frame</a:t>
            </a:r>
            <a:endParaRPr lang="en-US" sz="1300" dirty="0"/>
          </a:p>
        </p:txBody>
      </p:sp>
      <p:sp>
        <p:nvSpPr>
          <p:cNvPr id="21" name="Text 16"/>
          <p:cNvSpPr txBox="1"/>
          <p:nvPr/>
        </p:nvSpPr>
        <p:spPr>
          <a:xfrm>
            <a:off x="7114032" y="2377440"/>
            <a:ext cx="265176" cy="457200"/>
          </a:xfrm>
          <a:prstGeom prst="rect">
            <a:avLst/>
          </a:prstGeom>
          <a:noFill/>
          <a:ln/>
        </p:spPr>
        <p:txBody>
          <a:bodyPr wrap="square" lIns="0" tIns="0" rIns="0" bIns="0" rtlCol="0" anchor="ctr"/>
          <a:lstStyle/>
          <a:p>
            <a:pPr algn="ctr" indent="0" marL="0">
              <a:buNone/>
            </a:pPr>
            <a:r>
              <a:rPr lang="en-US" sz="2800" b="1" dirty="0">
                <a:solidFill>
                  <a:srgbClr val="BF5700"/>
                </a:solidFill>
                <a:latin typeface="Calibri" pitchFamily="34" charset="0"/>
                <a:ea typeface="Calibri" pitchFamily="34" charset="-122"/>
                <a:cs typeface="Calibri" pitchFamily="34" charset="-120"/>
              </a:rPr>
              <a:t>›</a:t>
            </a:r>
            <a:endParaRPr lang="en-US" sz="2800" dirty="0"/>
          </a:p>
        </p:txBody>
      </p:sp>
      <p:sp>
        <p:nvSpPr>
          <p:cNvPr id="22" name="Shape 17"/>
          <p:cNvSpPr/>
          <p:nvPr/>
        </p:nvSpPr>
        <p:spPr>
          <a:xfrm>
            <a:off x="7379208" y="1508760"/>
            <a:ext cx="2011680" cy="2331720"/>
          </a:xfrm>
          <a:prstGeom prst="roundRect">
            <a:avLst>
              <a:gd name="adj" fmla="val 3636"/>
            </a:avLst>
          </a:prstGeom>
          <a:solidFill>
            <a:srgbClr val="F1F3F6"/>
          </a:solidFill>
          <a:ln w="12700">
            <a:solidFill>
              <a:srgbClr val="F1F3F6"/>
            </a:solidFill>
            <a:prstDash val="solid"/>
          </a:ln>
        </p:spPr>
      </p:sp>
      <p:sp>
        <p:nvSpPr>
          <p:cNvPr id="23" name="Shape 18"/>
          <p:cNvSpPr/>
          <p:nvPr/>
        </p:nvSpPr>
        <p:spPr>
          <a:xfrm>
            <a:off x="8083296" y="1783080"/>
            <a:ext cx="603504" cy="603504"/>
          </a:xfrm>
          <a:prstGeom prst="ellipse">
            <a:avLst/>
          </a:prstGeom>
          <a:solidFill>
            <a:srgbClr val="BF5700"/>
          </a:solidFill>
          <a:ln w="12700">
            <a:solidFill>
              <a:srgbClr val="BF5700"/>
            </a:solidFill>
            <a:prstDash val="solid"/>
          </a:ln>
        </p:spPr>
      </p:sp>
      <p:pic>
        <p:nvPicPr>
          <p:cNvPr id="24" name="Image 3" descr="preencoded.png">    </p:cNvPr>
          <p:cNvPicPr>
            <a:picLocks noChangeAspect="1"/>
          </p:cNvPicPr>
          <p:nvPr/>
        </p:nvPicPr>
        <p:blipFill>
          <a:blip r:embed="rId4"/>
          <a:stretch>
            <a:fillRect/>
          </a:stretch>
        </p:blipFill>
        <p:spPr>
          <a:xfrm>
            <a:off x="8234172" y="1933956"/>
            <a:ext cx="301752" cy="301752"/>
          </a:xfrm>
          <a:prstGeom prst="rect">
            <a:avLst/>
          </a:prstGeom>
        </p:spPr>
      </p:pic>
      <p:sp>
        <p:nvSpPr>
          <p:cNvPr id="25" name="Text 19"/>
          <p:cNvSpPr txBox="1"/>
          <p:nvPr/>
        </p:nvSpPr>
        <p:spPr>
          <a:xfrm>
            <a:off x="7516368" y="2514600"/>
            <a:ext cx="1737360" cy="365760"/>
          </a:xfrm>
          <a:prstGeom prst="rect">
            <a:avLst/>
          </a:prstGeom>
          <a:noFill/>
          <a:ln/>
        </p:spPr>
        <p:txBody>
          <a:bodyPr wrap="square" lIns="0" tIns="0" rIns="0" bIns="0" rtlCol="0" anchor="t"/>
          <a:lstStyle/>
          <a:p>
            <a:pPr algn="ctr" indent="0" marL="0">
              <a:buNone/>
            </a:pPr>
            <a:r>
              <a:rPr lang="en-US" sz="1600" b="1" dirty="0">
                <a:solidFill>
                  <a:srgbClr val="1A1F2B"/>
                </a:solidFill>
                <a:latin typeface="Arial" pitchFamily="34" charset="0"/>
                <a:ea typeface="Arial" pitchFamily="34" charset="-122"/>
                <a:cs typeface="Arial" pitchFamily="34" charset="-120"/>
              </a:rPr>
              <a:t>4. Augment</a:t>
            </a:r>
            <a:endParaRPr lang="en-US" sz="1600" dirty="0"/>
          </a:p>
        </p:txBody>
      </p:sp>
      <p:sp>
        <p:nvSpPr>
          <p:cNvPr id="26" name="Text 20"/>
          <p:cNvSpPr txBox="1"/>
          <p:nvPr/>
        </p:nvSpPr>
        <p:spPr>
          <a:xfrm>
            <a:off x="7516368" y="2926080"/>
            <a:ext cx="1737360" cy="82296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Neural net predicts a full anatomical marker set</a:t>
            </a:r>
            <a:endParaRPr lang="en-US" sz="1300" dirty="0"/>
          </a:p>
        </p:txBody>
      </p:sp>
      <p:sp>
        <p:nvSpPr>
          <p:cNvPr id="27" name="Text 21"/>
          <p:cNvSpPr txBox="1"/>
          <p:nvPr/>
        </p:nvSpPr>
        <p:spPr>
          <a:xfrm>
            <a:off x="9390888" y="2377440"/>
            <a:ext cx="265176" cy="457200"/>
          </a:xfrm>
          <a:prstGeom prst="rect">
            <a:avLst/>
          </a:prstGeom>
          <a:noFill/>
          <a:ln/>
        </p:spPr>
        <p:txBody>
          <a:bodyPr wrap="square" lIns="0" tIns="0" rIns="0" bIns="0" rtlCol="0" anchor="ctr"/>
          <a:lstStyle/>
          <a:p>
            <a:pPr algn="ctr" indent="0" marL="0">
              <a:buNone/>
            </a:pPr>
            <a:r>
              <a:rPr lang="en-US" sz="2800" b="1" dirty="0">
                <a:solidFill>
                  <a:srgbClr val="BF5700"/>
                </a:solidFill>
                <a:latin typeface="Calibri" pitchFamily="34" charset="0"/>
                <a:ea typeface="Calibri" pitchFamily="34" charset="-122"/>
                <a:cs typeface="Calibri" pitchFamily="34" charset="-120"/>
              </a:rPr>
              <a:t>›</a:t>
            </a:r>
            <a:endParaRPr lang="en-US" sz="2800" dirty="0"/>
          </a:p>
        </p:txBody>
      </p:sp>
      <p:sp>
        <p:nvSpPr>
          <p:cNvPr id="28" name="Shape 22"/>
          <p:cNvSpPr/>
          <p:nvPr/>
        </p:nvSpPr>
        <p:spPr>
          <a:xfrm>
            <a:off x="9656064" y="1508760"/>
            <a:ext cx="2011680" cy="2331720"/>
          </a:xfrm>
          <a:prstGeom prst="roundRect">
            <a:avLst>
              <a:gd name="adj" fmla="val 3636"/>
            </a:avLst>
          </a:prstGeom>
          <a:solidFill>
            <a:srgbClr val="F1F3F6"/>
          </a:solidFill>
          <a:ln w="12700">
            <a:solidFill>
              <a:srgbClr val="F1F3F6"/>
            </a:solidFill>
            <a:prstDash val="solid"/>
          </a:ln>
        </p:spPr>
      </p:sp>
      <p:sp>
        <p:nvSpPr>
          <p:cNvPr id="29" name="Shape 23"/>
          <p:cNvSpPr/>
          <p:nvPr/>
        </p:nvSpPr>
        <p:spPr>
          <a:xfrm>
            <a:off x="10360152" y="1783080"/>
            <a:ext cx="603504" cy="603504"/>
          </a:xfrm>
          <a:prstGeom prst="ellipse">
            <a:avLst/>
          </a:prstGeom>
          <a:solidFill>
            <a:srgbClr val="BF5700"/>
          </a:solidFill>
          <a:ln w="12700">
            <a:solidFill>
              <a:srgbClr val="BF5700"/>
            </a:solidFill>
            <a:prstDash val="solid"/>
          </a:ln>
        </p:spPr>
      </p:sp>
      <p:pic>
        <p:nvPicPr>
          <p:cNvPr id="30" name="Image 4" descr="preencoded.png">    </p:cNvPr>
          <p:cNvPicPr>
            <a:picLocks noChangeAspect="1"/>
          </p:cNvPicPr>
          <p:nvPr/>
        </p:nvPicPr>
        <p:blipFill>
          <a:blip r:embed="rId5"/>
          <a:stretch>
            <a:fillRect/>
          </a:stretch>
        </p:blipFill>
        <p:spPr>
          <a:xfrm>
            <a:off x="10511028" y="1933956"/>
            <a:ext cx="301752" cy="301752"/>
          </a:xfrm>
          <a:prstGeom prst="rect">
            <a:avLst/>
          </a:prstGeom>
        </p:spPr>
      </p:pic>
      <p:sp>
        <p:nvSpPr>
          <p:cNvPr id="31" name="Text 24"/>
          <p:cNvSpPr txBox="1"/>
          <p:nvPr/>
        </p:nvSpPr>
        <p:spPr>
          <a:xfrm>
            <a:off x="9793224" y="2514600"/>
            <a:ext cx="1737360" cy="365760"/>
          </a:xfrm>
          <a:prstGeom prst="rect">
            <a:avLst/>
          </a:prstGeom>
          <a:noFill/>
          <a:ln/>
        </p:spPr>
        <p:txBody>
          <a:bodyPr wrap="square" lIns="0" tIns="0" rIns="0" bIns="0" rtlCol="0" anchor="t"/>
          <a:lstStyle/>
          <a:p>
            <a:pPr algn="ctr" indent="0" marL="0">
              <a:buNone/>
            </a:pPr>
            <a:r>
              <a:rPr lang="en-US" sz="1600" b="1" dirty="0">
                <a:solidFill>
                  <a:srgbClr val="1A1F2B"/>
                </a:solidFill>
                <a:latin typeface="Arial" pitchFamily="34" charset="0"/>
                <a:ea typeface="Arial" pitchFamily="34" charset="-122"/>
                <a:cs typeface="Arial" pitchFamily="34" charset="-120"/>
              </a:rPr>
              <a:t>5. Solve</a:t>
            </a:r>
            <a:endParaRPr lang="en-US" sz="1600" dirty="0"/>
          </a:p>
        </p:txBody>
      </p:sp>
      <p:sp>
        <p:nvSpPr>
          <p:cNvPr id="32" name="Text 25"/>
          <p:cNvSpPr txBox="1"/>
          <p:nvPr/>
        </p:nvSpPr>
        <p:spPr>
          <a:xfrm>
            <a:off x="9793224" y="2926080"/>
            <a:ext cx="1737360" cy="82296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OpenSim scales a model and runs inverse kinematics</a:t>
            </a:r>
            <a:endParaRPr lang="en-US" sz="1300" dirty="0"/>
          </a:p>
        </p:txBody>
      </p:sp>
      <p:sp>
        <p:nvSpPr>
          <p:cNvPr id="33" name="Text 26"/>
          <p:cNvSpPr txBox="1"/>
          <p:nvPr/>
        </p:nvSpPr>
        <p:spPr>
          <a:xfrm>
            <a:off x="548640" y="3913632"/>
            <a:ext cx="3657600" cy="274320"/>
          </a:xfrm>
          <a:prstGeom prst="rect">
            <a:avLst/>
          </a:prstGeom>
          <a:noFill/>
          <a:ln/>
        </p:spPr>
        <p:txBody>
          <a:bodyPr wrap="square" lIns="0" tIns="0" rIns="0" bIns="0" rtlCol="0" anchor="t"/>
          <a:lstStyle/>
          <a:p>
            <a:pPr indent="0" marL="0">
              <a:buNone/>
            </a:pPr>
            <a:r>
              <a:rPr lang="en-US" sz="1100" i="1" dirty="0">
                <a:solidFill>
                  <a:srgbClr val="BF5700"/>
                </a:solidFill>
                <a:latin typeface="Calibri" pitchFamily="34" charset="0"/>
                <a:ea typeface="Calibri" pitchFamily="34" charset="-122"/>
                <a:cs typeface="Calibri" pitchFamily="34" charset="-120"/>
              </a:rPr>
              <a:t>Our checkerboard holder supports step 1</a:t>
            </a:r>
            <a:endParaRPr lang="en-US" sz="1100" dirty="0"/>
          </a:p>
        </p:txBody>
      </p:sp>
      <p:sp>
        <p:nvSpPr>
          <p:cNvPr id="34" name="Text 27"/>
          <p:cNvSpPr txBox="1"/>
          <p:nvPr/>
        </p:nvSpPr>
        <p:spPr>
          <a:xfrm>
            <a:off x="548640" y="4389120"/>
            <a:ext cx="7315200" cy="320040"/>
          </a:xfrm>
          <a:prstGeom prst="rect">
            <a:avLst/>
          </a:prstGeom>
          <a:noFill/>
          <a:ln/>
        </p:spPr>
        <p:txBody>
          <a:bodyPr wrap="square" lIns="0" tIns="0" rIns="0" bIns="0" rtlCol="0" anchor="t"/>
          <a:lstStyle/>
          <a:p>
            <a:pPr indent="0" marL="0">
              <a:buNone/>
            </a:pPr>
            <a:r>
              <a:rPr lang="en-US" sz="1300" b="1" dirty="0">
                <a:solidFill>
                  <a:srgbClr val="5B6472"/>
                </a:solidFill>
                <a:latin typeface="Calibri" pitchFamily="34" charset="0"/>
                <a:ea typeface="Calibri" pitchFamily="34" charset="-122"/>
                <a:cs typeface="Calibri" pitchFamily="34" charset="-120"/>
              </a:rPr>
              <a:t>Reported by the OpenCap developers against marker-based motion capture [1]</a:t>
            </a:r>
            <a:endParaRPr lang="en-US" sz="1300" dirty="0"/>
          </a:p>
        </p:txBody>
      </p:sp>
      <p:sp>
        <p:nvSpPr>
          <p:cNvPr id="35" name="Text 28"/>
          <p:cNvSpPr txBox="1"/>
          <p:nvPr/>
        </p:nvSpPr>
        <p:spPr>
          <a:xfrm>
            <a:off x="548640" y="4754880"/>
            <a:ext cx="2377440" cy="777240"/>
          </a:xfrm>
          <a:prstGeom prst="rect">
            <a:avLst/>
          </a:prstGeom>
          <a:noFill/>
          <a:ln/>
        </p:spPr>
        <p:txBody>
          <a:bodyPr wrap="square" lIns="0" tIns="0" rIns="0" bIns="0" rtlCol="0" anchor="t"/>
          <a:lstStyle/>
          <a:p>
            <a:pPr indent="0" marL="0">
              <a:buNone/>
            </a:pPr>
            <a:r>
              <a:rPr lang="en-US" sz="4400" b="1" dirty="0">
                <a:solidFill>
                  <a:srgbClr val="BF5700"/>
                </a:solidFill>
                <a:latin typeface="Arial" pitchFamily="34" charset="0"/>
                <a:ea typeface="Arial" pitchFamily="34" charset="-122"/>
                <a:cs typeface="Arial" pitchFamily="34" charset="-120"/>
              </a:rPr>
              <a:t>4.5°</a:t>
            </a:r>
            <a:endParaRPr lang="en-US" sz="4400" dirty="0"/>
          </a:p>
        </p:txBody>
      </p:sp>
      <p:sp>
        <p:nvSpPr>
          <p:cNvPr id="36" name="Text 29"/>
          <p:cNvSpPr txBox="1"/>
          <p:nvPr/>
        </p:nvSpPr>
        <p:spPr>
          <a:xfrm>
            <a:off x="548640" y="5532120"/>
            <a:ext cx="2377440"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mean absolute error,</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joint angles</a:t>
            </a:r>
            <a:endParaRPr lang="en-US" sz="1200" dirty="0"/>
          </a:p>
        </p:txBody>
      </p:sp>
      <p:sp>
        <p:nvSpPr>
          <p:cNvPr id="37" name="Text 30"/>
          <p:cNvSpPr txBox="1"/>
          <p:nvPr/>
        </p:nvSpPr>
        <p:spPr>
          <a:xfrm>
            <a:off x="3063240" y="4754880"/>
            <a:ext cx="2377440" cy="777240"/>
          </a:xfrm>
          <a:prstGeom prst="rect">
            <a:avLst/>
          </a:prstGeom>
          <a:noFill/>
          <a:ln/>
        </p:spPr>
        <p:txBody>
          <a:bodyPr wrap="square" lIns="0" tIns="0" rIns="0" bIns="0" rtlCol="0" anchor="t"/>
          <a:lstStyle/>
          <a:p>
            <a:pPr indent="0" marL="0">
              <a:buNone/>
            </a:pPr>
            <a:r>
              <a:rPr lang="en-US" sz="4400" b="1" dirty="0">
                <a:solidFill>
                  <a:srgbClr val="BF5700"/>
                </a:solidFill>
                <a:latin typeface="Arial" pitchFamily="34" charset="0"/>
                <a:ea typeface="Arial" pitchFamily="34" charset="-122"/>
                <a:cs typeface="Arial" pitchFamily="34" charset="-120"/>
              </a:rPr>
              <a:t>6.2%</a:t>
            </a:r>
            <a:endParaRPr lang="en-US" sz="4400" dirty="0"/>
          </a:p>
        </p:txBody>
      </p:sp>
      <p:sp>
        <p:nvSpPr>
          <p:cNvPr id="38" name="Text 31"/>
          <p:cNvSpPr txBox="1"/>
          <p:nvPr/>
        </p:nvSpPr>
        <p:spPr>
          <a:xfrm>
            <a:off x="3063240" y="5532120"/>
            <a:ext cx="2377440"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of body weight,</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ground reaction force error</a:t>
            </a:r>
            <a:endParaRPr lang="en-US" sz="1200" dirty="0"/>
          </a:p>
        </p:txBody>
      </p:sp>
      <p:sp>
        <p:nvSpPr>
          <p:cNvPr id="39" name="Text 32"/>
          <p:cNvSpPr txBox="1"/>
          <p:nvPr/>
        </p:nvSpPr>
        <p:spPr>
          <a:xfrm>
            <a:off x="5577840" y="4754880"/>
            <a:ext cx="2377440" cy="777240"/>
          </a:xfrm>
          <a:prstGeom prst="rect">
            <a:avLst/>
          </a:prstGeom>
          <a:noFill/>
          <a:ln/>
        </p:spPr>
        <p:txBody>
          <a:bodyPr wrap="square" lIns="0" tIns="0" rIns="0" bIns="0" rtlCol="0" anchor="t"/>
          <a:lstStyle/>
          <a:p>
            <a:pPr indent="0" marL="0">
              <a:buNone/>
            </a:pPr>
            <a:r>
              <a:rPr lang="en-US" sz="4400" b="1" dirty="0">
                <a:solidFill>
                  <a:srgbClr val="BF5700"/>
                </a:solidFill>
                <a:latin typeface="Arial" pitchFamily="34" charset="0"/>
                <a:ea typeface="Arial" pitchFamily="34" charset="-122"/>
                <a:cs typeface="Arial" pitchFamily="34" charset="-120"/>
              </a:rPr>
              <a:t>1.2%</a:t>
            </a:r>
            <a:endParaRPr lang="en-US" sz="4400" dirty="0"/>
          </a:p>
        </p:txBody>
      </p:sp>
      <p:sp>
        <p:nvSpPr>
          <p:cNvPr id="40" name="Text 33"/>
          <p:cNvSpPr txBox="1"/>
          <p:nvPr/>
        </p:nvSpPr>
        <p:spPr>
          <a:xfrm>
            <a:off x="5577840" y="5532120"/>
            <a:ext cx="2377440"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of body weight × height,</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joint moment error</a:t>
            </a:r>
            <a:endParaRPr lang="en-US" sz="1200" dirty="0"/>
          </a:p>
        </p:txBody>
      </p:sp>
      <p:sp>
        <p:nvSpPr>
          <p:cNvPr id="41" name="Shape 34"/>
          <p:cNvSpPr/>
          <p:nvPr/>
        </p:nvSpPr>
        <p:spPr>
          <a:xfrm>
            <a:off x="8275320" y="4389120"/>
            <a:ext cx="3383280" cy="1783080"/>
          </a:xfrm>
          <a:prstGeom prst="roundRect">
            <a:avLst>
              <a:gd name="adj" fmla="val 4103"/>
            </a:avLst>
          </a:prstGeom>
          <a:solidFill>
            <a:srgbClr val="E3ECF3"/>
          </a:solidFill>
          <a:ln w="12700">
            <a:solidFill>
              <a:srgbClr val="E3ECF3"/>
            </a:solidFill>
            <a:prstDash val="solid"/>
          </a:ln>
        </p:spPr>
      </p:sp>
      <p:sp>
        <p:nvSpPr>
          <p:cNvPr id="42" name="Text 35"/>
          <p:cNvSpPr txBox="1"/>
          <p:nvPr/>
        </p:nvSpPr>
        <p:spPr>
          <a:xfrm>
            <a:off x="8503920" y="4526280"/>
            <a:ext cx="2971800" cy="1508760"/>
          </a:xfrm>
          <a:prstGeom prst="rect">
            <a:avLst/>
          </a:prstGeom>
          <a:noFill/>
          <a:ln/>
        </p:spPr>
        <p:txBody>
          <a:bodyPr wrap="square" lIns="0" tIns="0" rIns="0" bIns="0" rtlCol="0" anchor="ctr"/>
          <a:lstStyle/>
          <a:p>
            <a:pPr indent="0" marL="0">
              <a:spcAft>
                <a:spcPts val="400"/>
              </a:spcAft>
              <a:buNone/>
            </a:pPr>
            <a:r>
              <a:rPr lang="en-US" sz="1400" b="1" dirty="0">
                <a:solidFill>
                  <a:srgbClr val="3C6E91"/>
                </a:solidFill>
                <a:latin typeface="Calibri" pitchFamily="34" charset="0"/>
                <a:ea typeface="Calibri" pitchFamily="34" charset="-122"/>
                <a:cs typeface="Calibri" pitchFamily="34" charset="-120"/>
              </a:rPr>
              <a:t>Our reference: Theia3D</a:t>
            </a:r>
            <a:endParaRPr lang="en-US" sz="1400" dirty="0"/>
          </a:p>
          <a:p>
            <a:pPr indent="0" marL="0">
              <a:spcAft>
                <a:spcPts val="400"/>
              </a:spcAft>
              <a:buNone/>
            </a:pPr>
            <a:r>
              <a:rPr lang="en-US" sz="1400" dirty="0">
                <a:solidFill>
                  <a:srgbClr val="1A1F2B"/>
                </a:solidFill>
                <a:latin typeface="Calibri" pitchFamily="34" charset="0"/>
                <a:ea typeface="Calibri" pitchFamily="34" charset="-122"/>
                <a:cs typeface="Calibri" pitchFamily="34" charset="-120"/>
              </a:rPr>
              <a:t>The lab's current markerless system. It uses many synchronized lab cameras and has published validation against markers [2].</a:t>
            </a:r>
            <a:endParaRPr lang="en-US" sz="1400" dirty="0"/>
          </a:p>
        </p:txBody>
      </p:sp>
      <p:sp>
        <p:nvSpPr>
          <p:cNvPr id="43" name="Text 36"/>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2B"/>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RESEARCH QUESTION</a:t>
            </a:r>
            <a:endParaRPr lang="en-US" sz="1100" dirty="0"/>
          </a:p>
        </p:txBody>
      </p:sp>
      <p:sp>
        <p:nvSpPr>
          <p:cNvPr id="3" name="Text 1"/>
          <p:cNvSpPr txBox="1"/>
          <p:nvPr/>
        </p:nvSpPr>
        <p:spPr>
          <a:xfrm>
            <a:off x="548640" y="731520"/>
            <a:ext cx="11064240" cy="13258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Can two phones running OpenCap match the lab's Theia3D system closely enough to take gait studies out of the lab?</a:t>
            </a:r>
            <a:endParaRPr lang="en-US" sz="2800" dirty="0"/>
          </a:p>
        </p:txBody>
      </p:sp>
      <p:sp>
        <p:nvSpPr>
          <p:cNvPr id="4" name="Shape 2"/>
          <p:cNvSpPr/>
          <p:nvPr/>
        </p:nvSpPr>
        <p:spPr>
          <a:xfrm>
            <a:off x="548640" y="2514600"/>
            <a:ext cx="3520440" cy="3154680"/>
          </a:xfrm>
          <a:prstGeom prst="roundRect">
            <a:avLst>
              <a:gd name="adj" fmla="val 2319"/>
            </a:avLst>
          </a:prstGeom>
          <a:solidFill>
            <a:srgbClr val="2A3140"/>
          </a:solidFill>
          <a:ln w="12700">
            <a:solidFill>
              <a:srgbClr val="2A3140"/>
            </a:solidFill>
            <a:prstDash val="solid"/>
          </a:ln>
        </p:spPr>
      </p:sp>
      <p:sp>
        <p:nvSpPr>
          <p:cNvPr id="5" name="Shape 3"/>
          <p:cNvSpPr/>
          <p:nvPr/>
        </p:nvSpPr>
        <p:spPr>
          <a:xfrm>
            <a:off x="822960" y="2743200"/>
            <a:ext cx="603504" cy="603504"/>
          </a:xfrm>
          <a:prstGeom prst="ellipse">
            <a:avLst/>
          </a:prstGeom>
          <a:solidFill>
            <a:srgbClr val="BF5700"/>
          </a:solidFill>
          <a:ln w="12700">
            <a:solidFill>
              <a:srgbClr val="BF5700"/>
            </a:solidFill>
            <a:prstDash val="solid"/>
          </a:ln>
        </p:spPr>
      </p:sp>
      <p:pic>
        <p:nvPicPr>
          <p:cNvPr id="6" name="Image 0" descr="preencoded.png">    </p:cNvPr>
          <p:cNvPicPr>
            <a:picLocks noChangeAspect="1"/>
          </p:cNvPicPr>
          <p:nvPr/>
        </p:nvPicPr>
        <p:blipFill>
          <a:blip r:embed="rId1"/>
          <a:stretch>
            <a:fillRect/>
          </a:stretch>
        </p:blipFill>
        <p:spPr>
          <a:xfrm>
            <a:off x="973836" y="2894076"/>
            <a:ext cx="301752" cy="301752"/>
          </a:xfrm>
          <a:prstGeom prst="rect">
            <a:avLst/>
          </a:prstGeom>
        </p:spPr>
      </p:pic>
      <p:sp>
        <p:nvSpPr>
          <p:cNvPr id="7" name="Text 4"/>
          <p:cNvSpPr txBox="1"/>
          <p:nvPr/>
        </p:nvSpPr>
        <p:spPr>
          <a:xfrm>
            <a:off x="1600200" y="2770632"/>
            <a:ext cx="2286000" cy="256032"/>
          </a:xfrm>
          <a:prstGeom prst="rect">
            <a:avLst/>
          </a:prstGeom>
          <a:noFill/>
          <a:ln/>
        </p:spPr>
        <p:txBody>
          <a:bodyPr wrap="square" lIns="0" tIns="0" rIns="0" bIns="0" rtlCol="0" anchor="t"/>
          <a:lstStyle/>
          <a:p>
            <a:pPr indent="0" marL="0">
              <a:buNone/>
            </a:pPr>
            <a:r>
              <a:rPr lang="en-US" sz="1200" b="1" spc="200" kern="0" dirty="0">
                <a:solidFill>
                  <a:srgbClr val="BF5700"/>
                </a:solidFill>
                <a:latin typeface="Calibri" pitchFamily="34" charset="0"/>
                <a:ea typeface="Calibri" pitchFamily="34" charset="-122"/>
                <a:cs typeface="Calibri" pitchFamily="34" charset="-120"/>
              </a:rPr>
              <a:t>AIM 1</a:t>
            </a:r>
            <a:endParaRPr lang="en-US" sz="1200" dirty="0"/>
          </a:p>
        </p:txBody>
      </p:sp>
      <p:sp>
        <p:nvSpPr>
          <p:cNvPr id="8" name="Text 5"/>
          <p:cNvSpPr txBox="1"/>
          <p:nvPr/>
        </p:nvSpPr>
        <p:spPr>
          <a:xfrm>
            <a:off x="1600200" y="3026664"/>
            <a:ext cx="2377440" cy="3657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Validate kinematics</a:t>
            </a:r>
            <a:endParaRPr lang="en-US" sz="1900" dirty="0"/>
          </a:p>
        </p:txBody>
      </p:sp>
      <p:sp>
        <p:nvSpPr>
          <p:cNvPr id="9" name="Text 6"/>
          <p:cNvSpPr txBox="1"/>
          <p:nvPr/>
        </p:nvSpPr>
        <p:spPr>
          <a:xfrm>
            <a:off x="822960" y="3611880"/>
            <a:ext cx="3017520" cy="1280160"/>
          </a:xfrm>
          <a:prstGeom prst="rect">
            <a:avLst/>
          </a:prstGeom>
          <a:noFill/>
          <a:ln/>
        </p:spPr>
        <p:txBody>
          <a:bodyPr wrap="square" lIns="0" tIns="0" rIns="0" bIns="0" rtlCol="0" anchor="t"/>
          <a:lstStyle/>
          <a:p>
            <a:pPr indent="0" marL="0">
              <a:buNone/>
            </a:pPr>
            <a:r>
              <a:rPr lang="en-US" sz="1400" dirty="0">
                <a:solidFill>
                  <a:srgbClr val="C9CFD9"/>
                </a:solidFill>
                <a:latin typeface="Calibri" pitchFamily="34" charset="0"/>
                <a:ea typeface="Calibri" pitchFamily="34" charset="-122"/>
                <a:cs typeface="Calibri" pitchFamily="34" charset="-120"/>
              </a:rPr>
              <a:t>Record treadmill walking and jogging with OpenCap and Theia3D at the same time. Compare hip, knee, and ankle angles.</a:t>
            </a:r>
            <a:endParaRPr lang="en-US" sz="1400" dirty="0"/>
          </a:p>
        </p:txBody>
      </p:sp>
      <p:sp>
        <p:nvSpPr>
          <p:cNvPr id="10" name="Text 7"/>
          <p:cNvSpPr txBox="1"/>
          <p:nvPr/>
        </p:nvSpPr>
        <p:spPr>
          <a:xfrm>
            <a:off x="822960" y="4754880"/>
            <a:ext cx="3017520" cy="731520"/>
          </a:xfrm>
          <a:prstGeom prst="rect">
            <a:avLst/>
          </a:prstGeom>
          <a:noFill/>
          <a:ln/>
        </p:spPr>
        <p:txBody>
          <a:bodyPr wrap="square" lIns="0" tIns="0" rIns="0" bIns="0" rtlCol="0" anchor="t"/>
          <a:lstStyle/>
          <a:p>
            <a:pPr indent="0" marL="0">
              <a:buNone/>
            </a:pPr>
            <a:r>
              <a:rPr lang="en-US" sz="1300" i="1" dirty="0">
                <a:solidFill>
                  <a:srgbClr val="F2B98F"/>
                </a:solidFill>
                <a:latin typeface="Calibri" pitchFamily="34" charset="0"/>
                <a:ea typeface="Calibri" pitchFamily="34" charset="-122"/>
                <a:cs typeface="Calibri" pitchFamily="34" charset="-120"/>
              </a:rPr>
              <a:t>Hypothesis: sagittal-plane angles agree within 5° mean absolute error.</a:t>
            </a:r>
            <a:endParaRPr lang="en-US" sz="1300" dirty="0"/>
          </a:p>
        </p:txBody>
      </p:sp>
      <p:sp>
        <p:nvSpPr>
          <p:cNvPr id="11" name="Shape 8"/>
          <p:cNvSpPr/>
          <p:nvPr/>
        </p:nvSpPr>
        <p:spPr>
          <a:xfrm>
            <a:off x="4297680" y="2514600"/>
            <a:ext cx="3520440" cy="3154680"/>
          </a:xfrm>
          <a:prstGeom prst="roundRect">
            <a:avLst>
              <a:gd name="adj" fmla="val 2319"/>
            </a:avLst>
          </a:prstGeom>
          <a:solidFill>
            <a:srgbClr val="2A3140"/>
          </a:solidFill>
          <a:ln w="12700">
            <a:solidFill>
              <a:srgbClr val="2A3140"/>
            </a:solidFill>
            <a:prstDash val="solid"/>
          </a:ln>
        </p:spPr>
      </p:sp>
      <p:sp>
        <p:nvSpPr>
          <p:cNvPr id="12" name="Shape 9"/>
          <p:cNvSpPr/>
          <p:nvPr/>
        </p:nvSpPr>
        <p:spPr>
          <a:xfrm>
            <a:off x="4572000" y="2743200"/>
            <a:ext cx="603504" cy="603504"/>
          </a:xfrm>
          <a:prstGeom prst="ellipse">
            <a:avLst/>
          </a:prstGeom>
          <a:solidFill>
            <a:srgbClr val="BF5700"/>
          </a:solidFill>
          <a:ln w="12700">
            <a:solidFill>
              <a:srgbClr val="BF5700"/>
            </a:solidFill>
            <a:prstDash val="solid"/>
          </a:ln>
        </p:spPr>
      </p:sp>
      <p:pic>
        <p:nvPicPr>
          <p:cNvPr id="13" name="Image 1" descr="preencoded.png">    </p:cNvPr>
          <p:cNvPicPr>
            <a:picLocks noChangeAspect="1"/>
          </p:cNvPicPr>
          <p:nvPr/>
        </p:nvPicPr>
        <p:blipFill>
          <a:blip r:embed="rId2"/>
          <a:stretch>
            <a:fillRect/>
          </a:stretch>
        </p:blipFill>
        <p:spPr>
          <a:xfrm>
            <a:off x="4722876" y="2894076"/>
            <a:ext cx="301752" cy="301752"/>
          </a:xfrm>
          <a:prstGeom prst="rect">
            <a:avLst/>
          </a:prstGeom>
        </p:spPr>
      </p:pic>
      <p:sp>
        <p:nvSpPr>
          <p:cNvPr id="14" name="Text 10"/>
          <p:cNvSpPr txBox="1"/>
          <p:nvPr/>
        </p:nvSpPr>
        <p:spPr>
          <a:xfrm>
            <a:off x="5349240" y="2770632"/>
            <a:ext cx="2286000" cy="256032"/>
          </a:xfrm>
          <a:prstGeom prst="rect">
            <a:avLst/>
          </a:prstGeom>
          <a:noFill/>
          <a:ln/>
        </p:spPr>
        <p:txBody>
          <a:bodyPr wrap="square" lIns="0" tIns="0" rIns="0" bIns="0" rtlCol="0" anchor="t"/>
          <a:lstStyle/>
          <a:p>
            <a:pPr indent="0" marL="0">
              <a:buNone/>
            </a:pPr>
            <a:r>
              <a:rPr lang="en-US" sz="1200" b="1" spc="200" kern="0" dirty="0">
                <a:solidFill>
                  <a:srgbClr val="BF5700"/>
                </a:solidFill>
                <a:latin typeface="Calibri" pitchFamily="34" charset="0"/>
                <a:ea typeface="Calibri" pitchFamily="34" charset="-122"/>
                <a:cs typeface="Calibri" pitchFamily="34" charset="-120"/>
              </a:rPr>
              <a:t>AIM 2</a:t>
            </a:r>
            <a:endParaRPr lang="en-US" sz="1200" dirty="0"/>
          </a:p>
        </p:txBody>
      </p:sp>
      <p:sp>
        <p:nvSpPr>
          <p:cNvPr id="15" name="Text 11"/>
          <p:cNvSpPr txBox="1"/>
          <p:nvPr/>
        </p:nvSpPr>
        <p:spPr>
          <a:xfrm>
            <a:off x="5349240" y="3026664"/>
            <a:ext cx="2377440" cy="3657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Add kinetics</a:t>
            </a:r>
            <a:endParaRPr lang="en-US" sz="1900" dirty="0"/>
          </a:p>
        </p:txBody>
      </p:sp>
      <p:sp>
        <p:nvSpPr>
          <p:cNvPr id="16" name="Text 12"/>
          <p:cNvSpPr txBox="1"/>
          <p:nvPr/>
        </p:nvSpPr>
        <p:spPr>
          <a:xfrm>
            <a:off x="4572000" y="3611880"/>
            <a:ext cx="3017520" cy="1280160"/>
          </a:xfrm>
          <a:prstGeom prst="rect">
            <a:avLst/>
          </a:prstGeom>
          <a:noFill/>
          <a:ln/>
        </p:spPr>
        <p:txBody>
          <a:bodyPr wrap="square" lIns="0" tIns="0" rIns="0" bIns="0" rtlCol="0" anchor="t"/>
          <a:lstStyle/>
          <a:p>
            <a:pPr indent="0" marL="0">
              <a:buNone/>
            </a:pPr>
            <a:r>
              <a:rPr lang="en-US" sz="1400" dirty="0">
                <a:solidFill>
                  <a:srgbClr val="C9CFD9"/>
                </a:solidFill>
                <a:latin typeface="Calibri" pitchFamily="34" charset="0"/>
                <a:ea typeface="Calibri" pitchFamily="34" charset="-122"/>
                <a:cs typeface="Calibri" pitchFamily="34" charset="-120"/>
              </a:rPr>
              <a:t>Feed OpenCap kinematics and Bertec treadmill forces into OpenSim inverse dynamics. Compare joint moments to the Theia3D pipeline.</a:t>
            </a:r>
            <a:endParaRPr lang="en-US" sz="1400" dirty="0"/>
          </a:p>
        </p:txBody>
      </p:sp>
      <p:sp>
        <p:nvSpPr>
          <p:cNvPr id="17" name="Text 13"/>
          <p:cNvSpPr txBox="1"/>
          <p:nvPr/>
        </p:nvSpPr>
        <p:spPr>
          <a:xfrm>
            <a:off x="4572000" y="4754880"/>
            <a:ext cx="3017520" cy="731520"/>
          </a:xfrm>
          <a:prstGeom prst="rect">
            <a:avLst/>
          </a:prstGeom>
          <a:noFill/>
          <a:ln/>
        </p:spPr>
        <p:txBody>
          <a:bodyPr wrap="square" lIns="0" tIns="0" rIns="0" bIns="0" rtlCol="0" anchor="t"/>
          <a:lstStyle/>
          <a:p>
            <a:pPr indent="0" marL="0">
              <a:buNone/>
            </a:pPr>
            <a:r>
              <a:rPr lang="en-US" sz="1300" i="1" dirty="0">
                <a:solidFill>
                  <a:srgbClr val="F2B98F"/>
                </a:solidFill>
                <a:latin typeface="Calibri" pitchFamily="34" charset="0"/>
                <a:ea typeface="Calibri" pitchFamily="34" charset="-122"/>
                <a:cs typeface="Calibri" pitchFamily="34" charset="-120"/>
              </a:rPr>
              <a:t>Hypothesis: moment curves match in shape (r &gt; 0.9) with small peak differences.</a:t>
            </a:r>
            <a:endParaRPr lang="en-US" sz="1300" dirty="0"/>
          </a:p>
        </p:txBody>
      </p:sp>
      <p:sp>
        <p:nvSpPr>
          <p:cNvPr id="18" name="Shape 14"/>
          <p:cNvSpPr/>
          <p:nvPr/>
        </p:nvSpPr>
        <p:spPr>
          <a:xfrm>
            <a:off x="8046720" y="2514600"/>
            <a:ext cx="3520440" cy="3154680"/>
          </a:xfrm>
          <a:prstGeom prst="roundRect">
            <a:avLst>
              <a:gd name="adj" fmla="val 2319"/>
            </a:avLst>
          </a:prstGeom>
          <a:solidFill>
            <a:srgbClr val="2A3140"/>
          </a:solidFill>
          <a:ln w="12700">
            <a:solidFill>
              <a:srgbClr val="2A3140"/>
            </a:solidFill>
            <a:prstDash val="solid"/>
          </a:ln>
        </p:spPr>
      </p:sp>
      <p:sp>
        <p:nvSpPr>
          <p:cNvPr id="19" name="Shape 15"/>
          <p:cNvSpPr/>
          <p:nvPr/>
        </p:nvSpPr>
        <p:spPr>
          <a:xfrm>
            <a:off x="8321040" y="2743200"/>
            <a:ext cx="603504" cy="603504"/>
          </a:xfrm>
          <a:prstGeom prst="ellipse">
            <a:avLst/>
          </a:prstGeom>
          <a:solidFill>
            <a:srgbClr val="BF5700"/>
          </a:solidFill>
          <a:ln w="12700">
            <a:solidFill>
              <a:srgbClr val="BF5700"/>
            </a:solidFill>
            <a:prstDash val="solid"/>
          </a:ln>
        </p:spPr>
      </p:sp>
      <p:pic>
        <p:nvPicPr>
          <p:cNvPr id="20" name="Image 2" descr="preencoded.png">    </p:cNvPr>
          <p:cNvPicPr>
            <a:picLocks noChangeAspect="1"/>
          </p:cNvPicPr>
          <p:nvPr/>
        </p:nvPicPr>
        <p:blipFill>
          <a:blip r:embed="rId3"/>
          <a:stretch>
            <a:fillRect/>
          </a:stretch>
        </p:blipFill>
        <p:spPr>
          <a:xfrm>
            <a:off x="8471916" y="2894076"/>
            <a:ext cx="301752" cy="301752"/>
          </a:xfrm>
          <a:prstGeom prst="rect">
            <a:avLst/>
          </a:prstGeom>
        </p:spPr>
      </p:pic>
      <p:sp>
        <p:nvSpPr>
          <p:cNvPr id="21" name="Text 16"/>
          <p:cNvSpPr txBox="1"/>
          <p:nvPr/>
        </p:nvSpPr>
        <p:spPr>
          <a:xfrm>
            <a:off x="9098280" y="2770632"/>
            <a:ext cx="2286000" cy="256032"/>
          </a:xfrm>
          <a:prstGeom prst="rect">
            <a:avLst/>
          </a:prstGeom>
          <a:noFill/>
          <a:ln/>
        </p:spPr>
        <p:txBody>
          <a:bodyPr wrap="square" lIns="0" tIns="0" rIns="0" bIns="0" rtlCol="0" anchor="t"/>
          <a:lstStyle/>
          <a:p>
            <a:pPr indent="0" marL="0">
              <a:buNone/>
            </a:pPr>
            <a:r>
              <a:rPr lang="en-US" sz="1200" b="1" spc="200" kern="0" dirty="0">
                <a:solidFill>
                  <a:srgbClr val="BF5700"/>
                </a:solidFill>
                <a:latin typeface="Calibri" pitchFamily="34" charset="0"/>
                <a:ea typeface="Calibri" pitchFamily="34" charset="-122"/>
                <a:cs typeface="Calibri" pitchFamily="34" charset="-120"/>
              </a:rPr>
              <a:t>AIM 3</a:t>
            </a:r>
            <a:endParaRPr lang="en-US" sz="1200" dirty="0"/>
          </a:p>
        </p:txBody>
      </p:sp>
      <p:sp>
        <p:nvSpPr>
          <p:cNvPr id="22" name="Text 17"/>
          <p:cNvSpPr txBox="1"/>
          <p:nvPr/>
        </p:nvSpPr>
        <p:spPr>
          <a:xfrm>
            <a:off x="9098280" y="3026664"/>
            <a:ext cx="2377440" cy="3657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Leave the lab</a:t>
            </a:r>
            <a:endParaRPr lang="en-US" sz="1900" dirty="0"/>
          </a:p>
        </p:txBody>
      </p:sp>
      <p:sp>
        <p:nvSpPr>
          <p:cNvPr id="23" name="Text 18"/>
          <p:cNvSpPr txBox="1"/>
          <p:nvPr/>
        </p:nvSpPr>
        <p:spPr>
          <a:xfrm>
            <a:off x="8321040" y="3611880"/>
            <a:ext cx="3017520" cy="1280160"/>
          </a:xfrm>
          <a:prstGeom prst="rect">
            <a:avLst/>
          </a:prstGeom>
          <a:noFill/>
          <a:ln/>
        </p:spPr>
        <p:txBody>
          <a:bodyPr wrap="square" lIns="0" tIns="0" rIns="0" bIns="0" rtlCol="0" anchor="t"/>
          <a:lstStyle/>
          <a:p>
            <a:pPr indent="0" marL="0">
              <a:buNone/>
            </a:pPr>
            <a:r>
              <a:rPr lang="en-US" sz="1400" dirty="0">
                <a:solidFill>
                  <a:srgbClr val="C9CFD9"/>
                </a:solidFill>
                <a:latin typeface="Calibri" pitchFamily="34" charset="0"/>
                <a:ea typeface="Calibri" pitchFamily="34" charset="-122"/>
                <a:cs typeface="Calibri" pitchFamily="34" charset="-120"/>
              </a:rPr>
              <a:t>Repeat captures on ramps and stairs in the terrain park and outdoors. Log setup time, failures, and data quality.</a:t>
            </a:r>
            <a:endParaRPr lang="en-US" sz="1400" dirty="0"/>
          </a:p>
        </p:txBody>
      </p:sp>
      <p:sp>
        <p:nvSpPr>
          <p:cNvPr id="24" name="Text 19"/>
          <p:cNvSpPr txBox="1"/>
          <p:nvPr/>
        </p:nvSpPr>
        <p:spPr>
          <a:xfrm>
            <a:off x="8321040" y="4754880"/>
            <a:ext cx="3017520" cy="731520"/>
          </a:xfrm>
          <a:prstGeom prst="rect">
            <a:avLst/>
          </a:prstGeom>
          <a:noFill/>
          <a:ln/>
        </p:spPr>
        <p:txBody>
          <a:bodyPr wrap="square" lIns="0" tIns="0" rIns="0" bIns="0" rtlCol="0" anchor="t"/>
          <a:lstStyle/>
          <a:p>
            <a:pPr indent="0" marL="0">
              <a:buNone/>
            </a:pPr>
            <a:r>
              <a:rPr lang="en-US" sz="1300" i="1" dirty="0">
                <a:solidFill>
                  <a:srgbClr val="F2B98F"/>
                </a:solidFill>
                <a:latin typeface="Calibri" pitchFamily="34" charset="0"/>
                <a:ea typeface="Calibri" pitchFamily="34" charset="-122"/>
                <a:cs typeface="Calibri" pitchFamily="34" charset="-120"/>
              </a:rPr>
              <a:t>Goal: a setup guide the lab can follow without us.</a:t>
            </a:r>
            <a:endParaRPr lang="en-US" sz="1300" dirty="0"/>
          </a:p>
        </p:txBody>
      </p:sp>
      <p:sp>
        <p:nvSpPr>
          <p:cNvPr id="25" name="Text 20"/>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8A93A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PROGRESS SO FAR</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We already have OpenCap running</a:t>
            </a:r>
            <a:endParaRPr lang="en-US" sz="3200" dirty="0"/>
          </a:p>
        </p:txBody>
      </p:sp>
      <p:sp>
        <p:nvSpPr>
          <p:cNvPr id="4" name="Shape 2"/>
          <p:cNvSpPr/>
          <p:nvPr/>
        </p:nvSpPr>
        <p:spPr>
          <a:xfrm>
            <a:off x="548640" y="1508760"/>
            <a:ext cx="457200" cy="457200"/>
          </a:xfrm>
          <a:prstGeom prst="ellipse">
            <a:avLst/>
          </a:prstGeom>
          <a:solidFill>
            <a:srgbClr val="3B7D4F"/>
          </a:solidFill>
          <a:ln w="19050">
            <a:solidFill>
              <a:srgbClr val="3B7D4F"/>
            </a:solidFill>
            <a:prstDash val="solid"/>
          </a:ln>
        </p:spPr>
      </p:sp>
      <p:pic>
        <p:nvPicPr>
          <p:cNvPr id="5" name="Image 0" descr="preencoded.png">    </p:cNvPr>
          <p:cNvPicPr>
            <a:picLocks noChangeAspect="1"/>
          </p:cNvPicPr>
          <p:nvPr/>
        </p:nvPicPr>
        <p:blipFill>
          <a:blip r:embed="rId1"/>
          <a:stretch>
            <a:fillRect/>
          </a:stretch>
        </p:blipFill>
        <p:spPr>
          <a:xfrm>
            <a:off x="658368" y="1618488"/>
            <a:ext cx="237744" cy="237744"/>
          </a:xfrm>
          <a:prstGeom prst="rect">
            <a:avLst/>
          </a:prstGeom>
        </p:spPr>
      </p:pic>
      <p:sp>
        <p:nvSpPr>
          <p:cNvPr id="6" name="Text 3"/>
          <p:cNvSpPr txBox="1"/>
          <p:nvPr/>
        </p:nvSpPr>
        <p:spPr>
          <a:xfrm>
            <a:off x="1234440" y="1463040"/>
            <a:ext cx="4754880" cy="347472"/>
          </a:xfrm>
          <a:prstGeom prst="rect">
            <a:avLst/>
          </a:prstGeom>
          <a:noFill/>
          <a:ln/>
        </p:spPr>
        <p:txBody>
          <a:bodyPr wrap="square" lIns="0" tIns="0" rIns="0" bIns="0" rtlCol="0" anchor="t"/>
          <a:lstStyle/>
          <a:p>
            <a:pPr indent="0" marL="0">
              <a:buNone/>
            </a:pPr>
            <a:r>
              <a:rPr lang="en-US" sz="1600" b="1" dirty="0">
                <a:solidFill>
                  <a:srgbClr val="1A1F2B"/>
                </a:solidFill>
                <a:latin typeface="Arial" pitchFamily="34" charset="0"/>
                <a:ea typeface="Arial" pitchFamily="34" charset="-122"/>
                <a:cs typeface="Arial" pitchFamily="34" charset="-120"/>
              </a:rPr>
              <a:t>Two-phone OpenCap session</a:t>
            </a:r>
            <a:endParaRPr lang="en-US" sz="1600" dirty="0"/>
          </a:p>
        </p:txBody>
      </p:sp>
      <p:sp>
        <p:nvSpPr>
          <p:cNvPr id="7" name="Text 4"/>
          <p:cNvSpPr txBox="1"/>
          <p:nvPr/>
        </p:nvSpPr>
        <p:spPr>
          <a:xfrm>
            <a:off x="1234440" y="1828800"/>
            <a:ext cx="4846320" cy="4114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Calibrated, recorded, and processed a capture with two cameras</a:t>
            </a:r>
            <a:endParaRPr lang="en-US" sz="1300" dirty="0"/>
          </a:p>
        </p:txBody>
      </p:sp>
      <p:sp>
        <p:nvSpPr>
          <p:cNvPr id="8" name="Shape 5"/>
          <p:cNvSpPr/>
          <p:nvPr/>
        </p:nvSpPr>
        <p:spPr>
          <a:xfrm>
            <a:off x="548640" y="2423160"/>
            <a:ext cx="457200" cy="457200"/>
          </a:xfrm>
          <a:prstGeom prst="ellipse">
            <a:avLst/>
          </a:prstGeom>
          <a:solidFill>
            <a:srgbClr val="3B7D4F"/>
          </a:solidFill>
          <a:ln w="19050">
            <a:solidFill>
              <a:srgbClr val="3B7D4F"/>
            </a:solidFill>
            <a:prstDash val="solid"/>
          </a:ln>
        </p:spPr>
      </p:sp>
      <p:pic>
        <p:nvPicPr>
          <p:cNvPr id="9" name="Image 1" descr="preencoded.png">    </p:cNvPr>
          <p:cNvPicPr>
            <a:picLocks noChangeAspect="1"/>
          </p:cNvPicPr>
          <p:nvPr/>
        </p:nvPicPr>
        <p:blipFill>
          <a:blip r:embed="rId2"/>
          <a:stretch>
            <a:fillRect/>
          </a:stretch>
        </p:blipFill>
        <p:spPr>
          <a:xfrm>
            <a:off x="658368" y="2532888"/>
            <a:ext cx="237744" cy="237744"/>
          </a:xfrm>
          <a:prstGeom prst="rect">
            <a:avLst/>
          </a:prstGeom>
        </p:spPr>
      </p:pic>
      <p:sp>
        <p:nvSpPr>
          <p:cNvPr id="10" name="Text 6"/>
          <p:cNvSpPr txBox="1"/>
          <p:nvPr/>
        </p:nvSpPr>
        <p:spPr>
          <a:xfrm>
            <a:off x="1234440" y="2377440"/>
            <a:ext cx="4754880" cy="347472"/>
          </a:xfrm>
          <a:prstGeom prst="rect">
            <a:avLst/>
          </a:prstGeom>
          <a:noFill/>
          <a:ln/>
        </p:spPr>
        <p:txBody>
          <a:bodyPr wrap="square" lIns="0" tIns="0" rIns="0" bIns="0" rtlCol="0" anchor="t"/>
          <a:lstStyle/>
          <a:p>
            <a:pPr indent="0" marL="0">
              <a:buNone/>
            </a:pPr>
            <a:r>
              <a:rPr lang="en-US" sz="1600" b="1" dirty="0">
                <a:solidFill>
                  <a:srgbClr val="1A1F2B"/>
                </a:solidFill>
                <a:latin typeface="Arial" pitchFamily="34" charset="0"/>
                <a:ea typeface="Arial" pitchFamily="34" charset="-122"/>
                <a:cs typeface="Arial" pitchFamily="34" charset="-120"/>
              </a:rPr>
              <a:t>Checkerboard holder</a:t>
            </a:r>
            <a:endParaRPr lang="en-US" sz="1600" dirty="0"/>
          </a:p>
        </p:txBody>
      </p:sp>
      <p:sp>
        <p:nvSpPr>
          <p:cNvPr id="11" name="Text 7"/>
          <p:cNvSpPr txBox="1"/>
          <p:nvPr/>
        </p:nvSpPr>
        <p:spPr>
          <a:xfrm>
            <a:off x="1234440" y="2743200"/>
            <a:ext cx="4846320" cy="4114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Designed in SolidWorks, sliced for PLA: 114 layers, about 50 min, 31 g</a:t>
            </a:r>
            <a:endParaRPr lang="en-US" sz="1300" dirty="0"/>
          </a:p>
        </p:txBody>
      </p:sp>
      <p:sp>
        <p:nvSpPr>
          <p:cNvPr id="12" name="Shape 8"/>
          <p:cNvSpPr/>
          <p:nvPr/>
        </p:nvSpPr>
        <p:spPr>
          <a:xfrm>
            <a:off x="548640" y="3337560"/>
            <a:ext cx="457200" cy="457200"/>
          </a:xfrm>
          <a:prstGeom prst="ellipse">
            <a:avLst/>
          </a:prstGeom>
          <a:solidFill>
            <a:srgbClr val="3B7D4F"/>
          </a:solidFill>
          <a:ln w="19050">
            <a:solidFill>
              <a:srgbClr val="3B7D4F"/>
            </a:solidFill>
            <a:prstDash val="solid"/>
          </a:ln>
        </p:spPr>
      </p:sp>
      <p:pic>
        <p:nvPicPr>
          <p:cNvPr id="13" name="Image 2" descr="preencoded.png">    </p:cNvPr>
          <p:cNvPicPr>
            <a:picLocks noChangeAspect="1"/>
          </p:cNvPicPr>
          <p:nvPr/>
        </p:nvPicPr>
        <p:blipFill>
          <a:blip r:embed="rId3"/>
          <a:stretch>
            <a:fillRect/>
          </a:stretch>
        </p:blipFill>
        <p:spPr>
          <a:xfrm>
            <a:off x="658368" y="3447288"/>
            <a:ext cx="237744" cy="237744"/>
          </a:xfrm>
          <a:prstGeom prst="rect">
            <a:avLst/>
          </a:prstGeom>
        </p:spPr>
      </p:pic>
      <p:sp>
        <p:nvSpPr>
          <p:cNvPr id="14" name="Text 9"/>
          <p:cNvSpPr txBox="1"/>
          <p:nvPr/>
        </p:nvSpPr>
        <p:spPr>
          <a:xfrm>
            <a:off x="1234440" y="3291840"/>
            <a:ext cx="4754880" cy="347472"/>
          </a:xfrm>
          <a:prstGeom prst="rect">
            <a:avLst/>
          </a:prstGeom>
          <a:noFill/>
          <a:ln/>
        </p:spPr>
        <p:txBody>
          <a:bodyPr wrap="square" lIns="0" tIns="0" rIns="0" bIns="0" rtlCol="0" anchor="t"/>
          <a:lstStyle/>
          <a:p>
            <a:pPr indent="0" marL="0">
              <a:buNone/>
            </a:pPr>
            <a:r>
              <a:rPr lang="en-US" sz="1600" b="1" dirty="0">
                <a:solidFill>
                  <a:srgbClr val="1A1F2B"/>
                </a:solidFill>
                <a:latin typeface="Arial" pitchFamily="34" charset="0"/>
                <a:ea typeface="Arial" pitchFamily="34" charset="-122"/>
                <a:cs typeface="Arial" pitchFamily="34" charset="-120"/>
              </a:rPr>
              <a:t>Scope set with Finn (9/9)</a:t>
            </a:r>
            <a:endParaRPr lang="en-US" sz="1600" dirty="0"/>
          </a:p>
        </p:txBody>
      </p:sp>
      <p:sp>
        <p:nvSpPr>
          <p:cNvPr id="15" name="Text 10"/>
          <p:cNvSpPr txBox="1"/>
          <p:nvPr/>
        </p:nvSpPr>
        <p:spPr>
          <a:xfrm>
            <a:off x="1234440" y="3657600"/>
            <a:ext cx="4846320" cy="4114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Main project: mobile motion capture; side projects listed</a:t>
            </a:r>
            <a:endParaRPr lang="en-US" sz="1300" dirty="0"/>
          </a:p>
        </p:txBody>
      </p:sp>
      <p:sp>
        <p:nvSpPr>
          <p:cNvPr id="16" name="Shape 11"/>
          <p:cNvSpPr/>
          <p:nvPr/>
        </p:nvSpPr>
        <p:spPr>
          <a:xfrm>
            <a:off x="548640" y="4251960"/>
            <a:ext cx="457200" cy="457200"/>
          </a:xfrm>
          <a:prstGeom prst="ellipse">
            <a:avLst/>
          </a:prstGeom>
          <a:solidFill>
            <a:srgbClr val="FFFFFF"/>
          </a:solidFill>
          <a:ln w="19050">
            <a:solidFill>
              <a:srgbClr val="D5DAE1"/>
            </a:solidFill>
            <a:prstDash val="solid"/>
          </a:ln>
        </p:spPr>
      </p:sp>
      <p:sp>
        <p:nvSpPr>
          <p:cNvPr id="17" name="Text 12"/>
          <p:cNvSpPr txBox="1"/>
          <p:nvPr/>
        </p:nvSpPr>
        <p:spPr>
          <a:xfrm>
            <a:off x="1234440" y="4206240"/>
            <a:ext cx="4754880" cy="347472"/>
          </a:xfrm>
          <a:prstGeom prst="rect">
            <a:avLst/>
          </a:prstGeom>
          <a:noFill/>
          <a:ln/>
        </p:spPr>
        <p:txBody>
          <a:bodyPr wrap="square" lIns="0" tIns="0" rIns="0" bIns="0" rtlCol="0" anchor="t"/>
          <a:lstStyle/>
          <a:p>
            <a:pPr indent="0" marL="0">
              <a:buNone/>
            </a:pPr>
            <a:r>
              <a:rPr lang="en-US" sz="1600" b="1" dirty="0">
                <a:solidFill>
                  <a:srgbClr val="5B6472"/>
                </a:solidFill>
                <a:latin typeface="Arial" pitchFamily="34" charset="0"/>
                <a:ea typeface="Arial" pitchFamily="34" charset="-122"/>
                <a:cs typeface="Arial" pitchFamily="34" charset="-120"/>
              </a:rPr>
              <a:t>Project proposal</a:t>
            </a:r>
            <a:endParaRPr lang="en-US" sz="1600" dirty="0"/>
          </a:p>
        </p:txBody>
      </p:sp>
      <p:sp>
        <p:nvSpPr>
          <p:cNvPr id="18" name="Text 13"/>
          <p:cNvSpPr txBox="1"/>
          <p:nvPr/>
        </p:nvSpPr>
        <p:spPr>
          <a:xfrm>
            <a:off x="1234440" y="4572000"/>
            <a:ext cx="4846320" cy="4114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This document: aims, plan, budget, timeline</a:t>
            </a:r>
            <a:endParaRPr lang="en-US" sz="1300" dirty="0"/>
          </a:p>
        </p:txBody>
      </p:sp>
      <p:sp>
        <p:nvSpPr>
          <p:cNvPr id="19" name="Shape 14"/>
          <p:cNvSpPr/>
          <p:nvPr/>
        </p:nvSpPr>
        <p:spPr>
          <a:xfrm>
            <a:off x="548640" y="5166360"/>
            <a:ext cx="457200" cy="457200"/>
          </a:xfrm>
          <a:prstGeom prst="ellipse">
            <a:avLst/>
          </a:prstGeom>
          <a:solidFill>
            <a:srgbClr val="FFFFFF"/>
          </a:solidFill>
          <a:ln w="19050">
            <a:solidFill>
              <a:srgbClr val="D5DAE1"/>
            </a:solidFill>
            <a:prstDash val="solid"/>
          </a:ln>
        </p:spPr>
      </p:sp>
      <p:sp>
        <p:nvSpPr>
          <p:cNvPr id="20" name="Text 15"/>
          <p:cNvSpPr txBox="1"/>
          <p:nvPr/>
        </p:nvSpPr>
        <p:spPr>
          <a:xfrm>
            <a:off x="1234440" y="5120640"/>
            <a:ext cx="4754880" cy="347472"/>
          </a:xfrm>
          <a:prstGeom prst="rect">
            <a:avLst/>
          </a:prstGeom>
          <a:noFill/>
          <a:ln/>
        </p:spPr>
        <p:txBody>
          <a:bodyPr wrap="square" lIns="0" tIns="0" rIns="0" bIns="0" rtlCol="0" anchor="t"/>
          <a:lstStyle/>
          <a:p>
            <a:pPr indent="0" marL="0">
              <a:buNone/>
            </a:pPr>
            <a:r>
              <a:rPr lang="en-US" sz="1600" b="1" dirty="0">
                <a:solidFill>
                  <a:srgbClr val="5B6472"/>
                </a:solidFill>
                <a:latin typeface="Arial" pitchFamily="34" charset="0"/>
                <a:ea typeface="Arial" pitchFamily="34" charset="-122"/>
                <a:cs typeface="Arial" pitchFamily="34" charset="-120"/>
              </a:rPr>
              <a:t>Theia3D + Bertec training</a:t>
            </a:r>
            <a:endParaRPr lang="en-US" sz="1600" dirty="0"/>
          </a:p>
        </p:txBody>
      </p:sp>
      <p:sp>
        <p:nvSpPr>
          <p:cNvPr id="21" name="Text 16"/>
          <p:cNvSpPr txBox="1"/>
          <p:nvPr/>
        </p:nvSpPr>
        <p:spPr>
          <a:xfrm>
            <a:off x="1234440" y="5486400"/>
            <a:ext cx="4846320" cy="4114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Next step before any concurrent collection</a:t>
            </a:r>
            <a:endParaRPr lang="en-US" sz="1300" dirty="0"/>
          </a:p>
        </p:txBody>
      </p:sp>
      <p:sp>
        <p:nvSpPr>
          <p:cNvPr id="22" name="Shape 17"/>
          <p:cNvSpPr/>
          <p:nvPr/>
        </p:nvSpPr>
        <p:spPr>
          <a:xfrm>
            <a:off x="6400800" y="1417320"/>
            <a:ext cx="5257800" cy="4754880"/>
          </a:xfrm>
          <a:prstGeom prst="roundRect">
            <a:avLst>
              <a:gd name="adj" fmla="val 1538"/>
            </a:avLst>
          </a:prstGeom>
          <a:solidFill>
            <a:srgbClr val="1A1F2B"/>
          </a:solidFill>
          <a:ln w="12700">
            <a:solidFill>
              <a:srgbClr val="1A1F2B"/>
            </a:solidFill>
            <a:prstDash val="solid"/>
          </a:ln>
        </p:spPr>
      </p:sp>
      <p:pic>
        <p:nvPicPr>
          <p:cNvPr id="23" name="Image 3" descr="holder.png">    </p:cNvPr>
          <p:cNvPicPr>
            <a:picLocks noChangeAspect="1"/>
          </p:cNvPicPr>
          <p:nvPr/>
        </p:nvPicPr>
        <p:blipFill>
          <a:blip r:embed="rId4"/>
          <a:stretch>
            <a:fillRect/>
          </a:stretch>
        </p:blipFill>
        <p:spPr>
          <a:xfrm>
            <a:off x="6647688" y="1645920"/>
            <a:ext cx="4754880" cy="3566160"/>
          </a:xfrm>
          <a:prstGeom prst="rect">
            <a:avLst/>
          </a:prstGeom>
        </p:spPr>
      </p:pic>
      <p:sp>
        <p:nvSpPr>
          <p:cNvPr id="24" name="Text 18"/>
          <p:cNvSpPr txBox="1"/>
          <p:nvPr/>
        </p:nvSpPr>
        <p:spPr>
          <a:xfrm>
            <a:off x="6675120" y="5303520"/>
            <a:ext cx="4754880" cy="320040"/>
          </a:xfrm>
          <a:prstGeom prst="rect">
            <a:avLst/>
          </a:prstGeom>
          <a:noFill/>
          <a:ln/>
        </p:spPr>
        <p:txBody>
          <a:bodyPr wrap="square" lIns="0" tIns="0" rIns="0" bIns="0" rtlCol="0" anchor="t"/>
          <a:lstStyle/>
          <a:p>
            <a:pPr indent="0" marL="0">
              <a:buNone/>
            </a:pPr>
            <a:r>
              <a:rPr lang="en-US" sz="1200" i="1" dirty="0">
                <a:solidFill>
                  <a:srgbClr val="C9CFD9"/>
                </a:solidFill>
                <a:latin typeface="Calibri" pitchFamily="34" charset="0"/>
                <a:ea typeface="Calibri" pitchFamily="34" charset="-122"/>
                <a:cs typeface="Calibri" pitchFamily="34" charset="-120"/>
              </a:rPr>
              <a:t>Checkerboard holder, rendered from our print file</a:t>
            </a:r>
            <a:endParaRPr lang="en-US" sz="1200" dirty="0"/>
          </a:p>
        </p:txBody>
      </p:sp>
      <p:sp>
        <p:nvSpPr>
          <p:cNvPr id="25" name="Text 19"/>
          <p:cNvSpPr txBox="1"/>
          <p:nvPr/>
        </p:nvSpPr>
        <p:spPr>
          <a:xfrm>
            <a:off x="6675120" y="5623560"/>
            <a:ext cx="4754880" cy="320040"/>
          </a:xfrm>
          <a:prstGeom prst="rect">
            <a:avLst/>
          </a:prstGeom>
          <a:noFill/>
          <a:ln/>
        </p:spPr>
        <p:txBody>
          <a:bodyPr wrap="square" lIns="0" tIns="0" rIns="0" bIns="0" rtlCol="0" anchor="t"/>
          <a:lstStyle/>
          <a:p>
            <a:pPr indent="0" marL="0">
              <a:buNone/>
            </a:pPr>
            <a:r>
              <a:rPr lang="en-US" sz="1200" dirty="0">
                <a:solidFill>
                  <a:srgbClr val="8A93A3"/>
                </a:solidFill>
                <a:latin typeface="Calibri" pitchFamily="34" charset="0"/>
                <a:ea typeface="Calibri" pitchFamily="34" charset="-122"/>
                <a:cs typeface="Calibri" pitchFamily="34" charset="-120"/>
              </a:rPr>
              <a:t>Holds the calibration board upright and repeatable between sessions</a:t>
            </a:r>
            <a:endParaRPr lang="en-US" sz="1200" dirty="0"/>
          </a:p>
        </p:txBody>
      </p:sp>
      <p:sp>
        <p:nvSpPr>
          <p:cNvPr id="26" name="Text 20"/>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PLAN · AIM 1</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Record once, measure with both systems</a:t>
            </a:r>
            <a:endParaRPr lang="en-US" sz="3200" dirty="0"/>
          </a:p>
        </p:txBody>
      </p:sp>
      <p:sp>
        <p:nvSpPr>
          <p:cNvPr id="4" name="Shape 2"/>
          <p:cNvSpPr/>
          <p:nvPr/>
        </p:nvSpPr>
        <p:spPr>
          <a:xfrm>
            <a:off x="548640" y="1417320"/>
            <a:ext cx="6309360" cy="1463040"/>
          </a:xfrm>
          <a:prstGeom prst="roundRect">
            <a:avLst>
              <a:gd name="adj" fmla="val 5000"/>
            </a:avLst>
          </a:prstGeom>
          <a:solidFill>
            <a:srgbClr val="F1F3F6"/>
          </a:solidFill>
          <a:ln w="12700">
            <a:solidFill>
              <a:srgbClr val="F1F3F6"/>
            </a:solidFill>
            <a:prstDash val="solid"/>
          </a:ln>
        </p:spPr>
      </p:sp>
      <p:sp>
        <p:nvSpPr>
          <p:cNvPr id="5" name="Shape 3"/>
          <p:cNvSpPr/>
          <p:nvPr/>
        </p:nvSpPr>
        <p:spPr>
          <a:xfrm>
            <a:off x="777240" y="1600200"/>
            <a:ext cx="548640" cy="548640"/>
          </a:xfrm>
          <a:prstGeom prst="ellipse">
            <a:avLst/>
          </a:prstGeom>
          <a:solidFill>
            <a:srgbClr val="BF5700"/>
          </a:solidFill>
          <a:ln w="12700">
            <a:solidFill>
              <a:srgbClr val="BF5700"/>
            </a:solidFill>
            <a:prstDash val="solid"/>
          </a:ln>
        </p:spPr>
      </p:sp>
      <p:pic>
        <p:nvPicPr>
          <p:cNvPr id="6"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7" name="Text 4"/>
          <p:cNvSpPr txBox="1"/>
          <p:nvPr/>
        </p:nvSpPr>
        <p:spPr>
          <a:xfrm>
            <a:off x="777240" y="2240280"/>
            <a:ext cx="1280160" cy="36576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1. Set up</a:t>
            </a:r>
            <a:endParaRPr lang="en-US" sz="1500" dirty="0"/>
          </a:p>
        </p:txBody>
      </p:sp>
      <p:sp>
        <p:nvSpPr>
          <p:cNvPr id="8" name="Text 5"/>
          <p:cNvSpPr txBox="1"/>
          <p:nvPr/>
        </p:nvSpPr>
        <p:spPr>
          <a:xfrm>
            <a:off x="2103120" y="1581912"/>
            <a:ext cx="4572000" cy="11887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2 iPhones on tripods, about 45° to either side of the treadmill</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Same capture volume as Theia3D cameras</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Checkerboard calibration each session</a:t>
            </a:r>
            <a:endParaRPr lang="en-US" sz="1300" dirty="0"/>
          </a:p>
        </p:txBody>
      </p:sp>
      <p:sp>
        <p:nvSpPr>
          <p:cNvPr id="9" name="Shape 6"/>
          <p:cNvSpPr/>
          <p:nvPr/>
        </p:nvSpPr>
        <p:spPr>
          <a:xfrm>
            <a:off x="548640" y="3017520"/>
            <a:ext cx="6309360" cy="1463040"/>
          </a:xfrm>
          <a:prstGeom prst="roundRect">
            <a:avLst>
              <a:gd name="adj" fmla="val 5000"/>
            </a:avLst>
          </a:prstGeom>
          <a:solidFill>
            <a:srgbClr val="F1F3F6"/>
          </a:solidFill>
          <a:ln w="12700">
            <a:solidFill>
              <a:srgbClr val="F1F3F6"/>
            </a:solidFill>
            <a:prstDash val="solid"/>
          </a:ln>
        </p:spPr>
      </p:sp>
      <p:sp>
        <p:nvSpPr>
          <p:cNvPr id="10" name="Shape 7"/>
          <p:cNvSpPr/>
          <p:nvPr/>
        </p:nvSpPr>
        <p:spPr>
          <a:xfrm>
            <a:off x="777240" y="3200400"/>
            <a:ext cx="548640" cy="548640"/>
          </a:xfrm>
          <a:prstGeom prst="ellipse">
            <a:avLst/>
          </a:prstGeom>
          <a:solidFill>
            <a:srgbClr val="BF5700"/>
          </a:solidFill>
          <a:ln w="12700">
            <a:solidFill>
              <a:srgbClr val="BF5700"/>
            </a:solidFill>
            <a:prstDash val="solid"/>
          </a:ln>
        </p:spPr>
      </p:sp>
      <p:pic>
        <p:nvPicPr>
          <p:cNvPr id="11" name="Image 1" descr="preencoded.png">    </p:cNvPr>
          <p:cNvPicPr>
            <a:picLocks noChangeAspect="1"/>
          </p:cNvPicPr>
          <p:nvPr/>
        </p:nvPicPr>
        <p:blipFill>
          <a:blip r:embed="rId2"/>
          <a:stretch>
            <a:fillRect/>
          </a:stretch>
        </p:blipFill>
        <p:spPr>
          <a:xfrm>
            <a:off x="914400" y="3337560"/>
            <a:ext cx="274320" cy="274320"/>
          </a:xfrm>
          <a:prstGeom prst="rect">
            <a:avLst/>
          </a:prstGeom>
        </p:spPr>
      </p:pic>
      <p:sp>
        <p:nvSpPr>
          <p:cNvPr id="12" name="Text 8"/>
          <p:cNvSpPr txBox="1"/>
          <p:nvPr/>
        </p:nvSpPr>
        <p:spPr>
          <a:xfrm>
            <a:off x="777240" y="3840480"/>
            <a:ext cx="1280160" cy="36576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2. Collect</a:t>
            </a:r>
            <a:endParaRPr lang="en-US" sz="1500" dirty="0"/>
          </a:p>
        </p:txBody>
      </p:sp>
      <p:sp>
        <p:nvSpPr>
          <p:cNvPr id="13" name="Text 9"/>
          <p:cNvSpPr txBox="1"/>
          <p:nvPr/>
        </p:nvSpPr>
        <p:spPr>
          <a:xfrm>
            <a:off x="2103120" y="3182112"/>
            <a:ext cx="4572000" cy="11887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Participants: our team (n = 3)</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Walk at slow, preferred, and fast speeds; jog</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3 trials × 30 s per condition</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Stomp at trial start to sync systems</a:t>
            </a:r>
            <a:endParaRPr lang="en-US" sz="1300" dirty="0"/>
          </a:p>
        </p:txBody>
      </p:sp>
      <p:sp>
        <p:nvSpPr>
          <p:cNvPr id="14" name="Shape 10"/>
          <p:cNvSpPr/>
          <p:nvPr/>
        </p:nvSpPr>
        <p:spPr>
          <a:xfrm>
            <a:off x="548640" y="4617720"/>
            <a:ext cx="6309360" cy="1463040"/>
          </a:xfrm>
          <a:prstGeom prst="roundRect">
            <a:avLst>
              <a:gd name="adj" fmla="val 5000"/>
            </a:avLst>
          </a:prstGeom>
          <a:solidFill>
            <a:srgbClr val="F1F3F6"/>
          </a:solidFill>
          <a:ln w="12700">
            <a:solidFill>
              <a:srgbClr val="F1F3F6"/>
            </a:solidFill>
            <a:prstDash val="solid"/>
          </a:ln>
        </p:spPr>
      </p:sp>
      <p:sp>
        <p:nvSpPr>
          <p:cNvPr id="15" name="Shape 11"/>
          <p:cNvSpPr/>
          <p:nvPr/>
        </p:nvSpPr>
        <p:spPr>
          <a:xfrm>
            <a:off x="777240" y="4800600"/>
            <a:ext cx="548640" cy="548640"/>
          </a:xfrm>
          <a:prstGeom prst="ellipse">
            <a:avLst/>
          </a:prstGeom>
          <a:solidFill>
            <a:srgbClr val="BF5700"/>
          </a:solidFill>
          <a:ln w="12700">
            <a:solidFill>
              <a:srgbClr val="BF5700"/>
            </a:solidFill>
            <a:prstDash val="solid"/>
          </a:ln>
        </p:spPr>
      </p:sp>
      <p:pic>
        <p:nvPicPr>
          <p:cNvPr id="16" name="Image 2" descr="preencoded.png">    </p:cNvPr>
          <p:cNvPicPr>
            <a:picLocks noChangeAspect="1"/>
          </p:cNvPicPr>
          <p:nvPr/>
        </p:nvPicPr>
        <p:blipFill>
          <a:blip r:embed="rId3"/>
          <a:stretch>
            <a:fillRect/>
          </a:stretch>
        </p:blipFill>
        <p:spPr>
          <a:xfrm>
            <a:off x="914400" y="4937760"/>
            <a:ext cx="274320" cy="274320"/>
          </a:xfrm>
          <a:prstGeom prst="rect">
            <a:avLst/>
          </a:prstGeom>
        </p:spPr>
      </p:pic>
      <p:sp>
        <p:nvSpPr>
          <p:cNvPr id="17" name="Text 12"/>
          <p:cNvSpPr txBox="1"/>
          <p:nvPr/>
        </p:nvSpPr>
        <p:spPr>
          <a:xfrm>
            <a:off x="777240" y="5440680"/>
            <a:ext cx="1280160" cy="36576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3. Compare</a:t>
            </a:r>
            <a:endParaRPr lang="en-US" sz="1500" dirty="0"/>
          </a:p>
        </p:txBody>
      </p:sp>
      <p:sp>
        <p:nvSpPr>
          <p:cNvPr id="18" name="Text 13"/>
          <p:cNvSpPr txBox="1"/>
          <p:nvPr/>
        </p:nvSpPr>
        <p:spPr>
          <a:xfrm>
            <a:off x="2103120" y="4782312"/>
            <a:ext cx="4572000" cy="11887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Align trials on the stomp event</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Split into gait cycles, normalize 0–100%</a:t>
            </a:r>
            <a:endParaRPr lang="en-US" sz="1300" dirty="0"/>
          </a:p>
          <a:p>
            <a:pPr marL="203200" indent="-203200">
              <a:spcAft>
                <a:spcPts val="600"/>
              </a:spcAft>
              <a:buSzPct val="100000"/>
              <a:buChar char="•"/>
            </a:pPr>
            <a:r>
              <a:rPr lang="en-US" sz="1300" dirty="0">
                <a:solidFill>
                  <a:srgbClr val="1A1F2B"/>
                </a:solidFill>
                <a:latin typeface="Calibri" pitchFamily="34" charset="0"/>
                <a:ea typeface="Calibri" pitchFamily="34" charset="-122"/>
                <a:cs typeface="Calibri" pitchFamily="34" charset="-120"/>
              </a:rPr>
              <a:t>Compute agreement metrics (right)</a:t>
            </a:r>
            <a:endParaRPr lang="en-US" sz="1300" dirty="0"/>
          </a:p>
        </p:txBody>
      </p:sp>
      <p:sp>
        <p:nvSpPr>
          <p:cNvPr id="19" name="Text 14"/>
          <p:cNvSpPr txBox="1"/>
          <p:nvPr/>
        </p:nvSpPr>
        <p:spPr>
          <a:xfrm>
            <a:off x="7178040" y="1417320"/>
            <a:ext cx="4480560" cy="502920"/>
          </a:xfrm>
          <a:prstGeom prst="rect">
            <a:avLst/>
          </a:prstGeom>
          <a:noFill/>
          <a:ln/>
        </p:spPr>
        <p:txBody>
          <a:bodyPr wrap="square" lIns="0" tIns="0" rIns="0" bIns="0" rtlCol="0" anchor="t"/>
          <a:lstStyle/>
          <a:p>
            <a:pPr indent="0" marL="0">
              <a:buNone/>
            </a:pPr>
            <a:r>
              <a:rPr lang="en-US" sz="1300" b="1" dirty="0">
                <a:solidFill>
                  <a:srgbClr val="BF5700"/>
                </a:solidFill>
                <a:latin typeface="Calibri" pitchFamily="34" charset="0"/>
                <a:ea typeface="Calibri" pitchFamily="34" charset="-122"/>
                <a:cs typeface="Calibri" pitchFamily="34" charset="-120"/>
              </a:rPr>
              <a:t>Joints: hip, knee, ankle (sagittal); hip frontal and transverse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78040" y="1965960"/>
          <a:ext cx="4480560" cy="914400"/>
        </p:xfrm>
        <a:graphic>
          <a:graphicData uri="http://schemas.openxmlformats.org/drawingml/2006/table">
            <a:tbl>
              <a:tblPr/>
              <a:tblGrid>
                <a:gridCol w="2103120"/>
                <a:gridCol w="23774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A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tells us</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A1F2B"/>
                    </a:solidFill>
                  </a:tcPr>
                </a:tc>
              </a:tr>
              <a:tr h="457200">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Mean absolute error, RMSE</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Average angle disagreement (°)</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Waveform correlation (r)</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1F3F6"/>
                    </a:solidFill>
                  </a:tcPr>
                </a:tc>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Do the curves have the same shape?</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1F3F6"/>
                    </a:solidFill>
                  </a:tcPr>
                </a:tc>
              </a:tr>
              <a:tr h="457200">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Bland–Altman limits [6]</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Bias and spread of peak angles</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Stride time, cadence</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1F3F6"/>
                    </a:solidFill>
                  </a:tcPr>
                </a:tc>
                <a:tc>
                  <a:txBody>
                    <a:bodyPr/>
                    <a:lstStyle/>
                    <a:p>
                      <a:pPr indent="0" marL="0">
                        <a:buNone/>
                      </a:pPr>
                      <a:r>
                        <a:rPr lang="en-US" sz="1300" dirty="0">
                          <a:solidFill>
                            <a:srgbClr val="1A1F2B"/>
                          </a:solidFill>
                          <a:latin typeface="Calibri" pitchFamily="34" charset="0"/>
                          <a:ea typeface="Calibri" pitchFamily="34" charset="-122"/>
                          <a:cs typeface="Calibri" pitchFamily="34" charset="-120"/>
                        </a:rPr>
                        <a:t>Spatiotemporal agreement</a:t>
                      </a:r>
                      <a:endParaRPr lang="en-US" sz="1300" dirty="0">
                        <a:latin typeface="Calibri" charset="0"/>
                        <a:ea typeface="Calibri" charset="0"/>
                        <a:cs typeface="Calibri" charset="0"/>
                      </a:endParaRPr>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1F3F6"/>
                    </a:solidFill>
                  </a:tcPr>
                </a:tc>
              </a:tr>
            </a:tbl>
          </a:graphicData>
        </a:graphic>
      </p:graphicFrame>
      <p:sp>
        <p:nvSpPr>
          <p:cNvPr id="21" name="Shape 15"/>
          <p:cNvSpPr/>
          <p:nvPr/>
        </p:nvSpPr>
        <p:spPr>
          <a:xfrm>
            <a:off x="7178040" y="4617720"/>
            <a:ext cx="4480560" cy="1463040"/>
          </a:xfrm>
          <a:prstGeom prst="roundRect">
            <a:avLst>
              <a:gd name="adj" fmla="val 5000"/>
            </a:avLst>
          </a:prstGeom>
          <a:solidFill>
            <a:srgbClr val="E3ECF3"/>
          </a:solidFill>
          <a:ln w="12700">
            <a:solidFill>
              <a:srgbClr val="E3ECF3"/>
            </a:solidFill>
            <a:prstDash val="solid"/>
          </a:ln>
        </p:spPr>
      </p:sp>
      <p:sp>
        <p:nvSpPr>
          <p:cNvPr id="22" name="Text 16"/>
          <p:cNvSpPr txBox="1"/>
          <p:nvPr/>
        </p:nvSpPr>
        <p:spPr>
          <a:xfrm>
            <a:off x="7406640" y="4709160"/>
            <a:ext cx="4069080" cy="1371600"/>
          </a:xfrm>
          <a:prstGeom prst="rect">
            <a:avLst/>
          </a:prstGeom>
          <a:noFill/>
          <a:ln/>
        </p:spPr>
        <p:txBody>
          <a:bodyPr wrap="square" lIns="0" tIns="0" rIns="0" bIns="0" rtlCol="0" anchor="ctr"/>
          <a:lstStyle/>
          <a:p>
            <a:pPr indent="0" marL="0">
              <a:buNone/>
            </a:pPr>
            <a:r>
              <a:rPr lang="en-US" sz="1400" b="1" dirty="0">
                <a:solidFill>
                  <a:srgbClr val="3C6E91"/>
                </a:solidFill>
                <a:latin typeface="Calibri" pitchFamily="34" charset="0"/>
                <a:ea typeface="Calibri" pitchFamily="34" charset="-122"/>
                <a:cs typeface="Calibri" pitchFamily="34" charset="-120"/>
              </a:rPr>
              <a:t>Framing: </a:t>
            </a:r>
            <a:pPr indent="0" marL="0">
              <a:buNone/>
            </a:pPr>
            <a:r>
              <a:rPr lang="en-US" sz="1400" dirty="0">
                <a:solidFill>
                  <a:srgbClr val="1A1F2B"/>
                </a:solidFill>
                <a:latin typeface="Calibri" pitchFamily="34" charset="0"/>
                <a:ea typeface="Calibri" pitchFamily="34" charset="-122"/>
                <a:cs typeface="Calibri" pitchFamily="34" charset="-120"/>
              </a:rPr>
              <a:t>Theia3D is also an estimate, not ground truth. We report agreement between two systems and lean on Theia3D's published marker validation [2] for context.</a:t>
            </a:r>
            <a:endParaRPr lang="en-US" sz="1400" dirty="0"/>
          </a:p>
        </p:txBody>
      </p:sp>
      <p:sp>
        <p:nvSpPr>
          <p:cNvPr id="23" name="Text 17"/>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PLAN · AIM 2</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Same forces, two kinematic sources</a:t>
            </a:r>
            <a:endParaRPr lang="en-US" sz="3200" dirty="0"/>
          </a:p>
        </p:txBody>
      </p:sp>
      <p:sp>
        <p:nvSpPr>
          <p:cNvPr id="4" name="Shape 2"/>
          <p:cNvSpPr/>
          <p:nvPr/>
        </p:nvSpPr>
        <p:spPr>
          <a:xfrm>
            <a:off x="548640" y="1463040"/>
            <a:ext cx="2926080" cy="1234440"/>
          </a:xfrm>
          <a:prstGeom prst="roundRect">
            <a:avLst>
              <a:gd name="adj" fmla="val 5926"/>
            </a:avLst>
          </a:prstGeom>
          <a:solidFill>
            <a:srgbClr val="F6E3D6"/>
          </a:solidFill>
          <a:ln w="12700">
            <a:solidFill>
              <a:srgbClr val="F6E3D6"/>
            </a:solidFill>
            <a:prstDash val="solid"/>
          </a:ln>
        </p:spPr>
      </p:sp>
      <p:sp>
        <p:nvSpPr>
          <p:cNvPr id="5" name="Text 3"/>
          <p:cNvSpPr txBox="1"/>
          <p:nvPr/>
        </p:nvSpPr>
        <p:spPr>
          <a:xfrm>
            <a:off x="731520" y="1600200"/>
            <a:ext cx="2560320" cy="365760"/>
          </a:xfrm>
          <a:prstGeom prst="rect">
            <a:avLst/>
          </a:prstGeom>
          <a:noFill/>
          <a:ln/>
        </p:spPr>
        <p:txBody>
          <a:bodyPr wrap="square" lIns="0" tIns="0" rIns="0" bIns="0" rtlCol="0" anchor="t"/>
          <a:lstStyle/>
          <a:p>
            <a:pPr indent="0" marL="0">
              <a:buNone/>
            </a:pPr>
            <a:r>
              <a:rPr lang="en-US" sz="1500" b="1" dirty="0">
                <a:solidFill>
                  <a:srgbClr val="BF5700"/>
                </a:solidFill>
                <a:latin typeface="Arial" pitchFamily="34" charset="0"/>
                <a:ea typeface="Arial" pitchFamily="34" charset="-122"/>
                <a:cs typeface="Arial" pitchFamily="34" charset="-120"/>
              </a:rPr>
              <a:t>OpenCap</a:t>
            </a:r>
            <a:endParaRPr lang="en-US" sz="1500" dirty="0"/>
          </a:p>
        </p:txBody>
      </p:sp>
      <p:sp>
        <p:nvSpPr>
          <p:cNvPr id="6" name="Text 4"/>
          <p:cNvSpPr txBox="1"/>
          <p:nvPr/>
        </p:nvSpPr>
        <p:spPr>
          <a:xfrm>
            <a:off x="731520" y="1965960"/>
            <a:ext cx="2560320"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Scaled model + joint angles (.osim, .mot)</a:t>
            </a:r>
            <a:endParaRPr lang="en-US" sz="1200" dirty="0"/>
          </a:p>
        </p:txBody>
      </p:sp>
      <p:sp>
        <p:nvSpPr>
          <p:cNvPr id="7" name="Shape 5"/>
          <p:cNvSpPr/>
          <p:nvPr/>
        </p:nvSpPr>
        <p:spPr>
          <a:xfrm>
            <a:off x="548640" y="2971800"/>
            <a:ext cx="2926080" cy="1234440"/>
          </a:xfrm>
          <a:prstGeom prst="roundRect">
            <a:avLst>
              <a:gd name="adj" fmla="val 5926"/>
            </a:avLst>
          </a:prstGeom>
          <a:solidFill>
            <a:srgbClr val="F1F3F6"/>
          </a:solidFill>
          <a:ln w="12700">
            <a:solidFill>
              <a:srgbClr val="F1F3F6"/>
            </a:solidFill>
            <a:prstDash val="solid"/>
          </a:ln>
        </p:spPr>
      </p:sp>
      <p:sp>
        <p:nvSpPr>
          <p:cNvPr id="8" name="Text 6"/>
          <p:cNvSpPr txBox="1"/>
          <p:nvPr/>
        </p:nvSpPr>
        <p:spPr>
          <a:xfrm>
            <a:off x="731520" y="3108960"/>
            <a:ext cx="2560320" cy="36576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Bertec treadmill</a:t>
            </a:r>
            <a:endParaRPr lang="en-US" sz="1500" dirty="0"/>
          </a:p>
        </p:txBody>
      </p:sp>
      <p:sp>
        <p:nvSpPr>
          <p:cNvPr id="9" name="Text 7"/>
          <p:cNvSpPr txBox="1"/>
          <p:nvPr/>
        </p:nvSpPr>
        <p:spPr>
          <a:xfrm>
            <a:off x="731520" y="3474720"/>
            <a:ext cx="2560320"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Ground reaction forces + center of pressure, filtered</a:t>
            </a:r>
            <a:endParaRPr lang="en-US" sz="1200" dirty="0"/>
          </a:p>
        </p:txBody>
      </p:sp>
      <p:sp>
        <p:nvSpPr>
          <p:cNvPr id="10" name="Shape 8"/>
          <p:cNvSpPr/>
          <p:nvPr/>
        </p:nvSpPr>
        <p:spPr>
          <a:xfrm>
            <a:off x="548640" y="4480560"/>
            <a:ext cx="2926080" cy="1234440"/>
          </a:xfrm>
          <a:prstGeom prst="roundRect">
            <a:avLst>
              <a:gd name="adj" fmla="val 5926"/>
            </a:avLst>
          </a:prstGeom>
          <a:solidFill>
            <a:srgbClr val="E3ECF3"/>
          </a:solidFill>
          <a:ln w="12700">
            <a:solidFill>
              <a:srgbClr val="E3ECF3"/>
            </a:solidFill>
            <a:prstDash val="solid"/>
          </a:ln>
        </p:spPr>
      </p:sp>
      <p:sp>
        <p:nvSpPr>
          <p:cNvPr id="11" name="Text 9"/>
          <p:cNvSpPr txBox="1"/>
          <p:nvPr/>
        </p:nvSpPr>
        <p:spPr>
          <a:xfrm>
            <a:off x="731520" y="4617720"/>
            <a:ext cx="2560320" cy="365760"/>
          </a:xfrm>
          <a:prstGeom prst="rect">
            <a:avLst/>
          </a:prstGeom>
          <a:noFill/>
          <a:ln/>
        </p:spPr>
        <p:txBody>
          <a:bodyPr wrap="square" lIns="0" tIns="0" rIns="0" bIns="0" rtlCol="0" anchor="t"/>
          <a:lstStyle/>
          <a:p>
            <a:pPr indent="0" marL="0">
              <a:buNone/>
            </a:pPr>
            <a:r>
              <a:rPr lang="en-US" sz="1500" b="1" dirty="0">
                <a:solidFill>
                  <a:srgbClr val="3C6E91"/>
                </a:solidFill>
                <a:latin typeface="Arial" pitchFamily="34" charset="0"/>
                <a:ea typeface="Arial" pitchFamily="34" charset="-122"/>
                <a:cs typeface="Arial" pitchFamily="34" charset="-120"/>
              </a:rPr>
              <a:t>Theia3D</a:t>
            </a:r>
            <a:endParaRPr lang="en-US" sz="1500" dirty="0"/>
          </a:p>
        </p:txBody>
      </p:sp>
      <p:sp>
        <p:nvSpPr>
          <p:cNvPr id="12" name="Text 10"/>
          <p:cNvSpPr txBox="1"/>
          <p:nvPr/>
        </p:nvSpPr>
        <p:spPr>
          <a:xfrm>
            <a:off x="731520" y="4983480"/>
            <a:ext cx="2560320"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Joint angles from the lab system</a:t>
            </a:r>
            <a:endParaRPr lang="en-US" sz="1200" dirty="0"/>
          </a:p>
        </p:txBody>
      </p:sp>
      <p:sp>
        <p:nvSpPr>
          <p:cNvPr id="13" name="Shape 11"/>
          <p:cNvSpPr/>
          <p:nvPr/>
        </p:nvSpPr>
        <p:spPr>
          <a:xfrm>
            <a:off x="4572000" y="1874520"/>
            <a:ext cx="2834640" cy="1280160"/>
          </a:xfrm>
          <a:prstGeom prst="roundRect">
            <a:avLst>
              <a:gd name="adj" fmla="val 5714"/>
            </a:avLst>
          </a:prstGeom>
          <a:solidFill>
            <a:srgbClr val="1A1F2B"/>
          </a:solidFill>
          <a:ln w="12700">
            <a:solidFill>
              <a:srgbClr val="1A1F2B"/>
            </a:solidFill>
            <a:prstDash val="solid"/>
          </a:ln>
        </p:spPr>
      </p:sp>
      <p:sp>
        <p:nvSpPr>
          <p:cNvPr id="14" name="Text 12"/>
          <p:cNvSpPr txBox="1"/>
          <p:nvPr/>
        </p:nvSpPr>
        <p:spPr>
          <a:xfrm>
            <a:off x="4754880" y="2011680"/>
            <a:ext cx="24688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Inverse dynamics A</a:t>
            </a:r>
            <a:endParaRPr lang="en-US" sz="1500" dirty="0"/>
          </a:p>
        </p:txBody>
      </p:sp>
      <p:sp>
        <p:nvSpPr>
          <p:cNvPr id="15" name="Text 13"/>
          <p:cNvSpPr txBox="1"/>
          <p:nvPr/>
        </p:nvSpPr>
        <p:spPr>
          <a:xfrm>
            <a:off x="4754880" y="2377440"/>
            <a:ext cx="2468880" cy="685800"/>
          </a:xfrm>
          <a:prstGeom prst="rect">
            <a:avLst/>
          </a:prstGeom>
          <a:noFill/>
          <a:ln/>
        </p:spPr>
        <p:txBody>
          <a:bodyPr wrap="square" lIns="0" tIns="0" rIns="0" bIns="0" rtlCol="0" anchor="t"/>
          <a:lstStyle/>
          <a:p>
            <a:pPr indent="0" marL="0">
              <a:buNone/>
            </a:pPr>
            <a:r>
              <a:rPr lang="en-US" sz="1200" dirty="0">
                <a:solidFill>
                  <a:srgbClr val="C9CFD9"/>
                </a:solidFill>
                <a:latin typeface="Calibri" pitchFamily="34" charset="0"/>
                <a:ea typeface="Calibri" pitchFamily="34" charset="-122"/>
                <a:cs typeface="Calibri" pitchFamily="34" charset="-120"/>
              </a:rPr>
              <a:t>OpenSim ID with OpenCap kinematics</a:t>
            </a:r>
            <a:endParaRPr lang="en-US" sz="1200" dirty="0"/>
          </a:p>
        </p:txBody>
      </p:sp>
      <p:sp>
        <p:nvSpPr>
          <p:cNvPr id="16" name="Shape 14"/>
          <p:cNvSpPr/>
          <p:nvPr/>
        </p:nvSpPr>
        <p:spPr>
          <a:xfrm>
            <a:off x="4572000" y="4023360"/>
            <a:ext cx="2834640" cy="1280160"/>
          </a:xfrm>
          <a:prstGeom prst="roundRect">
            <a:avLst>
              <a:gd name="adj" fmla="val 5714"/>
            </a:avLst>
          </a:prstGeom>
          <a:solidFill>
            <a:srgbClr val="1A1F2B"/>
          </a:solidFill>
          <a:ln w="12700">
            <a:solidFill>
              <a:srgbClr val="1A1F2B"/>
            </a:solidFill>
            <a:prstDash val="solid"/>
          </a:ln>
        </p:spPr>
      </p:sp>
      <p:sp>
        <p:nvSpPr>
          <p:cNvPr id="17" name="Text 15"/>
          <p:cNvSpPr txBox="1"/>
          <p:nvPr/>
        </p:nvSpPr>
        <p:spPr>
          <a:xfrm>
            <a:off x="4754880" y="4160520"/>
            <a:ext cx="24688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Inverse dynamics B</a:t>
            </a:r>
            <a:endParaRPr lang="en-US" sz="1500" dirty="0"/>
          </a:p>
        </p:txBody>
      </p:sp>
      <p:sp>
        <p:nvSpPr>
          <p:cNvPr id="18" name="Text 16"/>
          <p:cNvSpPr txBox="1"/>
          <p:nvPr/>
        </p:nvSpPr>
        <p:spPr>
          <a:xfrm>
            <a:off x="4754880" y="4526280"/>
            <a:ext cx="2468880" cy="685800"/>
          </a:xfrm>
          <a:prstGeom prst="rect">
            <a:avLst/>
          </a:prstGeom>
          <a:noFill/>
          <a:ln/>
        </p:spPr>
        <p:txBody>
          <a:bodyPr wrap="square" lIns="0" tIns="0" rIns="0" bIns="0" rtlCol="0" anchor="t"/>
          <a:lstStyle/>
          <a:p>
            <a:pPr indent="0" marL="0">
              <a:buNone/>
            </a:pPr>
            <a:r>
              <a:rPr lang="en-US" sz="1200" dirty="0">
                <a:solidFill>
                  <a:srgbClr val="C9CFD9"/>
                </a:solidFill>
                <a:latin typeface="Calibri" pitchFamily="34" charset="0"/>
                <a:ea typeface="Calibri" pitchFamily="34" charset="-122"/>
                <a:cs typeface="Calibri" pitchFamily="34" charset="-120"/>
              </a:rPr>
              <a:t>OpenSim ID with Theia3D kinematics</a:t>
            </a:r>
            <a:endParaRPr lang="en-US" sz="1200" dirty="0"/>
          </a:p>
        </p:txBody>
      </p:sp>
      <p:sp>
        <p:nvSpPr>
          <p:cNvPr id="19" name="Shape 17"/>
          <p:cNvSpPr/>
          <p:nvPr/>
        </p:nvSpPr>
        <p:spPr>
          <a:xfrm>
            <a:off x="3474720" y="2075688"/>
            <a:ext cx="1097280" cy="301752"/>
          </a:xfrm>
          <a:prstGeom prst="line">
            <a:avLst/>
          </a:prstGeom>
          <a:noFill/>
          <a:ln w="22225">
            <a:solidFill>
              <a:srgbClr val="BF5700"/>
            </a:solidFill>
            <a:prstDash val="solid"/>
            <a:tailEnd type="triangle"/>
          </a:ln>
        </p:spPr>
      </p:sp>
      <p:sp>
        <p:nvSpPr>
          <p:cNvPr id="20" name="Shape 18"/>
          <p:cNvSpPr/>
          <p:nvPr/>
        </p:nvSpPr>
        <p:spPr>
          <a:xfrm flipV="1">
            <a:off x="3474720" y="2651760"/>
            <a:ext cx="1097280" cy="822960"/>
          </a:xfrm>
          <a:prstGeom prst="line">
            <a:avLst/>
          </a:prstGeom>
          <a:noFill/>
          <a:ln w="22225">
            <a:solidFill>
              <a:srgbClr val="5B6472"/>
            </a:solidFill>
            <a:prstDash val="solid"/>
            <a:tailEnd type="triangle"/>
          </a:ln>
        </p:spPr>
      </p:sp>
      <p:sp>
        <p:nvSpPr>
          <p:cNvPr id="21" name="Shape 19"/>
          <p:cNvSpPr/>
          <p:nvPr/>
        </p:nvSpPr>
        <p:spPr>
          <a:xfrm>
            <a:off x="3474720" y="3657600"/>
            <a:ext cx="1097280" cy="777240"/>
          </a:xfrm>
          <a:prstGeom prst="line">
            <a:avLst/>
          </a:prstGeom>
          <a:noFill/>
          <a:ln w="22225">
            <a:solidFill>
              <a:srgbClr val="5B6472"/>
            </a:solidFill>
            <a:prstDash val="solid"/>
            <a:tailEnd type="triangle"/>
          </a:ln>
        </p:spPr>
      </p:sp>
      <p:sp>
        <p:nvSpPr>
          <p:cNvPr id="22" name="Shape 20"/>
          <p:cNvSpPr/>
          <p:nvPr/>
        </p:nvSpPr>
        <p:spPr>
          <a:xfrm flipV="1">
            <a:off x="3474720" y="4754880"/>
            <a:ext cx="1097280" cy="338328"/>
          </a:xfrm>
          <a:prstGeom prst="line">
            <a:avLst/>
          </a:prstGeom>
          <a:noFill/>
          <a:ln w="22225">
            <a:solidFill>
              <a:srgbClr val="3C6E91"/>
            </a:solidFill>
            <a:prstDash val="solid"/>
            <a:tailEnd type="triangle"/>
          </a:ln>
        </p:spPr>
      </p:sp>
      <p:sp>
        <p:nvSpPr>
          <p:cNvPr id="23" name="Shape 21"/>
          <p:cNvSpPr/>
          <p:nvPr/>
        </p:nvSpPr>
        <p:spPr>
          <a:xfrm>
            <a:off x="8503920" y="2743200"/>
            <a:ext cx="3154680" cy="1691640"/>
          </a:xfrm>
          <a:prstGeom prst="roundRect">
            <a:avLst>
              <a:gd name="adj" fmla="val 4324"/>
            </a:avLst>
          </a:prstGeom>
          <a:solidFill>
            <a:srgbClr val="F1F3F6"/>
          </a:solidFill>
          <a:ln w="12700">
            <a:solidFill>
              <a:srgbClr val="F1F3F6"/>
            </a:solidFill>
            <a:prstDash val="solid"/>
          </a:ln>
        </p:spPr>
      </p:sp>
      <p:sp>
        <p:nvSpPr>
          <p:cNvPr id="24" name="Text 22"/>
          <p:cNvSpPr txBox="1"/>
          <p:nvPr/>
        </p:nvSpPr>
        <p:spPr>
          <a:xfrm>
            <a:off x="8686800" y="2880360"/>
            <a:ext cx="2788920" cy="36576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Compare joint moments</a:t>
            </a:r>
            <a:endParaRPr lang="en-US" sz="1500" dirty="0"/>
          </a:p>
        </p:txBody>
      </p:sp>
      <p:sp>
        <p:nvSpPr>
          <p:cNvPr id="25" name="Text 23"/>
          <p:cNvSpPr txBox="1"/>
          <p:nvPr/>
        </p:nvSpPr>
        <p:spPr>
          <a:xfrm>
            <a:off x="8686800" y="3246120"/>
            <a:ext cx="2788920" cy="10972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Hip, knee, ankle moments (% body weight × height), scored with the Aim 1 metrics</a:t>
            </a:r>
            <a:endParaRPr lang="en-US" sz="1200" dirty="0"/>
          </a:p>
        </p:txBody>
      </p:sp>
      <p:sp>
        <p:nvSpPr>
          <p:cNvPr id="26" name="Shape 24"/>
          <p:cNvSpPr/>
          <p:nvPr/>
        </p:nvSpPr>
        <p:spPr>
          <a:xfrm>
            <a:off x="7406640" y="2514600"/>
            <a:ext cx="1097280" cy="777240"/>
          </a:xfrm>
          <a:prstGeom prst="line">
            <a:avLst/>
          </a:prstGeom>
          <a:noFill/>
          <a:ln w="22225">
            <a:solidFill>
              <a:srgbClr val="5B6472"/>
            </a:solidFill>
            <a:prstDash val="solid"/>
            <a:tailEnd type="triangle"/>
          </a:ln>
        </p:spPr>
      </p:sp>
      <p:sp>
        <p:nvSpPr>
          <p:cNvPr id="27" name="Shape 25"/>
          <p:cNvSpPr/>
          <p:nvPr/>
        </p:nvSpPr>
        <p:spPr>
          <a:xfrm flipV="1">
            <a:off x="7406640" y="3931920"/>
            <a:ext cx="1097280" cy="731520"/>
          </a:xfrm>
          <a:prstGeom prst="line">
            <a:avLst/>
          </a:prstGeom>
          <a:noFill/>
          <a:ln w="22225">
            <a:solidFill>
              <a:srgbClr val="5B6472"/>
            </a:solidFill>
            <a:prstDash val="solid"/>
            <a:tailEnd type="triangle"/>
          </a:ln>
        </p:spPr>
      </p:sp>
      <p:sp>
        <p:nvSpPr>
          <p:cNvPr id="28" name="Text 26"/>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400" b="1" dirty="0">
                <a:solidFill>
                  <a:srgbClr val="BF5700"/>
                </a:solidFill>
                <a:latin typeface="Calibri" pitchFamily="34" charset="0"/>
                <a:ea typeface="Calibri" pitchFamily="34" charset="-122"/>
                <a:cs typeface="Calibri" pitchFamily="34" charset="-120"/>
              </a:rPr>
              <a:t>Why this design: </a:t>
            </a:r>
            <a:pPr indent="0" marL="0">
              <a:buNone/>
            </a:pPr>
            <a:r>
              <a:rPr lang="en-US" sz="1400" dirty="0">
                <a:solidFill>
                  <a:srgbClr val="1A1F2B"/>
                </a:solidFill>
                <a:latin typeface="Calibri" pitchFamily="34" charset="0"/>
                <a:ea typeface="Calibri" pitchFamily="34" charset="-122"/>
                <a:cs typeface="Calibri" pitchFamily="34" charset="-120"/>
              </a:rPr>
              <a:t>both pipelines get identical force data, so any difference in joint moments comes from the kinematics alone.</a:t>
            </a:r>
            <a:endParaRPr lang="en-US" sz="1400" dirty="0"/>
          </a:p>
        </p:txBody>
      </p:sp>
      <p:sp>
        <p:nvSpPr>
          <p:cNvPr id="29" name="Text 27"/>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PLAN · AIM 3</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Three environments, increasing difficulty</a:t>
            </a:r>
            <a:endParaRPr lang="en-US" sz="3200" dirty="0"/>
          </a:p>
        </p:txBody>
      </p:sp>
      <p:sp>
        <p:nvSpPr>
          <p:cNvPr id="4" name="Shape 2"/>
          <p:cNvSpPr/>
          <p:nvPr/>
        </p:nvSpPr>
        <p:spPr>
          <a:xfrm>
            <a:off x="548640" y="1417320"/>
            <a:ext cx="3520440" cy="2834640"/>
          </a:xfrm>
          <a:prstGeom prst="roundRect">
            <a:avLst>
              <a:gd name="adj" fmla="val 2581"/>
            </a:avLst>
          </a:prstGeom>
          <a:solidFill>
            <a:srgbClr val="F1F3F6"/>
          </a:solidFill>
          <a:ln w="12700">
            <a:solidFill>
              <a:srgbClr val="F1F3F6"/>
            </a:solidFill>
            <a:prstDash val="solid"/>
          </a:ln>
        </p:spPr>
      </p:sp>
      <p:sp>
        <p:nvSpPr>
          <p:cNvPr id="5" name="Shape 3"/>
          <p:cNvSpPr/>
          <p:nvPr/>
        </p:nvSpPr>
        <p:spPr>
          <a:xfrm>
            <a:off x="822960" y="1645920"/>
            <a:ext cx="640080" cy="640080"/>
          </a:xfrm>
          <a:prstGeom prst="ellipse">
            <a:avLst/>
          </a:prstGeom>
          <a:solidFill>
            <a:srgbClr val="1A1F2B"/>
          </a:solidFill>
          <a:ln w="12700">
            <a:solidFill>
              <a:srgbClr val="1A1F2B"/>
            </a:solidFill>
            <a:prstDash val="solid"/>
          </a:ln>
        </p:spPr>
      </p:sp>
      <p:pic>
        <p:nvPicPr>
          <p:cNvPr id="6"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7" name="Text 4"/>
          <p:cNvSpPr txBox="1"/>
          <p:nvPr/>
        </p:nvSpPr>
        <p:spPr>
          <a:xfrm>
            <a:off x="1645920" y="1664208"/>
            <a:ext cx="2286000" cy="365760"/>
          </a:xfrm>
          <a:prstGeom prst="rect">
            <a:avLst/>
          </a:prstGeom>
          <a:noFill/>
          <a:ln/>
        </p:spPr>
        <p:txBody>
          <a:bodyPr wrap="square" lIns="0" tIns="0" rIns="0" bIns="0" rtlCol="0" anchor="t"/>
          <a:lstStyle/>
          <a:p>
            <a:pPr indent="0" marL="0">
              <a:buNone/>
            </a:pPr>
            <a:r>
              <a:rPr lang="en-US" sz="2000" b="1" dirty="0">
                <a:solidFill>
                  <a:srgbClr val="1A1F2B"/>
                </a:solidFill>
                <a:latin typeface="Arial" pitchFamily="34" charset="0"/>
                <a:ea typeface="Arial" pitchFamily="34" charset="-122"/>
                <a:cs typeface="Arial" pitchFamily="34" charset="-120"/>
              </a:rPr>
              <a:t>Treadmill</a:t>
            </a:r>
            <a:endParaRPr lang="en-US" sz="2000" dirty="0"/>
          </a:p>
        </p:txBody>
      </p:sp>
      <p:sp>
        <p:nvSpPr>
          <p:cNvPr id="8" name="Text 5"/>
          <p:cNvSpPr txBox="1"/>
          <p:nvPr/>
        </p:nvSpPr>
        <p:spPr>
          <a:xfrm>
            <a:off x="1645920" y="2029968"/>
            <a:ext cx="228600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Lab</a:t>
            </a:r>
            <a:endParaRPr lang="en-US" sz="1200" dirty="0"/>
          </a:p>
        </p:txBody>
      </p:sp>
      <p:sp>
        <p:nvSpPr>
          <p:cNvPr id="9" name="Text 6"/>
          <p:cNvSpPr txBox="1"/>
          <p:nvPr/>
        </p:nvSpPr>
        <p:spPr>
          <a:xfrm>
            <a:off x="822960" y="2560320"/>
            <a:ext cx="3017520" cy="1097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A1F2B"/>
                </a:solidFill>
                <a:latin typeface="Calibri" pitchFamily="34" charset="0"/>
                <a:ea typeface="Calibri" pitchFamily="34" charset="-122"/>
                <a:cs typeface="Calibri" pitchFamily="34" charset="-120"/>
              </a:rPr>
              <a:t>Walking speeds + jogging</a:t>
            </a:r>
            <a:endParaRPr lang="en-US" sz="1400" dirty="0"/>
          </a:p>
          <a:p>
            <a:pPr marL="203200" indent="-203200">
              <a:spcAft>
                <a:spcPts val="600"/>
              </a:spcAft>
              <a:buSzPct val="100000"/>
              <a:buChar char="•"/>
            </a:pPr>
            <a:r>
              <a:rPr lang="en-US" sz="1400" dirty="0">
                <a:solidFill>
                  <a:srgbClr val="1A1F2B"/>
                </a:solidFill>
                <a:latin typeface="Calibri" pitchFamily="34" charset="0"/>
                <a:ea typeface="Calibri" pitchFamily="34" charset="-122"/>
                <a:cs typeface="Calibri" pitchFamily="34" charset="-120"/>
              </a:rPr>
              <a:t>Reference: Theia3D + Bertec</a:t>
            </a:r>
            <a:endParaRPr lang="en-US" sz="1400" dirty="0"/>
          </a:p>
        </p:txBody>
      </p:sp>
      <p:sp>
        <p:nvSpPr>
          <p:cNvPr id="10" name="Shape 7"/>
          <p:cNvSpPr/>
          <p:nvPr/>
        </p:nvSpPr>
        <p:spPr>
          <a:xfrm>
            <a:off x="822960" y="3611880"/>
            <a:ext cx="1078992" cy="365760"/>
          </a:xfrm>
          <a:prstGeom prst="roundRect">
            <a:avLst>
              <a:gd name="adj" fmla="val 50000"/>
            </a:avLst>
          </a:prstGeom>
          <a:solidFill>
            <a:srgbClr val="FFFFFF"/>
          </a:solidFill>
          <a:ln w="12700">
            <a:solidFill>
              <a:srgbClr val="BF5700"/>
            </a:solidFill>
            <a:prstDash val="solid"/>
          </a:ln>
        </p:spPr>
      </p:sp>
      <p:sp>
        <p:nvSpPr>
          <p:cNvPr id="11" name="Text 8"/>
          <p:cNvSpPr txBox="1"/>
          <p:nvPr/>
        </p:nvSpPr>
        <p:spPr>
          <a:xfrm>
            <a:off x="822960" y="3611880"/>
            <a:ext cx="1078992" cy="365760"/>
          </a:xfrm>
          <a:prstGeom prst="rect">
            <a:avLst/>
          </a:prstGeom>
          <a:noFill/>
          <a:ln/>
        </p:spPr>
        <p:txBody>
          <a:bodyPr wrap="square" lIns="0" tIns="0" rIns="0" bIns="0" rtlCol="0" anchor="ctr"/>
          <a:lstStyle/>
          <a:p>
            <a:pPr algn="ctr" indent="0" marL="0">
              <a:buNone/>
            </a:pPr>
            <a:r>
              <a:rPr lang="en-US" sz="1200" b="1" dirty="0">
                <a:solidFill>
                  <a:srgbClr val="BF5700"/>
                </a:solidFill>
                <a:latin typeface="Calibri" pitchFamily="34" charset="0"/>
                <a:ea typeface="Calibri" pitchFamily="34" charset="-122"/>
                <a:cs typeface="Calibri" pitchFamily="34" charset="-120"/>
              </a:rPr>
              <a:t>Angles</a:t>
            </a:r>
            <a:endParaRPr lang="en-US" sz="1200" dirty="0"/>
          </a:p>
        </p:txBody>
      </p:sp>
      <p:sp>
        <p:nvSpPr>
          <p:cNvPr id="12" name="Shape 9"/>
          <p:cNvSpPr/>
          <p:nvPr/>
        </p:nvSpPr>
        <p:spPr>
          <a:xfrm>
            <a:off x="2011680" y="3611880"/>
            <a:ext cx="1078992" cy="365760"/>
          </a:xfrm>
          <a:prstGeom prst="roundRect">
            <a:avLst>
              <a:gd name="adj" fmla="val 50000"/>
            </a:avLst>
          </a:prstGeom>
          <a:solidFill>
            <a:srgbClr val="FFFFFF"/>
          </a:solidFill>
          <a:ln w="12700">
            <a:solidFill>
              <a:srgbClr val="BF5700"/>
            </a:solidFill>
            <a:prstDash val="solid"/>
          </a:ln>
        </p:spPr>
      </p:sp>
      <p:sp>
        <p:nvSpPr>
          <p:cNvPr id="13" name="Text 10"/>
          <p:cNvSpPr txBox="1"/>
          <p:nvPr/>
        </p:nvSpPr>
        <p:spPr>
          <a:xfrm>
            <a:off x="2011680" y="3611880"/>
            <a:ext cx="1078992" cy="365760"/>
          </a:xfrm>
          <a:prstGeom prst="rect">
            <a:avLst/>
          </a:prstGeom>
          <a:noFill/>
          <a:ln/>
        </p:spPr>
        <p:txBody>
          <a:bodyPr wrap="square" lIns="0" tIns="0" rIns="0" bIns="0" rtlCol="0" anchor="ctr"/>
          <a:lstStyle/>
          <a:p>
            <a:pPr algn="ctr" indent="0" marL="0">
              <a:buNone/>
            </a:pPr>
            <a:r>
              <a:rPr lang="en-US" sz="1200" b="1" dirty="0">
                <a:solidFill>
                  <a:srgbClr val="BF5700"/>
                </a:solidFill>
                <a:latin typeface="Calibri" pitchFamily="34" charset="0"/>
                <a:ea typeface="Calibri" pitchFamily="34" charset="-122"/>
                <a:cs typeface="Calibri" pitchFamily="34" charset="-120"/>
              </a:rPr>
              <a:t>Moments</a:t>
            </a:r>
            <a:endParaRPr lang="en-US" sz="1200" dirty="0"/>
          </a:p>
        </p:txBody>
      </p:sp>
      <p:sp>
        <p:nvSpPr>
          <p:cNvPr id="14" name="Shape 11"/>
          <p:cNvSpPr/>
          <p:nvPr/>
        </p:nvSpPr>
        <p:spPr>
          <a:xfrm>
            <a:off x="4297680" y="1417320"/>
            <a:ext cx="3520440" cy="2834640"/>
          </a:xfrm>
          <a:prstGeom prst="roundRect">
            <a:avLst>
              <a:gd name="adj" fmla="val 2581"/>
            </a:avLst>
          </a:prstGeom>
          <a:solidFill>
            <a:srgbClr val="F1F3F6"/>
          </a:solidFill>
          <a:ln w="12700">
            <a:solidFill>
              <a:srgbClr val="F1F3F6"/>
            </a:solidFill>
            <a:prstDash val="solid"/>
          </a:ln>
        </p:spPr>
      </p:sp>
      <p:sp>
        <p:nvSpPr>
          <p:cNvPr id="15" name="Shape 12"/>
          <p:cNvSpPr/>
          <p:nvPr/>
        </p:nvSpPr>
        <p:spPr>
          <a:xfrm>
            <a:off x="4572000" y="1645920"/>
            <a:ext cx="640080" cy="640080"/>
          </a:xfrm>
          <a:prstGeom prst="ellipse">
            <a:avLst/>
          </a:prstGeom>
          <a:solidFill>
            <a:srgbClr val="1A1F2B"/>
          </a:solidFill>
          <a:ln w="12700">
            <a:solidFill>
              <a:srgbClr val="1A1F2B"/>
            </a:solidFill>
            <a:prstDash val="solid"/>
          </a:ln>
        </p:spPr>
      </p:sp>
      <p:pic>
        <p:nvPicPr>
          <p:cNvPr id="16" name="Image 1" descr="preencoded.png">    </p:cNvPr>
          <p:cNvPicPr>
            <a:picLocks noChangeAspect="1"/>
          </p:cNvPicPr>
          <p:nvPr/>
        </p:nvPicPr>
        <p:blipFill>
          <a:blip r:embed="rId2"/>
          <a:stretch>
            <a:fillRect/>
          </a:stretch>
        </p:blipFill>
        <p:spPr>
          <a:xfrm>
            <a:off x="4732020" y="1805940"/>
            <a:ext cx="320040" cy="320040"/>
          </a:xfrm>
          <a:prstGeom prst="rect">
            <a:avLst/>
          </a:prstGeom>
        </p:spPr>
      </p:pic>
      <p:sp>
        <p:nvSpPr>
          <p:cNvPr id="17" name="Text 13"/>
          <p:cNvSpPr txBox="1"/>
          <p:nvPr/>
        </p:nvSpPr>
        <p:spPr>
          <a:xfrm>
            <a:off x="5394960" y="1664208"/>
            <a:ext cx="2286000" cy="365760"/>
          </a:xfrm>
          <a:prstGeom prst="rect">
            <a:avLst/>
          </a:prstGeom>
          <a:noFill/>
          <a:ln/>
        </p:spPr>
        <p:txBody>
          <a:bodyPr wrap="square" lIns="0" tIns="0" rIns="0" bIns="0" rtlCol="0" anchor="t"/>
          <a:lstStyle/>
          <a:p>
            <a:pPr indent="0" marL="0">
              <a:buNone/>
            </a:pPr>
            <a:r>
              <a:rPr lang="en-US" sz="2000" b="1" dirty="0">
                <a:solidFill>
                  <a:srgbClr val="1A1F2B"/>
                </a:solidFill>
                <a:latin typeface="Arial" pitchFamily="34" charset="0"/>
                <a:ea typeface="Arial" pitchFamily="34" charset="-122"/>
                <a:cs typeface="Arial" pitchFamily="34" charset="-120"/>
              </a:rPr>
              <a:t>Terrain park</a:t>
            </a:r>
            <a:endParaRPr lang="en-US" sz="2000" dirty="0"/>
          </a:p>
        </p:txBody>
      </p:sp>
      <p:sp>
        <p:nvSpPr>
          <p:cNvPr id="18" name="Text 14"/>
          <p:cNvSpPr txBox="1"/>
          <p:nvPr/>
        </p:nvSpPr>
        <p:spPr>
          <a:xfrm>
            <a:off x="5394960" y="2029968"/>
            <a:ext cx="228600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Lab</a:t>
            </a:r>
            <a:endParaRPr lang="en-US" sz="1200" dirty="0"/>
          </a:p>
        </p:txBody>
      </p:sp>
      <p:sp>
        <p:nvSpPr>
          <p:cNvPr id="19" name="Text 15"/>
          <p:cNvSpPr txBox="1"/>
          <p:nvPr/>
        </p:nvSpPr>
        <p:spPr>
          <a:xfrm>
            <a:off x="4572000" y="2560320"/>
            <a:ext cx="3017520" cy="1097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A1F2B"/>
                </a:solidFill>
                <a:latin typeface="Calibri" pitchFamily="34" charset="0"/>
                <a:ea typeface="Calibri" pitchFamily="34" charset="-122"/>
                <a:cs typeface="Calibri" pitchFamily="34" charset="-120"/>
              </a:rPr>
              <a:t>Ramps and stairs</a:t>
            </a:r>
            <a:endParaRPr lang="en-US" sz="1400" dirty="0"/>
          </a:p>
          <a:p>
            <a:pPr marL="203200" indent="-203200">
              <a:spcAft>
                <a:spcPts val="600"/>
              </a:spcAft>
              <a:buSzPct val="100000"/>
              <a:buChar char="•"/>
            </a:pPr>
            <a:r>
              <a:rPr lang="en-US" sz="1400" dirty="0">
                <a:solidFill>
                  <a:srgbClr val="1A1F2B"/>
                </a:solidFill>
                <a:latin typeface="Calibri" pitchFamily="34" charset="0"/>
                <a:ea typeface="Calibri" pitchFamily="34" charset="-122"/>
                <a:cs typeface="Calibri" pitchFamily="34" charset="-120"/>
              </a:rPr>
              <a:t>Reference: Theia3D where cameras reach</a:t>
            </a:r>
            <a:endParaRPr lang="en-US" sz="1400" dirty="0"/>
          </a:p>
        </p:txBody>
      </p:sp>
      <p:sp>
        <p:nvSpPr>
          <p:cNvPr id="20" name="Shape 16"/>
          <p:cNvSpPr/>
          <p:nvPr/>
        </p:nvSpPr>
        <p:spPr>
          <a:xfrm>
            <a:off x="4572000" y="3611880"/>
            <a:ext cx="1078992" cy="365760"/>
          </a:xfrm>
          <a:prstGeom prst="roundRect">
            <a:avLst>
              <a:gd name="adj" fmla="val 50000"/>
            </a:avLst>
          </a:prstGeom>
          <a:solidFill>
            <a:srgbClr val="FFFFFF"/>
          </a:solidFill>
          <a:ln w="12700">
            <a:solidFill>
              <a:srgbClr val="BF5700"/>
            </a:solidFill>
            <a:prstDash val="solid"/>
          </a:ln>
        </p:spPr>
      </p:sp>
      <p:sp>
        <p:nvSpPr>
          <p:cNvPr id="21" name="Text 17"/>
          <p:cNvSpPr txBox="1"/>
          <p:nvPr/>
        </p:nvSpPr>
        <p:spPr>
          <a:xfrm>
            <a:off x="4572000" y="3611880"/>
            <a:ext cx="1078992" cy="365760"/>
          </a:xfrm>
          <a:prstGeom prst="rect">
            <a:avLst/>
          </a:prstGeom>
          <a:noFill/>
          <a:ln/>
        </p:spPr>
        <p:txBody>
          <a:bodyPr wrap="square" lIns="0" tIns="0" rIns="0" bIns="0" rtlCol="0" anchor="ctr"/>
          <a:lstStyle/>
          <a:p>
            <a:pPr algn="ctr" indent="0" marL="0">
              <a:buNone/>
            </a:pPr>
            <a:r>
              <a:rPr lang="en-US" sz="1200" b="1" dirty="0">
                <a:solidFill>
                  <a:srgbClr val="BF5700"/>
                </a:solidFill>
                <a:latin typeface="Calibri" pitchFamily="34" charset="0"/>
                <a:ea typeface="Calibri" pitchFamily="34" charset="-122"/>
                <a:cs typeface="Calibri" pitchFamily="34" charset="-120"/>
              </a:rPr>
              <a:t>Angles</a:t>
            </a:r>
            <a:endParaRPr lang="en-US" sz="1200" dirty="0"/>
          </a:p>
        </p:txBody>
      </p:sp>
      <p:sp>
        <p:nvSpPr>
          <p:cNvPr id="22" name="Shape 18"/>
          <p:cNvSpPr/>
          <p:nvPr/>
        </p:nvSpPr>
        <p:spPr>
          <a:xfrm>
            <a:off x="8046720" y="1417320"/>
            <a:ext cx="3520440" cy="2834640"/>
          </a:xfrm>
          <a:prstGeom prst="roundRect">
            <a:avLst>
              <a:gd name="adj" fmla="val 2581"/>
            </a:avLst>
          </a:prstGeom>
          <a:solidFill>
            <a:srgbClr val="F6E3D6"/>
          </a:solidFill>
          <a:ln w="12700">
            <a:solidFill>
              <a:srgbClr val="F6E3D6"/>
            </a:solidFill>
            <a:prstDash val="solid"/>
          </a:ln>
        </p:spPr>
      </p:sp>
      <p:sp>
        <p:nvSpPr>
          <p:cNvPr id="23" name="Shape 19"/>
          <p:cNvSpPr/>
          <p:nvPr/>
        </p:nvSpPr>
        <p:spPr>
          <a:xfrm>
            <a:off x="8321040" y="1645920"/>
            <a:ext cx="640080" cy="640080"/>
          </a:xfrm>
          <a:prstGeom prst="ellipse">
            <a:avLst/>
          </a:prstGeom>
          <a:solidFill>
            <a:srgbClr val="BF5700"/>
          </a:solidFill>
          <a:ln w="12700">
            <a:solidFill>
              <a:srgbClr val="BF5700"/>
            </a:solidFill>
            <a:prstDash val="solid"/>
          </a:ln>
        </p:spPr>
      </p:sp>
      <p:pic>
        <p:nvPicPr>
          <p:cNvPr id="24" name="Image 2" descr="preencoded.png">    </p:cNvPr>
          <p:cNvPicPr>
            <a:picLocks noChangeAspect="1"/>
          </p:cNvPicPr>
          <p:nvPr/>
        </p:nvPicPr>
        <p:blipFill>
          <a:blip r:embed="rId3"/>
          <a:stretch>
            <a:fillRect/>
          </a:stretch>
        </p:blipFill>
        <p:spPr>
          <a:xfrm>
            <a:off x="8481060" y="1805940"/>
            <a:ext cx="320040" cy="320040"/>
          </a:xfrm>
          <a:prstGeom prst="rect">
            <a:avLst/>
          </a:prstGeom>
        </p:spPr>
      </p:pic>
      <p:sp>
        <p:nvSpPr>
          <p:cNvPr id="25" name="Text 20"/>
          <p:cNvSpPr txBox="1"/>
          <p:nvPr/>
        </p:nvSpPr>
        <p:spPr>
          <a:xfrm>
            <a:off x="9144000" y="1664208"/>
            <a:ext cx="2286000" cy="365760"/>
          </a:xfrm>
          <a:prstGeom prst="rect">
            <a:avLst/>
          </a:prstGeom>
          <a:noFill/>
          <a:ln/>
        </p:spPr>
        <p:txBody>
          <a:bodyPr wrap="square" lIns="0" tIns="0" rIns="0" bIns="0" rtlCol="0" anchor="t"/>
          <a:lstStyle/>
          <a:p>
            <a:pPr indent="0" marL="0">
              <a:buNone/>
            </a:pPr>
            <a:r>
              <a:rPr lang="en-US" sz="2000" b="1" dirty="0">
                <a:solidFill>
                  <a:srgbClr val="1A1F2B"/>
                </a:solidFill>
                <a:latin typeface="Arial" pitchFamily="34" charset="0"/>
                <a:ea typeface="Arial" pitchFamily="34" charset="-122"/>
                <a:cs typeface="Arial" pitchFamily="34" charset="-120"/>
              </a:rPr>
              <a:t>Outdoors</a:t>
            </a:r>
            <a:endParaRPr lang="en-US" sz="2000" dirty="0"/>
          </a:p>
        </p:txBody>
      </p:sp>
      <p:sp>
        <p:nvSpPr>
          <p:cNvPr id="26" name="Text 21"/>
          <p:cNvSpPr txBox="1"/>
          <p:nvPr/>
        </p:nvSpPr>
        <p:spPr>
          <a:xfrm>
            <a:off x="9144000" y="2029968"/>
            <a:ext cx="228600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Campus</a:t>
            </a:r>
            <a:endParaRPr lang="en-US" sz="1200" dirty="0"/>
          </a:p>
        </p:txBody>
      </p:sp>
      <p:sp>
        <p:nvSpPr>
          <p:cNvPr id="27" name="Text 22"/>
          <p:cNvSpPr txBox="1"/>
          <p:nvPr/>
        </p:nvSpPr>
        <p:spPr>
          <a:xfrm>
            <a:off x="8321040" y="2560320"/>
            <a:ext cx="3017520" cy="1097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A1F2B"/>
                </a:solidFill>
                <a:latin typeface="Calibri" pitchFamily="34" charset="0"/>
                <a:ea typeface="Calibri" pitchFamily="34" charset="-122"/>
                <a:cs typeface="Calibri" pitchFamily="34" charset="-120"/>
              </a:rPr>
              <a:t>Sidewalk and slope walking</a:t>
            </a:r>
            <a:endParaRPr lang="en-US" sz="1400" dirty="0"/>
          </a:p>
          <a:p>
            <a:pPr marL="203200" indent="-203200">
              <a:spcAft>
                <a:spcPts val="600"/>
              </a:spcAft>
              <a:buSzPct val="100000"/>
              <a:buChar char="•"/>
            </a:pPr>
            <a:r>
              <a:rPr lang="en-US" sz="1400" dirty="0">
                <a:solidFill>
                  <a:srgbClr val="1A1F2B"/>
                </a:solidFill>
                <a:latin typeface="Calibri" pitchFamily="34" charset="0"/>
                <a:ea typeface="Calibri" pitchFamily="34" charset="-122"/>
                <a:cs typeface="Calibri" pitchFamily="34" charset="-120"/>
              </a:rPr>
              <a:t>No reference: OpenCap only</a:t>
            </a:r>
            <a:endParaRPr lang="en-US" sz="1400" dirty="0"/>
          </a:p>
        </p:txBody>
      </p:sp>
      <p:sp>
        <p:nvSpPr>
          <p:cNvPr id="28" name="Shape 23"/>
          <p:cNvSpPr/>
          <p:nvPr/>
        </p:nvSpPr>
        <p:spPr>
          <a:xfrm>
            <a:off x="8321040" y="3611880"/>
            <a:ext cx="1078992" cy="365760"/>
          </a:xfrm>
          <a:prstGeom prst="roundRect">
            <a:avLst>
              <a:gd name="adj" fmla="val 50000"/>
            </a:avLst>
          </a:prstGeom>
          <a:solidFill>
            <a:srgbClr val="FFFFFF"/>
          </a:solidFill>
          <a:ln w="12700">
            <a:solidFill>
              <a:srgbClr val="BF5700"/>
            </a:solidFill>
            <a:prstDash val="solid"/>
          </a:ln>
        </p:spPr>
      </p:sp>
      <p:sp>
        <p:nvSpPr>
          <p:cNvPr id="29" name="Text 24"/>
          <p:cNvSpPr txBox="1"/>
          <p:nvPr/>
        </p:nvSpPr>
        <p:spPr>
          <a:xfrm>
            <a:off x="8321040" y="3611880"/>
            <a:ext cx="1078992" cy="365760"/>
          </a:xfrm>
          <a:prstGeom prst="rect">
            <a:avLst/>
          </a:prstGeom>
          <a:noFill/>
          <a:ln/>
        </p:spPr>
        <p:txBody>
          <a:bodyPr wrap="square" lIns="0" tIns="0" rIns="0" bIns="0" rtlCol="0" anchor="ctr"/>
          <a:lstStyle/>
          <a:p>
            <a:pPr algn="ctr" indent="0" marL="0">
              <a:buNone/>
            </a:pPr>
            <a:r>
              <a:rPr lang="en-US" sz="1200" b="1" dirty="0">
                <a:solidFill>
                  <a:srgbClr val="BF5700"/>
                </a:solidFill>
                <a:latin typeface="Calibri" pitchFamily="34" charset="0"/>
                <a:ea typeface="Calibri" pitchFamily="34" charset="-122"/>
                <a:cs typeface="Calibri" pitchFamily="34" charset="-120"/>
              </a:rPr>
              <a:t>Angles</a:t>
            </a:r>
            <a:endParaRPr lang="en-US" sz="1200" dirty="0"/>
          </a:p>
        </p:txBody>
      </p:sp>
      <p:sp>
        <p:nvSpPr>
          <p:cNvPr id="30" name="Shape 25"/>
          <p:cNvSpPr/>
          <p:nvPr/>
        </p:nvSpPr>
        <p:spPr>
          <a:xfrm>
            <a:off x="9509760" y="3611880"/>
            <a:ext cx="1078992" cy="365760"/>
          </a:xfrm>
          <a:prstGeom prst="roundRect">
            <a:avLst>
              <a:gd name="adj" fmla="val 50000"/>
            </a:avLst>
          </a:prstGeom>
          <a:solidFill>
            <a:srgbClr val="FFFFFF"/>
          </a:solidFill>
          <a:ln w="12700">
            <a:solidFill>
              <a:srgbClr val="BF5700"/>
            </a:solidFill>
            <a:prstDash val="solid"/>
          </a:ln>
        </p:spPr>
      </p:sp>
      <p:sp>
        <p:nvSpPr>
          <p:cNvPr id="31" name="Text 26"/>
          <p:cNvSpPr txBox="1"/>
          <p:nvPr/>
        </p:nvSpPr>
        <p:spPr>
          <a:xfrm>
            <a:off x="9509760" y="3611880"/>
            <a:ext cx="1078992" cy="365760"/>
          </a:xfrm>
          <a:prstGeom prst="rect">
            <a:avLst/>
          </a:prstGeom>
          <a:noFill/>
          <a:ln/>
        </p:spPr>
        <p:txBody>
          <a:bodyPr wrap="square" lIns="0" tIns="0" rIns="0" bIns="0" rtlCol="0" anchor="ctr"/>
          <a:lstStyle/>
          <a:p>
            <a:pPr algn="ctr" indent="0" marL="0">
              <a:buNone/>
            </a:pPr>
            <a:r>
              <a:rPr lang="en-US" sz="1200" b="1" dirty="0">
                <a:solidFill>
                  <a:srgbClr val="BF5700"/>
                </a:solidFill>
                <a:latin typeface="Calibri" pitchFamily="34" charset="0"/>
                <a:ea typeface="Calibri" pitchFamily="34" charset="-122"/>
                <a:cs typeface="Calibri" pitchFamily="34" charset="-120"/>
              </a:rPr>
              <a:t>Setup data</a:t>
            </a:r>
            <a:endParaRPr lang="en-US" sz="1200" dirty="0"/>
          </a:p>
        </p:txBody>
      </p:sp>
      <p:sp>
        <p:nvSpPr>
          <p:cNvPr id="32" name="Shape 27"/>
          <p:cNvSpPr/>
          <p:nvPr/>
        </p:nvSpPr>
        <p:spPr>
          <a:xfrm>
            <a:off x="548640" y="4572000"/>
            <a:ext cx="11064240" cy="0"/>
          </a:xfrm>
          <a:prstGeom prst="line">
            <a:avLst/>
          </a:prstGeom>
          <a:noFill/>
          <a:ln w="25400">
            <a:solidFill>
              <a:srgbClr val="D5DAE1"/>
            </a:solidFill>
            <a:prstDash val="solid"/>
            <a:tailEnd type="triangle"/>
          </a:ln>
        </p:spPr>
      </p:sp>
      <p:sp>
        <p:nvSpPr>
          <p:cNvPr id="33" name="Text 28"/>
          <p:cNvSpPr txBox="1"/>
          <p:nvPr/>
        </p:nvSpPr>
        <p:spPr>
          <a:xfrm>
            <a:off x="8412480" y="4636008"/>
            <a:ext cx="3200400" cy="274320"/>
          </a:xfrm>
          <a:prstGeom prst="rect">
            <a:avLst/>
          </a:prstGeom>
          <a:noFill/>
          <a:ln/>
        </p:spPr>
        <p:txBody>
          <a:bodyPr wrap="square" lIns="0" tIns="0" rIns="0" bIns="0" rtlCol="0" anchor="t"/>
          <a:lstStyle/>
          <a:p>
            <a:pPr algn="r" indent="0" marL="0">
              <a:buNone/>
            </a:pPr>
            <a:r>
              <a:rPr lang="en-US" sz="1100" i="1" dirty="0">
                <a:solidFill>
                  <a:srgbClr val="5B6472"/>
                </a:solidFill>
                <a:latin typeface="Calibri" pitchFamily="34" charset="0"/>
                <a:ea typeface="Calibri" pitchFamily="34" charset="-122"/>
                <a:cs typeface="Calibri" pitchFamily="34" charset="-120"/>
              </a:rPr>
              <a:t>less control, more real-world</a:t>
            </a:r>
            <a:endParaRPr lang="en-US" sz="1100" dirty="0"/>
          </a:p>
        </p:txBody>
      </p:sp>
      <p:sp>
        <p:nvSpPr>
          <p:cNvPr id="34" name="Text 29"/>
          <p:cNvSpPr txBox="1"/>
          <p:nvPr/>
        </p:nvSpPr>
        <p:spPr>
          <a:xfrm>
            <a:off x="548640" y="5074920"/>
            <a:ext cx="3657600" cy="320040"/>
          </a:xfrm>
          <a:prstGeom prst="rect">
            <a:avLst/>
          </a:prstGeom>
          <a:noFill/>
          <a:ln/>
        </p:spPr>
        <p:txBody>
          <a:bodyPr wrap="square" lIns="0" tIns="0" rIns="0" bIns="0" rtlCol="0" anchor="t"/>
          <a:lstStyle/>
          <a:p>
            <a:pPr indent="0" marL="0">
              <a:buNone/>
            </a:pPr>
            <a:r>
              <a:rPr lang="en-US" sz="1500" b="1" dirty="0">
                <a:solidFill>
                  <a:srgbClr val="1A1F2B"/>
                </a:solidFill>
                <a:latin typeface="Calibri" pitchFamily="34" charset="0"/>
                <a:ea typeface="Calibri" pitchFamily="34" charset="-122"/>
                <a:cs typeface="Calibri" pitchFamily="34" charset="-120"/>
              </a:rPr>
              <a:t>What we log every session</a:t>
            </a:r>
            <a:endParaRPr lang="en-US" sz="1500" dirty="0"/>
          </a:p>
        </p:txBody>
      </p:sp>
      <p:sp>
        <p:nvSpPr>
          <p:cNvPr id="35" name="Shape 30"/>
          <p:cNvSpPr/>
          <p:nvPr/>
        </p:nvSpPr>
        <p:spPr>
          <a:xfrm>
            <a:off x="548640" y="5532120"/>
            <a:ext cx="457200" cy="457200"/>
          </a:xfrm>
          <a:prstGeom prst="ellipse">
            <a:avLst/>
          </a:prstGeom>
          <a:solidFill>
            <a:srgbClr val="1A1F2B"/>
          </a:solidFill>
          <a:ln w="12700">
            <a:solidFill>
              <a:srgbClr val="1A1F2B"/>
            </a:solidFill>
            <a:prstDash val="solid"/>
          </a:ln>
        </p:spPr>
      </p:sp>
      <p:pic>
        <p:nvPicPr>
          <p:cNvPr id="36" name="Image 3" descr="preencoded.png">    </p:cNvPr>
          <p:cNvPicPr>
            <a:picLocks noChangeAspect="1"/>
          </p:cNvPicPr>
          <p:nvPr/>
        </p:nvPicPr>
        <p:blipFill>
          <a:blip r:embed="rId4"/>
          <a:stretch>
            <a:fillRect/>
          </a:stretch>
        </p:blipFill>
        <p:spPr>
          <a:xfrm>
            <a:off x="662940" y="5646420"/>
            <a:ext cx="228600" cy="228600"/>
          </a:xfrm>
          <a:prstGeom prst="rect">
            <a:avLst/>
          </a:prstGeom>
        </p:spPr>
      </p:pic>
      <p:sp>
        <p:nvSpPr>
          <p:cNvPr id="37" name="Text 31"/>
          <p:cNvSpPr txBox="1"/>
          <p:nvPr/>
        </p:nvSpPr>
        <p:spPr>
          <a:xfrm>
            <a:off x="1143000" y="5532120"/>
            <a:ext cx="3017520" cy="457200"/>
          </a:xfrm>
          <a:prstGeom prst="rect">
            <a:avLst/>
          </a:prstGeom>
          <a:noFill/>
          <a:ln/>
        </p:spPr>
        <p:txBody>
          <a:bodyPr wrap="square" lIns="0" tIns="0" rIns="0" bIns="0" rtlCol="0" anchor="ctr"/>
          <a:lstStyle/>
          <a:p>
            <a:pPr indent="0" marL="0">
              <a:buNone/>
            </a:pPr>
            <a:r>
              <a:rPr lang="en-US" sz="1500" dirty="0">
                <a:solidFill>
                  <a:srgbClr val="1A1F2B"/>
                </a:solidFill>
                <a:latin typeface="Calibri" pitchFamily="34" charset="0"/>
                <a:ea typeface="Calibri" pitchFamily="34" charset="-122"/>
                <a:cs typeface="Calibri" pitchFamily="34" charset="-120"/>
              </a:rPr>
              <a:t>Setup + calibration time</a:t>
            </a:r>
            <a:endParaRPr lang="en-US" sz="1500" dirty="0"/>
          </a:p>
        </p:txBody>
      </p:sp>
      <p:sp>
        <p:nvSpPr>
          <p:cNvPr id="38" name="Shape 32"/>
          <p:cNvSpPr/>
          <p:nvPr/>
        </p:nvSpPr>
        <p:spPr>
          <a:xfrm>
            <a:off x="4297680" y="5532120"/>
            <a:ext cx="457200" cy="457200"/>
          </a:xfrm>
          <a:prstGeom prst="ellipse">
            <a:avLst/>
          </a:prstGeom>
          <a:solidFill>
            <a:srgbClr val="1A1F2B"/>
          </a:solidFill>
          <a:ln w="12700">
            <a:solidFill>
              <a:srgbClr val="1A1F2B"/>
            </a:solidFill>
            <a:prstDash val="solid"/>
          </a:ln>
        </p:spPr>
      </p:sp>
      <p:pic>
        <p:nvPicPr>
          <p:cNvPr id="39" name="Image 4" descr="preencoded.png">    </p:cNvPr>
          <p:cNvPicPr>
            <a:picLocks noChangeAspect="1"/>
          </p:cNvPicPr>
          <p:nvPr/>
        </p:nvPicPr>
        <p:blipFill>
          <a:blip r:embed="rId5"/>
          <a:stretch>
            <a:fillRect/>
          </a:stretch>
        </p:blipFill>
        <p:spPr>
          <a:xfrm>
            <a:off x="4411980" y="5646420"/>
            <a:ext cx="228600" cy="228600"/>
          </a:xfrm>
          <a:prstGeom prst="rect">
            <a:avLst/>
          </a:prstGeom>
        </p:spPr>
      </p:pic>
      <p:sp>
        <p:nvSpPr>
          <p:cNvPr id="40" name="Text 33"/>
          <p:cNvSpPr txBox="1"/>
          <p:nvPr/>
        </p:nvSpPr>
        <p:spPr>
          <a:xfrm>
            <a:off x="4892040" y="5532120"/>
            <a:ext cx="3017520" cy="457200"/>
          </a:xfrm>
          <a:prstGeom prst="rect">
            <a:avLst/>
          </a:prstGeom>
          <a:noFill/>
          <a:ln/>
        </p:spPr>
        <p:txBody>
          <a:bodyPr wrap="square" lIns="0" tIns="0" rIns="0" bIns="0" rtlCol="0" anchor="ctr"/>
          <a:lstStyle/>
          <a:p>
            <a:pPr indent="0" marL="0">
              <a:buNone/>
            </a:pPr>
            <a:r>
              <a:rPr lang="en-US" sz="1500" dirty="0">
                <a:solidFill>
                  <a:srgbClr val="1A1F2B"/>
                </a:solidFill>
                <a:latin typeface="Calibri" pitchFamily="34" charset="0"/>
                <a:ea typeface="Calibri" pitchFamily="34" charset="-122"/>
                <a:cs typeface="Calibri" pitchFamily="34" charset="-120"/>
              </a:rPr>
              <a:t>% of trials that process</a:t>
            </a:r>
            <a:endParaRPr lang="en-US" sz="1500" dirty="0"/>
          </a:p>
        </p:txBody>
      </p:sp>
      <p:sp>
        <p:nvSpPr>
          <p:cNvPr id="41" name="Shape 34"/>
          <p:cNvSpPr/>
          <p:nvPr/>
        </p:nvSpPr>
        <p:spPr>
          <a:xfrm>
            <a:off x="8046720" y="5532120"/>
            <a:ext cx="457200" cy="457200"/>
          </a:xfrm>
          <a:prstGeom prst="ellipse">
            <a:avLst/>
          </a:prstGeom>
          <a:solidFill>
            <a:srgbClr val="1A1F2B"/>
          </a:solidFill>
          <a:ln w="12700">
            <a:solidFill>
              <a:srgbClr val="1A1F2B"/>
            </a:solidFill>
            <a:prstDash val="solid"/>
          </a:ln>
        </p:spPr>
      </p:sp>
      <p:pic>
        <p:nvPicPr>
          <p:cNvPr id="42" name="Image 5" descr="preencoded.png">    </p:cNvPr>
          <p:cNvPicPr>
            <a:picLocks noChangeAspect="1"/>
          </p:cNvPicPr>
          <p:nvPr/>
        </p:nvPicPr>
        <p:blipFill>
          <a:blip r:embed="rId6"/>
          <a:stretch>
            <a:fillRect/>
          </a:stretch>
        </p:blipFill>
        <p:spPr>
          <a:xfrm>
            <a:off x="8161020" y="5646420"/>
            <a:ext cx="228600" cy="228600"/>
          </a:xfrm>
          <a:prstGeom prst="rect">
            <a:avLst/>
          </a:prstGeom>
        </p:spPr>
      </p:pic>
      <p:sp>
        <p:nvSpPr>
          <p:cNvPr id="43" name="Text 35"/>
          <p:cNvSpPr txBox="1"/>
          <p:nvPr/>
        </p:nvSpPr>
        <p:spPr>
          <a:xfrm>
            <a:off x="8641080" y="5532120"/>
            <a:ext cx="3017520" cy="457200"/>
          </a:xfrm>
          <a:prstGeom prst="rect">
            <a:avLst/>
          </a:prstGeom>
          <a:noFill/>
          <a:ln/>
        </p:spPr>
        <p:txBody>
          <a:bodyPr wrap="square" lIns="0" tIns="0" rIns="0" bIns="0" rtlCol="0" anchor="ctr"/>
          <a:lstStyle/>
          <a:p>
            <a:pPr indent="0" marL="0">
              <a:buNone/>
            </a:pPr>
            <a:r>
              <a:rPr lang="en-US" sz="1500" dirty="0">
                <a:solidFill>
                  <a:srgbClr val="1A1F2B"/>
                </a:solidFill>
                <a:latin typeface="Calibri" pitchFamily="34" charset="0"/>
                <a:ea typeface="Calibri" pitchFamily="34" charset="-122"/>
                <a:cs typeface="Calibri" pitchFamily="34" charset="-120"/>
              </a:rPr>
              <a:t>Lighting and failure notes</a:t>
            </a:r>
            <a:endParaRPr lang="en-US" sz="1500" dirty="0"/>
          </a:p>
        </p:txBody>
      </p:sp>
      <p:sp>
        <p:nvSpPr>
          <p:cNvPr id="44" name="Text 36"/>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BEYOND THE CORE AIMS</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Stretch goals, if time allows</a:t>
            </a:r>
            <a:endParaRPr lang="en-US" sz="3200" dirty="0"/>
          </a:p>
        </p:txBody>
      </p:sp>
      <p:sp>
        <p:nvSpPr>
          <p:cNvPr id="4" name="Shape 2"/>
          <p:cNvSpPr/>
          <p:nvPr/>
        </p:nvSpPr>
        <p:spPr>
          <a:xfrm>
            <a:off x="548640" y="1463040"/>
            <a:ext cx="5440680" cy="2011680"/>
          </a:xfrm>
          <a:prstGeom prst="roundRect">
            <a:avLst>
              <a:gd name="adj" fmla="val 3636"/>
            </a:avLst>
          </a:prstGeom>
          <a:solidFill>
            <a:srgbClr val="F1F3F6"/>
          </a:solidFill>
          <a:ln w="12700">
            <a:solidFill>
              <a:srgbClr val="F1F3F6"/>
            </a:solidFill>
            <a:prstDash val="solid"/>
          </a:ln>
        </p:spPr>
      </p:sp>
      <p:sp>
        <p:nvSpPr>
          <p:cNvPr id="5" name="Shape 3"/>
          <p:cNvSpPr/>
          <p:nvPr/>
        </p:nvSpPr>
        <p:spPr>
          <a:xfrm>
            <a:off x="822960" y="1737360"/>
            <a:ext cx="640080" cy="640080"/>
          </a:xfrm>
          <a:prstGeom prst="ellipse">
            <a:avLst/>
          </a:prstGeom>
          <a:solidFill>
            <a:srgbClr val="BF5700"/>
          </a:solidFill>
          <a:ln w="12700">
            <a:solidFill>
              <a:srgbClr val="BF5700"/>
            </a:solidFill>
            <a:prstDash val="solid"/>
          </a:ln>
        </p:spPr>
      </p:sp>
      <p:pic>
        <p:nvPicPr>
          <p:cNvPr id="6" name="Image 0" descr="preencoded.png">    </p:cNvPr>
          <p:cNvPicPr>
            <a:picLocks noChangeAspect="1"/>
          </p:cNvPicPr>
          <p:nvPr/>
        </p:nvPicPr>
        <p:blipFill>
          <a:blip r:embed="rId1"/>
          <a:stretch>
            <a:fillRect/>
          </a:stretch>
        </p:blipFill>
        <p:spPr>
          <a:xfrm>
            <a:off x="982980" y="1897380"/>
            <a:ext cx="320040" cy="320040"/>
          </a:xfrm>
          <a:prstGeom prst="rect">
            <a:avLst/>
          </a:prstGeom>
        </p:spPr>
      </p:pic>
      <p:sp>
        <p:nvSpPr>
          <p:cNvPr id="7" name="Text 4"/>
          <p:cNvSpPr txBox="1"/>
          <p:nvPr/>
        </p:nvSpPr>
        <p:spPr>
          <a:xfrm>
            <a:off x="1691640" y="1755648"/>
            <a:ext cx="4114800" cy="411480"/>
          </a:xfrm>
          <a:prstGeom prst="rect">
            <a:avLst/>
          </a:prstGeom>
          <a:noFill/>
          <a:ln/>
        </p:spPr>
        <p:txBody>
          <a:bodyPr wrap="square" lIns="0" tIns="0" rIns="0" bIns="0" rtlCol="0" anchor="t"/>
          <a:lstStyle/>
          <a:p>
            <a:pPr indent="0" marL="0">
              <a:buNone/>
            </a:pPr>
            <a:r>
              <a:rPr lang="en-US" sz="1800" b="1" dirty="0">
                <a:solidFill>
                  <a:srgbClr val="1A1F2B"/>
                </a:solidFill>
                <a:latin typeface="Arial" pitchFamily="34" charset="0"/>
                <a:ea typeface="Arial" pitchFamily="34" charset="-122"/>
                <a:cs typeface="Arial" pitchFamily="34" charset="-120"/>
              </a:rPr>
              <a:t>ExoBoot pilot</a:t>
            </a:r>
            <a:endParaRPr lang="en-US" sz="1800" dirty="0"/>
          </a:p>
        </p:txBody>
      </p:sp>
      <p:sp>
        <p:nvSpPr>
          <p:cNvPr id="8" name="Text 5"/>
          <p:cNvSpPr txBox="1"/>
          <p:nvPr/>
        </p:nvSpPr>
        <p:spPr>
          <a:xfrm>
            <a:off x="1691640" y="2240280"/>
            <a:ext cx="4069080" cy="7772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Do Dephy ExoBoot assistance settings change ankle and knee moments? Uses the Aim 2 pipeline.</a:t>
            </a:r>
            <a:endParaRPr lang="en-US" sz="1400" dirty="0"/>
          </a:p>
        </p:txBody>
      </p:sp>
      <p:sp>
        <p:nvSpPr>
          <p:cNvPr id="9" name="Text 6"/>
          <p:cNvSpPr txBox="1"/>
          <p:nvPr/>
        </p:nvSpPr>
        <p:spPr>
          <a:xfrm>
            <a:off x="1691640" y="3017520"/>
            <a:ext cx="4069080" cy="27432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Needs: ExoBoot sessions with Finn; Aim 2 working</a:t>
            </a:r>
            <a:endParaRPr lang="en-US" sz="1200" dirty="0"/>
          </a:p>
        </p:txBody>
      </p:sp>
      <p:sp>
        <p:nvSpPr>
          <p:cNvPr id="10" name="Shape 7"/>
          <p:cNvSpPr/>
          <p:nvPr/>
        </p:nvSpPr>
        <p:spPr>
          <a:xfrm>
            <a:off x="6172200" y="1463040"/>
            <a:ext cx="5440680" cy="2011680"/>
          </a:xfrm>
          <a:prstGeom prst="roundRect">
            <a:avLst>
              <a:gd name="adj" fmla="val 3636"/>
            </a:avLst>
          </a:prstGeom>
          <a:solidFill>
            <a:srgbClr val="F1F3F6"/>
          </a:solidFill>
          <a:ln w="12700">
            <a:solidFill>
              <a:srgbClr val="F1F3F6"/>
            </a:solidFill>
            <a:prstDash val="solid"/>
          </a:ln>
        </p:spPr>
      </p:sp>
      <p:sp>
        <p:nvSpPr>
          <p:cNvPr id="11" name="Shape 8"/>
          <p:cNvSpPr/>
          <p:nvPr/>
        </p:nvSpPr>
        <p:spPr>
          <a:xfrm>
            <a:off x="6446520" y="1737360"/>
            <a:ext cx="640080" cy="640080"/>
          </a:xfrm>
          <a:prstGeom prst="ellipse">
            <a:avLst/>
          </a:prstGeom>
          <a:solidFill>
            <a:srgbClr val="1A1F2B"/>
          </a:solidFill>
          <a:ln w="12700">
            <a:solidFill>
              <a:srgbClr val="1A1F2B"/>
            </a:solidFill>
            <a:prstDash val="solid"/>
          </a:ln>
        </p:spPr>
      </p:sp>
      <p:pic>
        <p:nvPicPr>
          <p:cNvPr id="12" name="Image 1" descr="preencoded.png">    </p:cNvPr>
          <p:cNvPicPr>
            <a:picLocks noChangeAspect="1"/>
          </p:cNvPicPr>
          <p:nvPr/>
        </p:nvPicPr>
        <p:blipFill>
          <a:blip r:embed="rId2"/>
          <a:stretch>
            <a:fillRect/>
          </a:stretch>
        </p:blipFill>
        <p:spPr>
          <a:xfrm>
            <a:off x="6606540" y="1897380"/>
            <a:ext cx="320040" cy="320040"/>
          </a:xfrm>
          <a:prstGeom prst="rect">
            <a:avLst/>
          </a:prstGeom>
        </p:spPr>
      </p:pic>
      <p:sp>
        <p:nvSpPr>
          <p:cNvPr id="13" name="Text 9"/>
          <p:cNvSpPr txBox="1"/>
          <p:nvPr/>
        </p:nvSpPr>
        <p:spPr>
          <a:xfrm>
            <a:off x="7315200" y="1755648"/>
            <a:ext cx="4114800" cy="411480"/>
          </a:xfrm>
          <a:prstGeom prst="rect">
            <a:avLst/>
          </a:prstGeom>
          <a:noFill/>
          <a:ln/>
        </p:spPr>
        <p:txBody>
          <a:bodyPr wrap="square" lIns="0" tIns="0" rIns="0" bIns="0" rtlCol="0" anchor="t"/>
          <a:lstStyle/>
          <a:p>
            <a:pPr indent="0" marL="0">
              <a:buNone/>
            </a:pPr>
            <a:r>
              <a:rPr lang="en-US" sz="1800" b="1" dirty="0">
                <a:solidFill>
                  <a:srgbClr val="1A1F2B"/>
                </a:solidFill>
                <a:latin typeface="Arial" pitchFamily="34" charset="0"/>
                <a:ea typeface="Arial" pitchFamily="34" charset="-122"/>
                <a:cs typeface="Arial" pitchFamily="34" charset="-120"/>
              </a:rPr>
              <a:t>Overground forces</a:t>
            </a:r>
            <a:endParaRPr lang="en-US" sz="1800" dirty="0"/>
          </a:p>
        </p:txBody>
      </p:sp>
      <p:sp>
        <p:nvSpPr>
          <p:cNvPr id="14" name="Text 10"/>
          <p:cNvSpPr txBox="1"/>
          <p:nvPr/>
        </p:nvSpPr>
        <p:spPr>
          <a:xfrm>
            <a:off x="7315200" y="2240280"/>
            <a:ext cx="4069080" cy="7772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Use Finn's GRFpredict model to estimate forces outdoors, then run inverse dynamics without force plates.</a:t>
            </a:r>
            <a:endParaRPr lang="en-US" sz="1400" dirty="0"/>
          </a:p>
        </p:txBody>
      </p:sp>
      <p:sp>
        <p:nvSpPr>
          <p:cNvPr id="15" name="Text 11"/>
          <p:cNvSpPr txBox="1"/>
          <p:nvPr/>
        </p:nvSpPr>
        <p:spPr>
          <a:xfrm>
            <a:off x="7315200" y="3017520"/>
            <a:ext cx="4069080" cy="27432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Needs: GRFpredict access; Aim 3 outdoor data</a:t>
            </a:r>
            <a:endParaRPr lang="en-US" sz="1200" dirty="0"/>
          </a:p>
        </p:txBody>
      </p:sp>
      <p:sp>
        <p:nvSpPr>
          <p:cNvPr id="16" name="Shape 12"/>
          <p:cNvSpPr/>
          <p:nvPr/>
        </p:nvSpPr>
        <p:spPr>
          <a:xfrm>
            <a:off x="548640" y="3703320"/>
            <a:ext cx="5440680" cy="2011680"/>
          </a:xfrm>
          <a:prstGeom prst="roundRect">
            <a:avLst>
              <a:gd name="adj" fmla="val 3636"/>
            </a:avLst>
          </a:prstGeom>
          <a:solidFill>
            <a:srgbClr val="F1F3F6"/>
          </a:solidFill>
          <a:ln w="12700">
            <a:solidFill>
              <a:srgbClr val="F1F3F6"/>
            </a:solidFill>
            <a:prstDash val="solid"/>
          </a:ln>
        </p:spPr>
      </p:sp>
      <p:sp>
        <p:nvSpPr>
          <p:cNvPr id="17" name="Shape 13"/>
          <p:cNvSpPr/>
          <p:nvPr/>
        </p:nvSpPr>
        <p:spPr>
          <a:xfrm>
            <a:off x="822960" y="3977640"/>
            <a:ext cx="640080" cy="640080"/>
          </a:xfrm>
          <a:prstGeom prst="ellipse">
            <a:avLst/>
          </a:prstGeom>
          <a:solidFill>
            <a:srgbClr val="1A1F2B"/>
          </a:solidFill>
          <a:ln w="12700">
            <a:solidFill>
              <a:srgbClr val="1A1F2B"/>
            </a:solidFill>
            <a:prstDash val="solid"/>
          </a:ln>
        </p:spPr>
      </p:sp>
      <p:pic>
        <p:nvPicPr>
          <p:cNvPr id="18" name="Image 2" descr="preencoded.png">    </p:cNvPr>
          <p:cNvPicPr>
            <a:picLocks noChangeAspect="1"/>
          </p:cNvPicPr>
          <p:nvPr/>
        </p:nvPicPr>
        <p:blipFill>
          <a:blip r:embed="rId3"/>
          <a:stretch>
            <a:fillRect/>
          </a:stretch>
        </p:blipFill>
        <p:spPr>
          <a:xfrm>
            <a:off x="982980" y="4137660"/>
            <a:ext cx="320040" cy="320040"/>
          </a:xfrm>
          <a:prstGeom prst="rect">
            <a:avLst/>
          </a:prstGeom>
        </p:spPr>
      </p:pic>
      <p:sp>
        <p:nvSpPr>
          <p:cNvPr id="19" name="Text 14"/>
          <p:cNvSpPr txBox="1"/>
          <p:nvPr/>
        </p:nvSpPr>
        <p:spPr>
          <a:xfrm>
            <a:off x="1691640" y="3995928"/>
            <a:ext cx="4114800" cy="411480"/>
          </a:xfrm>
          <a:prstGeom prst="rect">
            <a:avLst/>
          </a:prstGeom>
          <a:noFill/>
          <a:ln/>
        </p:spPr>
        <p:txBody>
          <a:bodyPr wrap="square" lIns="0" tIns="0" rIns="0" bIns="0" rtlCol="0" anchor="t"/>
          <a:lstStyle/>
          <a:p>
            <a:pPr indent="0" marL="0">
              <a:buNone/>
            </a:pPr>
            <a:r>
              <a:rPr lang="en-US" sz="1800" b="1" dirty="0">
                <a:solidFill>
                  <a:srgbClr val="1A1F2B"/>
                </a:solidFill>
                <a:latin typeface="Arial" pitchFamily="34" charset="0"/>
                <a:ea typeface="Arial" pitchFamily="34" charset="-122"/>
                <a:cs typeface="Arial" pitchFamily="34" charset="-120"/>
              </a:rPr>
              <a:t>Laser-level phone holder</a:t>
            </a:r>
            <a:endParaRPr lang="en-US" sz="1800" dirty="0"/>
          </a:p>
        </p:txBody>
      </p:sp>
      <p:sp>
        <p:nvSpPr>
          <p:cNvPr id="20" name="Text 15"/>
          <p:cNvSpPr txBox="1"/>
          <p:nvPr/>
        </p:nvSpPr>
        <p:spPr>
          <a:xfrm>
            <a:off x="1691640" y="4480560"/>
            <a:ext cx="4069080" cy="7772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CAD/print a holder with laser levels to aim cameras the same way every session.</a:t>
            </a:r>
            <a:endParaRPr lang="en-US" sz="1400" dirty="0"/>
          </a:p>
        </p:txBody>
      </p:sp>
      <p:sp>
        <p:nvSpPr>
          <p:cNvPr id="21" name="Text 16"/>
          <p:cNvSpPr txBox="1"/>
          <p:nvPr/>
        </p:nvSpPr>
        <p:spPr>
          <a:xfrm>
            <a:off x="1691640" y="5257800"/>
            <a:ext cx="4069080" cy="27432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Needs: 2 laser levels (~$40); print time</a:t>
            </a:r>
            <a:endParaRPr lang="en-US" sz="1200" dirty="0"/>
          </a:p>
        </p:txBody>
      </p:sp>
      <p:sp>
        <p:nvSpPr>
          <p:cNvPr id="22" name="Shape 17"/>
          <p:cNvSpPr/>
          <p:nvPr/>
        </p:nvSpPr>
        <p:spPr>
          <a:xfrm>
            <a:off x="6172200" y="3703320"/>
            <a:ext cx="5440680" cy="2011680"/>
          </a:xfrm>
          <a:prstGeom prst="roundRect">
            <a:avLst>
              <a:gd name="adj" fmla="val 3636"/>
            </a:avLst>
          </a:prstGeom>
          <a:solidFill>
            <a:srgbClr val="F1F3F6"/>
          </a:solidFill>
          <a:ln w="12700">
            <a:solidFill>
              <a:srgbClr val="F1F3F6"/>
            </a:solidFill>
            <a:prstDash val="solid"/>
          </a:ln>
        </p:spPr>
      </p:sp>
      <p:sp>
        <p:nvSpPr>
          <p:cNvPr id="23" name="Shape 18"/>
          <p:cNvSpPr/>
          <p:nvPr/>
        </p:nvSpPr>
        <p:spPr>
          <a:xfrm>
            <a:off x="6446520" y="3977640"/>
            <a:ext cx="640080" cy="640080"/>
          </a:xfrm>
          <a:prstGeom prst="ellipse">
            <a:avLst/>
          </a:prstGeom>
          <a:solidFill>
            <a:srgbClr val="1A1F2B"/>
          </a:solidFill>
          <a:ln w="12700">
            <a:solidFill>
              <a:srgbClr val="1A1F2B"/>
            </a:solidFill>
            <a:prstDash val="solid"/>
          </a:ln>
        </p:spPr>
      </p:sp>
      <p:pic>
        <p:nvPicPr>
          <p:cNvPr id="24" name="Image 3" descr="preencoded.png">    </p:cNvPr>
          <p:cNvPicPr>
            <a:picLocks noChangeAspect="1"/>
          </p:cNvPicPr>
          <p:nvPr/>
        </p:nvPicPr>
        <p:blipFill>
          <a:blip r:embed="rId4"/>
          <a:stretch>
            <a:fillRect/>
          </a:stretch>
        </p:blipFill>
        <p:spPr>
          <a:xfrm>
            <a:off x="6606540" y="4137660"/>
            <a:ext cx="320040" cy="320040"/>
          </a:xfrm>
          <a:prstGeom prst="rect">
            <a:avLst/>
          </a:prstGeom>
        </p:spPr>
      </p:pic>
      <p:sp>
        <p:nvSpPr>
          <p:cNvPr id="25" name="Text 19"/>
          <p:cNvSpPr txBox="1"/>
          <p:nvPr/>
        </p:nvSpPr>
        <p:spPr>
          <a:xfrm>
            <a:off x="7315200" y="3995928"/>
            <a:ext cx="4114800" cy="411480"/>
          </a:xfrm>
          <a:prstGeom prst="rect">
            <a:avLst/>
          </a:prstGeom>
          <a:noFill/>
          <a:ln/>
        </p:spPr>
        <p:txBody>
          <a:bodyPr wrap="square" lIns="0" tIns="0" rIns="0" bIns="0" rtlCol="0" anchor="t"/>
          <a:lstStyle/>
          <a:p>
            <a:pPr indent="0" marL="0">
              <a:buNone/>
            </a:pPr>
            <a:r>
              <a:rPr lang="en-US" sz="1800" b="1" dirty="0">
                <a:solidFill>
                  <a:srgbClr val="1A1F2B"/>
                </a:solidFill>
                <a:latin typeface="Arial" pitchFamily="34" charset="0"/>
                <a:ea typeface="Arial" pitchFamily="34" charset="-122"/>
                <a:cs typeface="Arial" pitchFamily="34" charset="-120"/>
              </a:rPr>
              <a:t>MyoAssist simulation</a:t>
            </a:r>
            <a:endParaRPr lang="en-US" sz="1800" dirty="0"/>
          </a:p>
        </p:txBody>
      </p:sp>
      <p:sp>
        <p:nvSpPr>
          <p:cNvPr id="26" name="Text 20"/>
          <p:cNvSpPr txBox="1"/>
          <p:nvPr/>
        </p:nvSpPr>
        <p:spPr>
          <a:xfrm>
            <a:off x="7315200" y="4480560"/>
            <a:ext cx="4069080" cy="7772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Simulate ExoBoot use and compare with real data. Coding-heavy.</a:t>
            </a:r>
            <a:endParaRPr lang="en-US" sz="1400" dirty="0"/>
          </a:p>
        </p:txBody>
      </p:sp>
      <p:sp>
        <p:nvSpPr>
          <p:cNvPr id="27" name="Text 21"/>
          <p:cNvSpPr txBox="1"/>
          <p:nvPr/>
        </p:nvSpPr>
        <p:spPr>
          <a:xfrm>
            <a:off x="7315200" y="5257800"/>
            <a:ext cx="4069080" cy="27432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Needs: Python and machine-learning experience</a:t>
            </a:r>
            <a:endParaRPr lang="en-US" sz="1200" dirty="0"/>
          </a:p>
        </p:txBody>
      </p:sp>
      <p:sp>
        <p:nvSpPr>
          <p:cNvPr id="28" name="Text 22"/>
          <p:cNvSpPr txBox="1"/>
          <p:nvPr/>
        </p:nvSpPr>
        <p:spPr>
          <a:xfrm>
            <a:off x="548640" y="6035040"/>
            <a:ext cx="10972800" cy="320040"/>
          </a:xfrm>
          <a:prstGeom prst="rect">
            <a:avLst/>
          </a:prstGeom>
          <a:noFill/>
          <a:ln/>
        </p:spPr>
        <p:txBody>
          <a:bodyPr wrap="square" lIns="0" tIns="0" rIns="0" bIns="0" rtlCol="0" anchor="t"/>
          <a:lstStyle/>
          <a:p>
            <a:pPr indent="0" marL="0">
              <a:buNone/>
            </a:pPr>
            <a:r>
              <a:rPr lang="en-US" sz="1300" i="1" dirty="0">
                <a:solidFill>
                  <a:srgbClr val="BF5700"/>
                </a:solidFill>
                <a:latin typeface="Calibri" pitchFamily="34" charset="0"/>
                <a:ea typeface="Calibri" pitchFamily="34" charset="-122"/>
                <a:cs typeface="Calibri" pitchFamily="34" charset="-120"/>
              </a:rPr>
              <a:t>The ExoBoot pilot is first in line: it reuses the Aim 2 pipeline directly.</a:t>
            </a:r>
            <a:endParaRPr lang="en-US" sz="1300" dirty="0"/>
          </a:p>
        </p:txBody>
      </p:sp>
      <p:sp>
        <p:nvSpPr>
          <p:cNvPr id="29" name="Text 23"/>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COST ESTIMATE</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Low cost: the expensive hardware already exists</a:t>
            </a:r>
            <a:endParaRPr lang="en-US" sz="3200" dirty="0"/>
          </a:p>
        </p:txBody>
      </p:sp>
      <p:sp>
        <p:nvSpPr>
          <p:cNvPr id="4" name="Shape 2"/>
          <p:cNvSpPr/>
          <p:nvPr/>
        </p:nvSpPr>
        <p:spPr>
          <a:xfrm>
            <a:off x="548640" y="1417320"/>
            <a:ext cx="3291840" cy="4754880"/>
          </a:xfrm>
          <a:prstGeom prst="roundRect">
            <a:avLst>
              <a:gd name="adj" fmla="val 2222"/>
            </a:avLst>
          </a:prstGeom>
          <a:solidFill>
            <a:srgbClr val="1A1F2B"/>
          </a:solidFill>
          <a:ln w="12700">
            <a:solidFill>
              <a:srgbClr val="1A1F2B"/>
            </a:solidFill>
            <a:prstDash val="solid"/>
          </a:ln>
        </p:spPr>
      </p:sp>
      <p:sp>
        <p:nvSpPr>
          <p:cNvPr id="5" name="Text 3"/>
          <p:cNvSpPr txBox="1"/>
          <p:nvPr/>
        </p:nvSpPr>
        <p:spPr>
          <a:xfrm>
            <a:off x="777240" y="1828800"/>
            <a:ext cx="2926080" cy="1005840"/>
          </a:xfrm>
          <a:prstGeom prst="rect">
            <a:avLst/>
          </a:prstGeom>
          <a:noFill/>
          <a:ln/>
        </p:spPr>
        <p:txBody>
          <a:bodyPr wrap="square" lIns="0" tIns="0" rIns="0" bIns="0" rtlCol="0" anchor="t"/>
          <a:lstStyle/>
          <a:p>
            <a:pPr indent="0" marL="0">
              <a:buNone/>
            </a:pPr>
            <a:r>
              <a:rPr lang="en-US" sz="5400" b="1" dirty="0">
                <a:solidFill>
                  <a:srgbClr val="BF5700"/>
                </a:solidFill>
                <a:latin typeface="Arial" pitchFamily="34" charset="0"/>
                <a:ea typeface="Arial" pitchFamily="34" charset="-122"/>
                <a:cs typeface="Arial" pitchFamily="34" charset="-120"/>
              </a:rPr>
              <a:t>~$130</a:t>
            </a:r>
            <a:endParaRPr lang="en-US" sz="5400" dirty="0"/>
          </a:p>
        </p:txBody>
      </p:sp>
      <p:sp>
        <p:nvSpPr>
          <p:cNvPr id="6" name="Text 4"/>
          <p:cNvSpPr txBox="1"/>
          <p:nvPr/>
        </p:nvSpPr>
        <p:spPr>
          <a:xfrm>
            <a:off x="777240" y="2834640"/>
            <a:ext cx="292608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new spending, estimated</a:t>
            </a:r>
            <a:endParaRPr lang="en-US" sz="1500" dirty="0"/>
          </a:p>
        </p:txBody>
      </p:sp>
      <p:sp>
        <p:nvSpPr>
          <p:cNvPr id="7" name="Text 5"/>
          <p:cNvSpPr txBox="1"/>
          <p:nvPr/>
        </p:nvSpPr>
        <p:spPr>
          <a:xfrm>
            <a:off x="777240" y="3840480"/>
            <a:ext cx="2926080" cy="201168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~140</a:t>
            </a:r>
            <a:endParaRPr lang="en-US" sz="3600" dirty="0"/>
          </a:p>
          <a:p>
            <a:pPr indent="0" marL="0">
              <a:buNone/>
            </a:pPr>
            <a:r>
              <a:rPr lang="en-US" sz="1300" dirty="0">
                <a:solidFill>
                  <a:srgbClr val="C9CFD9"/>
                </a:solidFill>
                <a:latin typeface="Calibri" pitchFamily="34" charset="0"/>
                <a:ea typeface="Calibri" pitchFamily="34" charset="-122"/>
                <a:cs typeface="Calibri" pitchFamily="34" charset="-120"/>
              </a:rPr>
              <a:t>student hours (3 people × ~4 h/week × 12 weeks), for course credit</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60520" y="1417320"/>
          <a:ext cx="7498080" cy="914400"/>
        </p:xfrm>
        <a:graphic>
          <a:graphicData uri="http://schemas.openxmlformats.org/drawingml/2006/table">
            <a:tbl>
              <a:tblPr/>
              <a:tblGrid>
                <a:gridCol w="2743200"/>
                <a:gridCol w="3840480"/>
                <a:gridCol w="9144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A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A1F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A1F2B"/>
                    </a:solidFill>
                  </a:tcPr>
                </a:tc>
              </a:tr>
              <a:tr h="329184">
                <a:tc gridSpan="3">
                  <a:txBody>
                    <a:bodyPr/>
                    <a:lstStyle/>
                    <a:p>
                      <a:pPr indent="0" marL="0">
                        <a:buNone/>
                      </a:pPr>
                      <a:r>
                        <a:rPr lang="en-US" sz="1200" b="1" dirty="0">
                          <a:solidFill>
                            <a:srgbClr val="BF5700"/>
                          </a:solidFill>
                          <a:latin typeface="Calibri" pitchFamily="34" charset="0"/>
                          <a:ea typeface="Calibri" pitchFamily="34" charset="-122"/>
                          <a:cs typeface="Calibri" pitchFamily="34" charset="-120"/>
                        </a:rPr>
                        <a:t>Personnel</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6E3D6"/>
                    </a:solidFill>
                  </a:tcPr>
                </a:tc>
                <a:tc hMerge="1">
                  <a:tcPr/>
                </a:tc>
                <a:tc hMerge="1">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Student team (3)</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3–5 lab hours/week each</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Mentor + faculty</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Weekly check-in with Finn; 1 h/week with Dr. Fey</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gridSpan="3">
                  <a:txBody>
                    <a:bodyPr/>
                    <a:lstStyle/>
                    <a:p>
                      <a:pPr indent="0" marL="0">
                        <a:buNone/>
                      </a:pPr>
                      <a:r>
                        <a:rPr lang="en-US" sz="1200" b="1" dirty="0">
                          <a:solidFill>
                            <a:srgbClr val="BF5700"/>
                          </a:solidFill>
                          <a:latin typeface="Calibri" pitchFamily="34" charset="0"/>
                          <a:ea typeface="Calibri" pitchFamily="34" charset="-122"/>
                          <a:cs typeface="Calibri" pitchFamily="34" charset="-120"/>
                        </a:rPr>
                        <a:t>Equipment (existing lab)</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6E3D6"/>
                    </a:solidFill>
                  </a:tcPr>
                </a:tc>
                <a:tc hMerge="1">
                  <a:tcPr/>
                </a:tc>
                <a:tc hMerge="1">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Theia3D, Bertec treadmill, terrain park</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SAHM Lab resources; need scheduled time</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iPhones (2), OpenCap</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Team-owned phones; OpenCap is free</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gridSpan="3">
                  <a:txBody>
                    <a:bodyPr/>
                    <a:lstStyle/>
                    <a:p>
                      <a:pPr indent="0" marL="0">
                        <a:buNone/>
                      </a:pPr>
                      <a:r>
                        <a:rPr lang="en-US" sz="1200" b="1" dirty="0">
                          <a:solidFill>
                            <a:srgbClr val="BF5700"/>
                          </a:solidFill>
                          <a:latin typeface="Calibri" pitchFamily="34" charset="0"/>
                          <a:ea typeface="Calibri" pitchFamily="34" charset="-122"/>
                          <a:cs typeface="Calibri" pitchFamily="34" charset="-120"/>
                        </a:rPr>
                        <a:t>Materials</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6E3D6"/>
                    </a:solidFill>
                  </a:tcPr>
                </a:tc>
                <a:tc hMerge="1">
                  <a:tcPr/>
                </a:tc>
                <a:tc hMerge="1">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Phone tripods + mounts (2)</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Only if the lab has none spare</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PLA filament (1 kg)</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Holder uses ~31 g; rest for iterations</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Laser levels (2)</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For the phone-holder side project</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Checkerboard print + backing</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Rigid, flat calibration board</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gridSpan="3">
                  <a:txBody>
                    <a:bodyPr/>
                    <a:lstStyle/>
                    <a:p>
                      <a:pPr indent="0" marL="0">
                        <a:buNone/>
                      </a:pPr>
                      <a:r>
                        <a:rPr lang="en-US" sz="1200" b="1" dirty="0">
                          <a:solidFill>
                            <a:srgbClr val="BF5700"/>
                          </a:solidFill>
                          <a:latin typeface="Calibri" pitchFamily="34" charset="0"/>
                          <a:ea typeface="Calibri" pitchFamily="34" charset="-122"/>
                          <a:cs typeface="Calibri" pitchFamily="34" charset="-120"/>
                        </a:rPr>
                        <a:t>Travel</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6E3D6"/>
                    </a:solidFill>
                  </a:tcPr>
                </a:tc>
                <a:tc hMerge="1">
                  <a:tcPr/>
                </a:tc>
                <a:tc hMerge="1">
                  <a:tcPr/>
                </a:tc>
              </a:tr>
              <a:tr h="329184">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A1F2B"/>
                          </a:solidFill>
                          <a:latin typeface="Calibri" pitchFamily="34" charset="0"/>
                          <a:ea typeface="Calibri" pitchFamily="34" charset="-122"/>
                          <a:cs typeface="Calibri" pitchFamily="34" charset="-120"/>
                        </a:rPr>
                        <a:t>All collection on campus</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Text 6"/>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TEAM &amp; REPORTING</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Who does what, and who we report to</a:t>
            </a:r>
            <a:endParaRPr lang="en-US" sz="3200" dirty="0"/>
          </a:p>
        </p:txBody>
      </p:sp>
      <p:sp>
        <p:nvSpPr>
          <p:cNvPr id="4" name="Shape 2"/>
          <p:cNvSpPr/>
          <p:nvPr/>
        </p:nvSpPr>
        <p:spPr>
          <a:xfrm>
            <a:off x="2263140" y="1417320"/>
            <a:ext cx="3291840" cy="868680"/>
          </a:xfrm>
          <a:prstGeom prst="roundRect">
            <a:avLst>
              <a:gd name="adj" fmla="val 8421"/>
            </a:avLst>
          </a:prstGeom>
          <a:solidFill>
            <a:srgbClr val="1A1F2B"/>
          </a:solidFill>
          <a:ln w="12700">
            <a:solidFill>
              <a:srgbClr val="1A1F2B"/>
            </a:solidFill>
            <a:prstDash val="solid"/>
          </a:ln>
        </p:spPr>
      </p:sp>
      <p:sp>
        <p:nvSpPr>
          <p:cNvPr id="5" name="Text 3"/>
          <p:cNvSpPr txBox="1"/>
          <p:nvPr/>
        </p:nvSpPr>
        <p:spPr>
          <a:xfrm>
            <a:off x="2400300" y="1527048"/>
            <a:ext cx="3017520" cy="347472"/>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Dr. Nicholas P. Fey</a:t>
            </a:r>
            <a:endParaRPr lang="en-US" sz="1500" dirty="0"/>
          </a:p>
        </p:txBody>
      </p:sp>
      <p:sp>
        <p:nvSpPr>
          <p:cNvPr id="6" name="Text 4"/>
          <p:cNvSpPr txBox="1"/>
          <p:nvPr/>
        </p:nvSpPr>
        <p:spPr>
          <a:xfrm>
            <a:off x="2400300" y="1874520"/>
            <a:ext cx="3017520" cy="320040"/>
          </a:xfrm>
          <a:prstGeom prst="rect">
            <a:avLst/>
          </a:prstGeom>
          <a:noFill/>
          <a:ln/>
        </p:spPr>
        <p:txBody>
          <a:bodyPr wrap="square" lIns="0" tIns="0" rIns="0" bIns="0" rtlCol="0" anchor="t"/>
          <a:lstStyle/>
          <a:p>
            <a:pPr algn="ctr" indent="0" marL="0">
              <a:buNone/>
            </a:pPr>
            <a:r>
              <a:rPr lang="en-US" sz="1200" dirty="0">
                <a:solidFill>
                  <a:srgbClr val="C9CFD9"/>
                </a:solidFill>
                <a:latin typeface="Calibri" pitchFamily="34" charset="0"/>
                <a:ea typeface="Calibri" pitchFamily="34" charset="-122"/>
                <a:cs typeface="Calibri" pitchFamily="34" charset="-120"/>
              </a:rPr>
              <a:t>Faculty advisor · weekly consultation hour</a:t>
            </a:r>
            <a:endParaRPr lang="en-US" sz="1200" dirty="0"/>
          </a:p>
        </p:txBody>
      </p:sp>
      <p:sp>
        <p:nvSpPr>
          <p:cNvPr id="7" name="Shape 5"/>
          <p:cNvSpPr/>
          <p:nvPr/>
        </p:nvSpPr>
        <p:spPr>
          <a:xfrm>
            <a:off x="2263140" y="2697480"/>
            <a:ext cx="3291840" cy="868680"/>
          </a:xfrm>
          <a:prstGeom prst="roundRect">
            <a:avLst>
              <a:gd name="adj" fmla="val 8421"/>
            </a:avLst>
          </a:prstGeom>
          <a:solidFill>
            <a:srgbClr val="2A3140"/>
          </a:solidFill>
          <a:ln w="12700">
            <a:solidFill>
              <a:srgbClr val="2A3140"/>
            </a:solidFill>
            <a:prstDash val="solid"/>
          </a:ln>
        </p:spPr>
      </p:sp>
      <p:sp>
        <p:nvSpPr>
          <p:cNvPr id="8" name="Text 6"/>
          <p:cNvSpPr txBox="1"/>
          <p:nvPr/>
        </p:nvSpPr>
        <p:spPr>
          <a:xfrm>
            <a:off x="2400300" y="2807208"/>
            <a:ext cx="3017520" cy="347472"/>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Finn Eagen</a:t>
            </a:r>
            <a:endParaRPr lang="en-US" sz="1500" dirty="0"/>
          </a:p>
        </p:txBody>
      </p:sp>
      <p:sp>
        <p:nvSpPr>
          <p:cNvPr id="9" name="Text 7"/>
          <p:cNvSpPr txBox="1"/>
          <p:nvPr/>
        </p:nvSpPr>
        <p:spPr>
          <a:xfrm>
            <a:off x="2400300" y="3154680"/>
            <a:ext cx="3017520" cy="320040"/>
          </a:xfrm>
          <a:prstGeom prst="rect">
            <a:avLst/>
          </a:prstGeom>
          <a:noFill/>
          <a:ln/>
        </p:spPr>
        <p:txBody>
          <a:bodyPr wrap="square" lIns="0" tIns="0" rIns="0" bIns="0" rtlCol="0" anchor="t"/>
          <a:lstStyle/>
          <a:p>
            <a:pPr algn="ctr" indent="0" marL="0">
              <a:buNone/>
            </a:pPr>
            <a:r>
              <a:rPr lang="en-US" sz="1200" dirty="0">
                <a:solidFill>
                  <a:srgbClr val="C9CFD9"/>
                </a:solidFill>
                <a:latin typeface="Calibri" pitchFamily="34" charset="0"/>
                <a:ea typeface="Calibri" pitchFamily="34" charset="-122"/>
                <a:cs typeface="Calibri" pitchFamily="34" charset="-120"/>
              </a:rPr>
              <a:t>Graduate mentor · weekly lab check-in</a:t>
            </a:r>
            <a:endParaRPr lang="en-US" sz="1200" dirty="0"/>
          </a:p>
        </p:txBody>
      </p:sp>
      <p:sp>
        <p:nvSpPr>
          <p:cNvPr id="10" name="Shape 8"/>
          <p:cNvSpPr/>
          <p:nvPr/>
        </p:nvSpPr>
        <p:spPr>
          <a:xfrm>
            <a:off x="3909060" y="2286000"/>
            <a:ext cx="914" cy="411480"/>
          </a:xfrm>
          <a:prstGeom prst="line">
            <a:avLst/>
          </a:prstGeom>
          <a:noFill/>
          <a:ln w="19050">
            <a:solidFill>
              <a:srgbClr val="5B6472"/>
            </a:solidFill>
            <a:prstDash val="solid"/>
          </a:ln>
        </p:spPr>
      </p:sp>
      <p:sp>
        <p:nvSpPr>
          <p:cNvPr id="11" name="Shape 9"/>
          <p:cNvSpPr/>
          <p:nvPr/>
        </p:nvSpPr>
        <p:spPr>
          <a:xfrm>
            <a:off x="3909060" y="3566160"/>
            <a:ext cx="914" cy="320040"/>
          </a:xfrm>
          <a:prstGeom prst="line">
            <a:avLst/>
          </a:prstGeom>
          <a:noFill/>
          <a:ln w="19050">
            <a:solidFill>
              <a:srgbClr val="5B6472"/>
            </a:solidFill>
            <a:prstDash val="solid"/>
          </a:ln>
        </p:spPr>
      </p:sp>
      <p:sp>
        <p:nvSpPr>
          <p:cNvPr id="12" name="Shape 10"/>
          <p:cNvSpPr/>
          <p:nvPr/>
        </p:nvSpPr>
        <p:spPr>
          <a:xfrm>
            <a:off x="1623060" y="3886200"/>
            <a:ext cx="4572000" cy="914"/>
          </a:xfrm>
          <a:prstGeom prst="line">
            <a:avLst/>
          </a:prstGeom>
          <a:noFill/>
          <a:ln w="19050">
            <a:solidFill>
              <a:srgbClr val="5B6472"/>
            </a:solidFill>
            <a:prstDash val="solid"/>
          </a:ln>
        </p:spPr>
      </p:sp>
      <p:sp>
        <p:nvSpPr>
          <p:cNvPr id="13" name="Shape 11"/>
          <p:cNvSpPr/>
          <p:nvPr/>
        </p:nvSpPr>
        <p:spPr>
          <a:xfrm>
            <a:off x="1623060" y="3886200"/>
            <a:ext cx="914" cy="320040"/>
          </a:xfrm>
          <a:prstGeom prst="line">
            <a:avLst/>
          </a:prstGeom>
          <a:noFill/>
          <a:ln w="19050">
            <a:solidFill>
              <a:srgbClr val="5B6472"/>
            </a:solidFill>
            <a:prstDash val="solid"/>
          </a:ln>
        </p:spPr>
      </p:sp>
      <p:sp>
        <p:nvSpPr>
          <p:cNvPr id="14" name="Shape 12"/>
          <p:cNvSpPr/>
          <p:nvPr/>
        </p:nvSpPr>
        <p:spPr>
          <a:xfrm>
            <a:off x="548640" y="4206240"/>
            <a:ext cx="2148840" cy="1188720"/>
          </a:xfrm>
          <a:prstGeom prst="roundRect">
            <a:avLst>
              <a:gd name="adj" fmla="val 6154"/>
            </a:avLst>
          </a:prstGeom>
          <a:solidFill>
            <a:srgbClr val="F6E3D6"/>
          </a:solidFill>
          <a:ln w="12700">
            <a:solidFill>
              <a:srgbClr val="F6E3D6"/>
            </a:solidFill>
            <a:prstDash val="solid"/>
          </a:ln>
        </p:spPr>
      </p:sp>
      <p:sp>
        <p:nvSpPr>
          <p:cNvPr id="15" name="Text 13"/>
          <p:cNvSpPr txBox="1"/>
          <p:nvPr/>
        </p:nvSpPr>
        <p:spPr>
          <a:xfrm>
            <a:off x="685800" y="4315968"/>
            <a:ext cx="1874520" cy="347472"/>
          </a:xfrm>
          <a:prstGeom prst="rect">
            <a:avLst/>
          </a:prstGeom>
          <a:noFill/>
          <a:ln/>
        </p:spPr>
        <p:txBody>
          <a:bodyPr wrap="square" lIns="0" tIns="0" rIns="0" bIns="0" rtlCol="0" anchor="t"/>
          <a:lstStyle/>
          <a:p>
            <a:pPr algn="ctr" indent="0" marL="0">
              <a:buNone/>
            </a:pPr>
            <a:r>
              <a:rPr lang="en-US" sz="1300" b="1" dirty="0">
                <a:solidFill>
                  <a:srgbClr val="BF5700"/>
                </a:solidFill>
                <a:latin typeface="Arial" pitchFamily="34" charset="0"/>
                <a:ea typeface="Arial" pitchFamily="34" charset="-122"/>
                <a:cs typeface="Arial" pitchFamily="34" charset="-120"/>
              </a:rPr>
              <a:t>Oaj Saini</a:t>
            </a:r>
            <a:endParaRPr lang="en-US" sz="1300" dirty="0"/>
          </a:p>
        </p:txBody>
      </p:sp>
      <p:sp>
        <p:nvSpPr>
          <p:cNvPr id="16" name="Text 14"/>
          <p:cNvSpPr txBox="1"/>
          <p:nvPr/>
        </p:nvSpPr>
        <p:spPr>
          <a:xfrm>
            <a:off x="685800" y="4663440"/>
            <a:ext cx="1874520" cy="640080"/>
          </a:xfrm>
          <a:prstGeom prst="rect">
            <a:avLst/>
          </a:prstGeom>
          <a:noFill/>
          <a:ln/>
        </p:spPr>
        <p:txBody>
          <a:bodyPr wrap="square" lIns="0" tIns="0" rIns="0" bIns="0" rtlCol="0" anchor="t"/>
          <a:lstStyle/>
          <a:p>
            <a:pPr algn="ctr" indent="0" marL="0">
              <a:buNone/>
            </a:pPr>
            <a:r>
              <a:rPr lang="en-US" sz="1200" dirty="0">
                <a:solidFill>
                  <a:srgbClr val="1A1F2B"/>
                </a:solidFill>
                <a:latin typeface="Calibri" pitchFamily="34" charset="0"/>
                <a:ea typeface="Calibri" pitchFamily="34" charset="-122"/>
                <a:cs typeface="Calibri" pitchFamily="34" charset="-120"/>
              </a:rPr>
              <a:t>Hardware &amp; setup: cameras, calibration, holders</a:t>
            </a:r>
            <a:endParaRPr lang="en-US" sz="1200" dirty="0"/>
          </a:p>
        </p:txBody>
      </p:sp>
      <p:sp>
        <p:nvSpPr>
          <p:cNvPr id="17" name="Shape 15"/>
          <p:cNvSpPr/>
          <p:nvPr/>
        </p:nvSpPr>
        <p:spPr>
          <a:xfrm>
            <a:off x="3909060" y="3886200"/>
            <a:ext cx="914" cy="320040"/>
          </a:xfrm>
          <a:prstGeom prst="line">
            <a:avLst/>
          </a:prstGeom>
          <a:noFill/>
          <a:ln w="19050">
            <a:solidFill>
              <a:srgbClr val="5B6472"/>
            </a:solidFill>
            <a:prstDash val="solid"/>
          </a:ln>
        </p:spPr>
      </p:sp>
      <p:sp>
        <p:nvSpPr>
          <p:cNvPr id="18" name="Shape 16"/>
          <p:cNvSpPr/>
          <p:nvPr/>
        </p:nvSpPr>
        <p:spPr>
          <a:xfrm>
            <a:off x="2834640" y="4206240"/>
            <a:ext cx="2148840" cy="1188720"/>
          </a:xfrm>
          <a:prstGeom prst="roundRect">
            <a:avLst>
              <a:gd name="adj" fmla="val 6154"/>
            </a:avLst>
          </a:prstGeom>
          <a:solidFill>
            <a:srgbClr val="F6E3D6"/>
          </a:solidFill>
          <a:ln w="12700">
            <a:solidFill>
              <a:srgbClr val="F6E3D6"/>
            </a:solidFill>
            <a:prstDash val="solid"/>
          </a:ln>
        </p:spPr>
      </p:sp>
      <p:sp>
        <p:nvSpPr>
          <p:cNvPr id="19" name="Text 17"/>
          <p:cNvSpPr txBox="1"/>
          <p:nvPr/>
        </p:nvSpPr>
        <p:spPr>
          <a:xfrm>
            <a:off x="2971800" y="4315968"/>
            <a:ext cx="1874520" cy="347472"/>
          </a:xfrm>
          <a:prstGeom prst="rect">
            <a:avLst/>
          </a:prstGeom>
          <a:noFill/>
          <a:ln/>
        </p:spPr>
        <p:txBody>
          <a:bodyPr wrap="square" lIns="0" tIns="0" rIns="0" bIns="0" rtlCol="0" anchor="t"/>
          <a:lstStyle/>
          <a:p>
            <a:pPr algn="ctr" indent="0" marL="0">
              <a:buNone/>
            </a:pPr>
            <a:r>
              <a:rPr lang="en-US" sz="1300" b="1" dirty="0">
                <a:solidFill>
                  <a:srgbClr val="BF5700"/>
                </a:solidFill>
                <a:latin typeface="Arial" pitchFamily="34" charset="0"/>
                <a:ea typeface="Arial" pitchFamily="34" charset="-122"/>
                <a:cs typeface="Arial" pitchFamily="34" charset="-120"/>
              </a:rPr>
              <a:t>Asiya Sunesara</a:t>
            </a:r>
            <a:endParaRPr lang="en-US" sz="1300" dirty="0"/>
          </a:p>
        </p:txBody>
      </p:sp>
      <p:sp>
        <p:nvSpPr>
          <p:cNvPr id="20" name="Text 18"/>
          <p:cNvSpPr txBox="1"/>
          <p:nvPr/>
        </p:nvSpPr>
        <p:spPr>
          <a:xfrm>
            <a:off x="2971800" y="4663440"/>
            <a:ext cx="1874520" cy="640080"/>
          </a:xfrm>
          <a:prstGeom prst="rect">
            <a:avLst/>
          </a:prstGeom>
          <a:noFill/>
          <a:ln/>
        </p:spPr>
        <p:txBody>
          <a:bodyPr wrap="square" lIns="0" tIns="0" rIns="0" bIns="0" rtlCol="0" anchor="t"/>
          <a:lstStyle/>
          <a:p>
            <a:pPr algn="ctr" indent="0" marL="0">
              <a:buNone/>
            </a:pPr>
            <a:r>
              <a:rPr lang="en-US" sz="1200" dirty="0">
                <a:solidFill>
                  <a:srgbClr val="1A1F2B"/>
                </a:solidFill>
                <a:latin typeface="Calibri" pitchFamily="34" charset="0"/>
                <a:ea typeface="Calibri" pitchFamily="34" charset="-122"/>
                <a:cs typeface="Calibri" pitchFamily="34" charset="-120"/>
              </a:rPr>
              <a:t>Pipeline: OpenCap, Bertec sync, OpenSim</a:t>
            </a:r>
            <a:endParaRPr lang="en-US" sz="1200" dirty="0"/>
          </a:p>
        </p:txBody>
      </p:sp>
      <p:sp>
        <p:nvSpPr>
          <p:cNvPr id="21" name="Shape 19"/>
          <p:cNvSpPr/>
          <p:nvPr/>
        </p:nvSpPr>
        <p:spPr>
          <a:xfrm>
            <a:off x="6195060" y="3886200"/>
            <a:ext cx="914" cy="320040"/>
          </a:xfrm>
          <a:prstGeom prst="line">
            <a:avLst/>
          </a:prstGeom>
          <a:noFill/>
          <a:ln w="19050">
            <a:solidFill>
              <a:srgbClr val="5B6472"/>
            </a:solidFill>
            <a:prstDash val="solid"/>
          </a:ln>
        </p:spPr>
      </p:sp>
      <p:sp>
        <p:nvSpPr>
          <p:cNvPr id="22" name="Shape 20"/>
          <p:cNvSpPr/>
          <p:nvPr/>
        </p:nvSpPr>
        <p:spPr>
          <a:xfrm>
            <a:off x="5120640" y="4206240"/>
            <a:ext cx="2148840" cy="1188720"/>
          </a:xfrm>
          <a:prstGeom prst="roundRect">
            <a:avLst>
              <a:gd name="adj" fmla="val 6154"/>
            </a:avLst>
          </a:prstGeom>
          <a:solidFill>
            <a:srgbClr val="F6E3D6"/>
          </a:solidFill>
          <a:ln w="12700">
            <a:solidFill>
              <a:srgbClr val="F6E3D6"/>
            </a:solidFill>
            <a:prstDash val="solid"/>
          </a:ln>
        </p:spPr>
      </p:sp>
      <p:sp>
        <p:nvSpPr>
          <p:cNvPr id="23" name="Text 21"/>
          <p:cNvSpPr txBox="1"/>
          <p:nvPr/>
        </p:nvSpPr>
        <p:spPr>
          <a:xfrm>
            <a:off x="5257800" y="4315968"/>
            <a:ext cx="1874520" cy="347472"/>
          </a:xfrm>
          <a:prstGeom prst="rect">
            <a:avLst/>
          </a:prstGeom>
          <a:noFill/>
          <a:ln/>
        </p:spPr>
        <p:txBody>
          <a:bodyPr wrap="square" lIns="0" tIns="0" rIns="0" bIns="0" rtlCol="0" anchor="t"/>
          <a:lstStyle/>
          <a:p>
            <a:pPr algn="ctr" indent="0" marL="0">
              <a:buNone/>
            </a:pPr>
            <a:r>
              <a:rPr lang="en-US" sz="1300" b="1" dirty="0">
                <a:solidFill>
                  <a:srgbClr val="BF5700"/>
                </a:solidFill>
                <a:latin typeface="Arial" pitchFamily="34" charset="0"/>
                <a:ea typeface="Arial" pitchFamily="34" charset="-122"/>
                <a:cs typeface="Arial" pitchFamily="34" charset="-120"/>
              </a:rPr>
              <a:t>Tarun Muruganandham</a:t>
            </a:r>
            <a:endParaRPr lang="en-US" sz="1300" dirty="0"/>
          </a:p>
        </p:txBody>
      </p:sp>
      <p:sp>
        <p:nvSpPr>
          <p:cNvPr id="24" name="Text 22"/>
          <p:cNvSpPr txBox="1"/>
          <p:nvPr/>
        </p:nvSpPr>
        <p:spPr>
          <a:xfrm>
            <a:off x="5257800" y="4663440"/>
            <a:ext cx="1874520" cy="640080"/>
          </a:xfrm>
          <a:prstGeom prst="rect">
            <a:avLst/>
          </a:prstGeom>
          <a:noFill/>
          <a:ln/>
        </p:spPr>
        <p:txBody>
          <a:bodyPr wrap="square" lIns="0" tIns="0" rIns="0" bIns="0" rtlCol="0" anchor="t"/>
          <a:lstStyle/>
          <a:p>
            <a:pPr algn="ctr" indent="0" marL="0">
              <a:buNone/>
            </a:pPr>
            <a:r>
              <a:rPr lang="en-US" sz="1200" dirty="0">
                <a:solidFill>
                  <a:srgbClr val="1A1F2B"/>
                </a:solidFill>
                <a:latin typeface="Calibri" pitchFamily="34" charset="0"/>
                <a:ea typeface="Calibri" pitchFamily="34" charset="-122"/>
                <a:cs typeface="Calibri" pitchFamily="34" charset="-120"/>
              </a:rPr>
              <a:t>Analysis: metrics, figures, poster</a:t>
            </a:r>
            <a:endParaRPr lang="en-US" sz="1200" dirty="0"/>
          </a:p>
        </p:txBody>
      </p:sp>
      <p:sp>
        <p:nvSpPr>
          <p:cNvPr id="25" name="Text 23"/>
          <p:cNvSpPr txBox="1"/>
          <p:nvPr/>
        </p:nvSpPr>
        <p:spPr>
          <a:xfrm>
            <a:off x="548640" y="5577840"/>
            <a:ext cx="6675120" cy="457200"/>
          </a:xfrm>
          <a:prstGeom prst="rect">
            <a:avLst/>
          </a:prstGeom>
          <a:noFill/>
          <a:ln/>
        </p:spPr>
        <p:txBody>
          <a:bodyPr wrap="square" lIns="0" tIns="0" rIns="0" bIns="0" rtlCol="0" anchor="t"/>
          <a:lstStyle/>
          <a:p>
            <a:pPr indent="0" marL="0">
              <a:buNone/>
            </a:pPr>
            <a:r>
              <a:rPr lang="en-US" sz="1200" i="1" dirty="0">
                <a:solidFill>
                  <a:srgbClr val="5B6472"/>
                </a:solidFill>
                <a:latin typeface="Calibri" pitchFamily="34" charset="0"/>
                <a:ea typeface="Calibri" pitchFamily="34" charset="-122"/>
                <a:cs typeface="Calibri" pitchFamily="34" charset="-120"/>
              </a:rPr>
              <a:t>Everyone collects data together; the lead owns that piece and keeps it on schedule.</a:t>
            </a:r>
            <a:endParaRPr lang="en-US" sz="1200" dirty="0"/>
          </a:p>
        </p:txBody>
      </p:sp>
      <p:sp>
        <p:nvSpPr>
          <p:cNvPr id="26" name="Shape 24"/>
          <p:cNvSpPr/>
          <p:nvPr/>
        </p:nvSpPr>
        <p:spPr>
          <a:xfrm>
            <a:off x="7635240" y="1417320"/>
            <a:ext cx="4023360" cy="4754880"/>
          </a:xfrm>
          <a:prstGeom prst="roundRect">
            <a:avLst>
              <a:gd name="adj" fmla="val 1818"/>
            </a:avLst>
          </a:prstGeom>
          <a:solidFill>
            <a:srgbClr val="F1F3F6"/>
          </a:solidFill>
          <a:ln w="12700">
            <a:solidFill>
              <a:srgbClr val="F1F3F6"/>
            </a:solidFill>
            <a:prstDash val="solid"/>
          </a:ln>
        </p:spPr>
      </p:sp>
      <p:sp>
        <p:nvSpPr>
          <p:cNvPr id="27" name="Text 25"/>
          <p:cNvSpPr txBox="1"/>
          <p:nvPr/>
        </p:nvSpPr>
        <p:spPr>
          <a:xfrm>
            <a:off x="7909560" y="1645920"/>
            <a:ext cx="3566160" cy="365760"/>
          </a:xfrm>
          <a:prstGeom prst="rect">
            <a:avLst/>
          </a:prstGeom>
          <a:noFill/>
          <a:ln/>
        </p:spPr>
        <p:txBody>
          <a:bodyPr wrap="square" lIns="0" tIns="0" rIns="0" bIns="0" rtlCol="0" anchor="t"/>
          <a:lstStyle/>
          <a:p>
            <a:pPr indent="0" marL="0">
              <a:buNone/>
            </a:pPr>
            <a:r>
              <a:rPr lang="en-US" sz="1800" b="1" dirty="0">
                <a:solidFill>
                  <a:srgbClr val="1A1F2B"/>
                </a:solidFill>
                <a:latin typeface="Arial" pitchFamily="34" charset="0"/>
                <a:ea typeface="Arial" pitchFamily="34" charset="-122"/>
                <a:cs typeface="Arial" pitchFamily="34" charset="-120"/>
              </a:rPr>
              <a:t>How we report</a:t>
            </a:r>
            <a:endParaRPr lang="en-US" sz="1800" dirty="0"/>
          </a:p>
        </p:txBody>
      </p:sp>
      <p:sp>
        <p:nvSpPr>
          <p:cNvPr id="28" name="Shape 26"/>
          <p:cNvSpPr/>
          <p:nvPr/>
        </p:nvSpPr>
        <p:spPr>
          <a:xfrm>
            <a:off x="7909560" y="2240280"/>
            <a:ext cx="457200" cy="457200"/>
          </a:xfrm>
          <a:prstGeom prst="ellipse">
            <a:avLst/>
          </a:prstGeom>
          <a:solidFill>
            <a:srgbClr val="BF5700"/>
          </a:solidFill>
          <a:ln w="12700">
            <a:solidFill>
              <a:srgbClr val="BF5700"/>
            </a:solidFill>
            <a:prstDash val="solid"/>
          </a:ln>
        </p:spPr>
      </p:sp>
      <p:pic>
        <p:nvPicPr>
          <p:cNvPr id="29" name="Image 0" descr="preencoded.png">    </p:cNvPr>
          <p:cNvPicPr>
            <a:picLocks noChangeAspect="1"/>
          </p:cNvPicPr>
          <p:nvPr/>
        </p:nvPicPr>
        <p:blipFill>
          <a:blip r:embed="rId1"/>
          <a:stretch>
            <a:fillRect/>
          </a:stretch>
        </p:blipFill>
        <p:spPr>
          <a:xfrm>
            <a:off x="8023860" y="2354580"/>
            <a:ext cx="228600" cy="228600"/>
          </a:xfrm>
          <a:prstGeom prst="rect">
            <a:avLst/>
          </a:prstGeom>
        </p:spPr>
      </p:pic>
      <p:sp>
        <p:nvSpPr>
          <p:cNvPr id="30" name="Text 27"/>
          <p:cNvSpPr txBox="1"/>
          <p:nvPr/>
        </p:nvSpPr>
        <p:spPr>
          <a:xfrm>
            <a:off x="8549640" y="2203704"/>
            <a:ext cx="2926080" cy="274320"/>
          </a:xfrm>
          <a:prstGeom prst="rect">
            <a:avLst/>
          </a:prstGeom>
          <a:noFill/>
          <a:ln/>
        </p:spPr>
        <p:txBody>
          <a:bodyPr wrap="square" lIns="0" tIns="0" rIns="0" bIns="0" rtlCol="0" anchor="t"/>
          <a:lstStyle/>
          <a:p>
            <a:pPr indent="0" marL="0">
              <a:buNone/>
            </a:pPr>
            <a:r>
              <a:rPr lang="en-US" sz="1300" b="1" dirty="0">
                <a:solidFill>
                  <a:srgbClr val="1A1F2B"/>
                </a:solidFill>
                <a:latin typeface="Calibri" pitchFamily="34" charset="0"/>
                <a:ea typeface="Calibri" pitchFamily="34" charset="-122"/>
                <a:cs typeface="Calibri" pitchFamily="34" charset="-120"/>
              </a:rPr>
              <a:t>Weekly</a:t>
            </a:r>
            <a:endParaRPr lang="en-US" sz="1300" dirty="0"/>
          </a:p>
        </p:txBody>
      </p:sp>
      <p:sp>
        <p:nvSpPr>
          <p:cNvPr id="31" name="Text 28"/>
          <p:cNvSpPr txBox="1"/>
          <p:nvPr/>
        </p:nvSpPr>
        <p:spPr>
          <a:xfrm>
            <a:off x="8549640" y="2478024"/>
            <a:ext cx="292608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Progress update to Finn during lab hours</a:t>
            </a:r>
            <a:endParaRPr lang="en-US" sz="1200" dirty="0"/>
          </a:p>
        </p:txBody>
      </p:sp>
      <p:sp>
        <p:nvSpPr>
          <p:cNvPr id="32" name="Shape 29"/>
          <p:cNvSpPr/>
          <p:nvPr/>
        </p:nvSpPr>
        <p:spPr>
          <a:xfrm>
            <a:off x="7909560" y="3182112"/>
            <a:ext cx="457200" cy="457200"/>
          </a:xfrm>
          <a:prstGeom prst="ellipse">
            <a:avLst/>
          </a:prstGeom>
          <a:solidFill>
            <a:srgbClr val="BF5700"/>
          </a:solidFill>
          <a:ln w="12700">
            <a:solidFill>
              <a:srgbClr val="BF5700"/>
            </a:solidFill>
            <a:prstDash val="solid"/>
          </a:ln>
        </p:spPr>
      </p:sp>
      <p:pic>
        <p:nvPicPr>
          <p:cNvPr id="33" name="Image 1" descr="preencoded.png">    </p:cNvPr>
          <p:cNvPicPr>
            <a:picLocks noChangeAspect="1"/>
          </p:cNvPicPr>
          <p:nvPr/>
        </p:nvPicPr>
        <p:blipFill>
          <a:blip r:embed="rId2"/>
          <a:stretch>
            <a:fillRect/>
          </a:stretch>
        </p:blipFill>
        <p:spPr>
          <a:xfrm>
            <a:off x="8023860" y="3296412"/>
            <a:ext cx="228600" cy="228600"/>
          </a:xfrm>
          <a:prstGeom prst="rect">
            <a:avLst/>
          </a:prstGeom>
        </p:spPr>
      </p:pic>
      <p:sp>
        <p:nvSpPr>
          <p:cNvPr id="34" name="Text 30"/>
          <p:cNvSpPr txBox="1"/>
          <p:nvPr/>
        </p:nvSpPr>
        <p:spPr>
          <a:xfrm>
            <a:off x="8549640" y="3145536"/>
            <a:ext cx="2926080" cy="274320"/>
          </a:xfrm>
          <a:prstGeom prst="rect">
            <a:avLst/>
          </a:prstGeom>
          <a:noFill/>
          <a:ln/>
        </p:spPr>
        <p:txBody>
          <a:bodyPr wrap="square" lIns="0" tIns="0" rIns="0" bIns="0" rtlCol="0" anchor="t"/>
          <a:lstStyle/>
          <a:p>
            <a:pPr indent="0" marL="0">
              <a:buNone/>
            </a:pPr>
            <a:r>
              <a:rPr lang="en-US" sz="1300" b="1" dirty="0">
                <a:solidFill>
                  <a:srgbClr val="1A1F2B"/>
                </a:solidFill>
                <a:latin typeface="Calibri" pitchFamily="34" charset="0"/>
                <a:ea typeface="Calibri" pitchFamily="34" charset="-122"/>
                <a:cs typeface="Calibri" pitchFamily="34" charset="-120"/>
              </a:rPr>
              <a:t>Weekly</a:t>
            </a:r>
            <a:endParaRPr lang="en-US" sz="1300" dirty="0"/>
          </a:p>
        </p:txBody>
      </p:sp>
      <p:sp>
        <p:nvSpPr>
          <p:cNvPr id="35" name="Text 31"/>
          <p:cNvSpPr txBox="1"/>
          <p:nvPr/>
        </p:nvSpPr>
        <p:spPr>
          <a:xfrm>
            <a:off x="8549640" y="3419856"/>
            <a:ext cx="292608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Consultation hour with Dr. Fey</a:t>
            </a:r>
            <a:endParaRPr lang="en-US" sz="1200" dirty="0"/>
          </a:p>
        </p:txBody>
      </p:sp>
      <p:sp>
        <p:nvSpPr>
          <p:cNvPr id="36" name="Shape 32"/>
          <p:cNvSpPr/>
          <p:nvPr/>
        </p:nvSpPr>
        <p:spPr>
          <a:xfrm>
            <a:off x="7909560" y="4123944"/>
            <a:ext cx="457200" cy="457200"/>
          </a:xfrm>
          <a:prstGeom prst="ellipse">
            <a:avLst/>
          </a:prstGeom>
          <a:solidFill>
            <a:srgbClr val="BF5700"/>
          </a:solidFill>
          <a:ln w="12700">
            <a:solidFill>
              <a:srgbClr val="BF5700"/>
            </a:solidFill>
            <a:prstDash val="solid"/>
          </a:ln>
        </p:spPr>
      </p:sp>
      <p:pic>
        <p:nvPicPr>
          <p:cNvPr id="37" name="Image 2" descr="preencoded.png">    </p:cNvPr>
          <p:cNvPicPr>
            <a:picLocks noChangeAspect="1"/>
          </p:cNvPicPr>
          <p:nvPr/>
        </p:nvPicPr>
        <p:blipFill>
          <a:blip r:embed="rId3"/>
          <a:stretch>
            <a:fillRect/>
          </a:stretch>
        </p:blipFill>
        <p:spPr>
          <a:xfrm>
            <a:off x="8023860" y="4238244"/>
            <a:ext cx="228600" cy="228600"/>
          </a:xfrm>
          <a:prstGeom prst="rect">
            <a:avLst/>
          </a:prstGeom>
        </p:spPr>
      </p:pic>
      <p:sp>
        <p:nvSpPr>
          <p:cNvPr id="38" name="Text 33"/>
          <p:cNvSpPr txBox="1"/>
          <p:nvPr/>
        </p:nvSpPr>
        <p:spPr>
          <a:xfrm>
            <a:off x="8549640" y="4087368"/>
            <a:ext cx="2926080" cy="274320"/>
          </a:xfrm>
          <a:prstGeom prst="rect">
            <a:avLst/>
          </a:prstGeom>
          <a:noFill/>
          <a:ln/>
        </p:spPr>
        <p:txBody>
          <a:bodyPr wrap="square" lIns="0" tIns="0" rIns="0" bIns="0" rtlCol="0" anchor="t"/>
          <a:lstStyle/>
          <a:p>
            <a:pPr indent="0" marL="0">
              <a:buNone/>
            </a:pPr>
            <a:r>
              <a:rPr lang="en-US" sz="1300" b="1" dirty="0">
                <a:solidFill>
                  <a:srgbClr val="1A1F2B"/>
                </a:solidFill>
                <a:latin typeface="Calibri" pitchFamily="34" charset="0"/>
                <a:ea typeface="Calibri" pitchFamily="34" charset="-122"/>
                <a:cs typeface="Calibri" pitchFamily="34" charset="-120"/>
              </a:rPr>
              <a:t>Every session</a:t>
            </a:r>
            <a:endParaRPr lang="en-US" sz="1300" dirty="0"/>
          </a:p>
        </p:txBody>
      </p:sp>
      <p:sp>
        <p:nvSpPr>
          <p:cNvPr id="39" name="Text 34"/>
          <p:cNvSpPr txBox="1"/>
          <p:nvPr/>
        </p:nvSpPr>
        <p:spPr>
          <a:xfrm>
            <a:off x="8549640" y="4361688"/>
            <a:ext cx="292608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Shared log: date, setup, trials, problems</a:t>
            </a:r>
            <a:endParaRPr lang="en-US" sz="1200" dirty="0"/>
          </a:p>
        </p:txBody>
      </p:sp>
      <p:sp>
        <p:nvSpPr>
          <p:cNvPr id="40" name="Shape 35"/>
          <p:cNvSpPr/>
          <p:nvPr/>
        </p:nvSpPr>
        <p:spPr>
          <a:xfrm>
            <a:off x="7909560" y="5065776"/>
            <a:ext cx="457200" cy="457200"/>
          </a:xfrm>
          <a:prstGeom prst="ellipse">
            <a:avLst/>
          </a:prstGeom>
          <a:solidFill>
            <a:srgbClr val="BF5700"/>
          </a:solidFill>
          <a:ln w="12700">
            <a:solidFill>
              <a:srgbClr val="BF5700"/>
            </a:solidFill>
            <a:prstDash val="solid"/>
          </a:ln>
        </p:spPr>
      </p:sp>
      <p:pic>
        <p:nvPicPr>
          <p:cNvPr id="41" name="Image 3" descr="preencoded.png">    </p:cNvPr>
          <p:cNvPicPr>
            <a:picLocks noChangeAspect="1"/>
          </p:cNvPicPr>
          <p:nvPr/>
        </p:nvPicPr>
        <p:blipFill>
          <a:blip r:embed="rId4"/>
          <a:stretch>
            <a:fillRect/>
          </a:stretch>
        </p:blipFill>
        <p:spPr>
          <a:xfrm>
            <a:off x="8023860" y="5180076"/>
            <a:ext cx="228600" cy="228600"/>
          </a:xfrm>
          <a:prstGeom prst="rect">
            <a:avLst/>
          </a:prstGeom>
        </p:spPr>
      </p:pic>
      <p:sp>
        <p:nvSpPr>
          <p:cNvPr id="42" name="Text 36"/>
          <p:cNvSpPr txBox="1"/>
          <p:nvPr/>
        </p:nvSpPr>
        <p:spPr>
          <a:xfrm>
            <a:off x="8549640" y="5029200"/>
            <a:ext cx="2926080" cy="274320"/>
          </a:xfrm>
          <a:prstGeom prst="rect">
            <a:avLst/>
          </a:prstGeom>
          <a:noFill/>
          <a:ln/>
        </p:spPr>
        <p:txBody>
          <a:bodyPr wrap="square" lIns="0" tIns="0" rIns="0" bIns="0" rtlCol="0" anchor="t"/>
          <a:lstStyle/>
          <a:p>
            <a:pPr indent="0" marL="0">
              <a:buNone/>
            </a:pPr>
            <a:r>
              <a:rPr lang="en-US" sz="1300" b="1" dirty="0">
                <a:solidFill>
                  <a:srgbClr val="1A1F2B"/>
                </a:solidFill>
                <a:latin typeface="Calibri" pitchFamily="34" charset="0"/>
                <a:ea typeface="Calibri" pitchFamily="34" charset="-122"/>
                <a:cs typeface="Calibri" pitchFamily="34" charset="-120"/>
              </a:rPr>
              <a:t>Always</a:t>
            </a:r>
            <a:endParaRPr lang="en-US" sz="1300" dirty="0"/>
          </a:p>
        </p:txBody>
      </p:sp>
      <p:sp>
        <p:nvSpPr>
          <p:cNvPr id="43" name="Text 37"/>
          <p:cNvSpPr txBox="1"/>
          <p:nvPr/>
        </p:nvSpPr>
        <p:spPr>
          <a:xfrm>
            <a:off x="8549640" y="5303520"/>
            <a:ext cx="292608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Raw videos and data backed up to the lab drive</a:t>
            </a:r>
            <a:endParaRPr lang="en-US" sz="1200" dirty="0"/>
          </a:p>
        </p:txBody>
      </p:sp>
      <p:sp>
        <p:nvSpPr>
          <p:cNvPr id="44" name="Text 38"/>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MILESTONES &amp; DELIVERABLES</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Checkpoints in time vs. finished work</a:t>
            </a:r>
            <a:endParaRPr lang="en-US" sz="3200" dirty="0"/>
          </a:p>
        </p:txBody>
      </p:sp>
      <p:sp>
        <p:nvSpPr>
          <p:cNvPr id="4" name="Text 2"/>
          <p:cNvSpPr txBox="1"/>
          <p:nvPr/>
        </p:nvSpPr>
        <p:spPr>
          <a:xfrm>
            <a:off x="548640" y="1143000"/>
            <a:ext cx="10972800" cy="320040"/>
          </a:xfrm>
          <a:prstGeom prst="rect">
            <a:avLst/>
          </a:prstGeom>
          <a:noFill/>
          <a:ln/>
        </p:spPr>
        <p:txBody>
          <a:bodyPr wrap="square" lIns="0" tIns="0" rIns="0" bIns="0" rtlCol="0" anchor="t"/>
          <a:lstStyle/>
          <a:p>
            <a:pPr indent="0" marL="0">
              <a:buNone/>
            </a:pPr>
            <a:r>
              <a:rPr lang="en-US" sz="1400" i="1" dirty="0">
                <a:solidFill>
                  <a:srgbClr val="5B6472"/>
                </a:solidFill>
                <a:latin typeface="Calibri" pitchFamily="34" charset="0"/>
                <a:ea typeface="Calibri" pitchFamily="34" charset="-122"/>
                <a:cs typeface="Calibri" pitchFamily="34" charset="-120"/>
              </a:rPr>
              <a:t>A milestone is a point in the schedule. A deliverable is work that is actually finished and handed over.</a:t>
            </a:r>
            <a:endParaRPr lang="en-US" sz="1400" dirty="0"/>
          </a:p>
        </p:txBody>
      </p:sp>
      <p:sp>
        <p:nvSpPr>
          <p:cNvPr id="5" name="Shape 3"/>
          <p:cNvSpPr/>
          <p:nvPr/>
        </p:nvSpPr>
        <p:spPr>
          <a:xfrm>
            <a:off x="548640" y="1691640"/>
            <a:ext cx="502920" cy="502920"/>
          </a:xfrm>
          <a:prstGeom prst="ellipse">
            <a:avLst/>
          </a:prstGeom>
          <a:solidFill>
            <a:srgbClr val="1A1F2B"/>
          </a:solidFill>
          <a:ln w="12700">
            <a:solidFill>
              <a:srgbClr val="1A1F2B"/>
            </a:solidFill>
            <a:prstDash val="solid"/>
          </a:ln>
        </p:spPr>
      </p:sp>
      <p:pic>
        <p:nvPicPr>
          <p:cNvPr id="6" name="Image 0" descr="preencoded.png">    </p:cNvPr>
          <p:cNvPicPr>
            <a:picLocks noChangeAspect="1"/>
          </p:cNvPicPr>
          <p:nvPr/>
        </p:nvPicPr>
        <p:blipFill>
          <a:blip r:embed="rId1"/>
          <a:stretch>
            <a:fillRect/>
          </a:stretch>
        </p:blipFill>
        <p:spPr>
          <a:xfrm>
            <a:off x="674370" y="1817370"/>
            <a:ext cx="251460" cy="251460"/>
          </a:xfrm>
          <a:prstGeom prst="rect">
            <a:avLst/>
          </a:prstGeom>
        </p:spPr>
      </p:pic>
      <p:sp>
        <p:nvSpPr>
          <p:cNvPr id="7" name="Text 4"/>
          <p:cNvSpPr txBox="1"/>
          <p:nvPr/>
        </p:nvSpPr>
        <p:spPr>
          <a:xfrm>
            <a:off x="1188720" y="1691640"/>
            <a:ext cx="4114800" cy="502920"/>
          </a:xfrm>
          <a:prstGeom prst="rect">
            <a:avLst/>
          </a:prstGeom>
          <a:noFill/>
          <a:ln/>
        </p:spPr>
        <p:txBody>
          <a:bodyPr wrap="square" lIns="0" tIns="0" rIns="0" bIns="0" rtlCol="0" anchor="ctr"/>
          <a:lstStyle/>
          <a:p>
            <a:pPr indent="0" marL="0">
              <a:buNone/>
            </a:pPr>
            <a:r>
              <a:rPr lang="en-US" sz="2000" b="1" dirty="0">
                <a:solidFill>
                  <a:srgbClr val="1A1F2B"/>
                </a:solidFill>
                <a:latin typeface="Arial" pitchFamily="34" charset="0"/>
                <a:ea typeface="Arial" pitchFamily="34" charset="-122"/>
                <a:cs typeface="Arial" pitchFamily="34" charset="-120"/>
              </a:rPr>
              <a:t>Milestones</a:t>
            </a:r>
            <a:endParaRPr lang="en-US" sz="2000" dirty="0"/>
          </a:p>
        </p:txBody>
      </p:sp>
      <p:sp>
        <p:nvSpPr>
          <p:cNvPr id="8" name="Shape 5"/>
          <p:cNvSpPr/>
          <p:nvPr/>
        </p:nvSpPr>
        <p:spPr>
          <a:xfrm>
            <a:off x="548640" y="2468880"/>
            <a:ext cx="5349240" cy="585216"/>
          </a:xfrm>
          <a:prstGeom prst="roundRect">
            <a:avLst>
              <a:gd name="adj" fmla="val 12500"/>
            </a:avLst>
          </a:prstGeom>
          <a:solidFill>
            <a:srgbClr val="E6F0E9"/>
          </a:solidFill>
          <a:ln w="12700">
            <a:solidFill>
              <a:srgbClr val="E6F0E9"/>
            </a:solidFill>
            <a:prstDash val="solid"/>
          </a:ln>
        </p:spPr>
      </p:sp>
      <p:sp>
        <p:nvSpPr>
          <p:cNvPr id="9" name="Text 6"/>
          <p:cNvSpPr txBox="1"/>
          <p:nvPr/>
        </p:nvSpPr>
        <p:spPr>
          <a:xfrm>
            <a:off x="685800" y="2468880"/>
            <a:ext cx="502920" cy="58521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M1</a:t>
            </a:r>
            <a:endParaRPr lang="en-US" sz="1400" dirty="0"/>
          </a:p>
        </p:txBody>
      </p:sp>
      <p:sp>
        <p:nvSpPr>
          <p:cNvPr id="10" name="Text 7"/>
          <p:cNvSpPr txBox="1"/>
          <p:nvPr/>
        </p:nvSpPr>
        <p:spPr>
          <a:xfrm>
            <a:off x="1188720" y="246888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Two-phone OpenCap capture working</a:t>
            </a:r>
            <a:endParaRPr lang="en-US" sz="1400" dirty="0"/>
          </a:p>
        </p:txBody>
      </p:sp>
      <p:sp>
        <p:nvSpPr>
          <p:cNvPr id="11" name="Text 8"/>
          <p:cNvSpPr txBox="1"/>
          <p:nvPr/>
        </p:nvSpPr>
        <p:spPr>
          <a:xfrm>
            <a:off x="4572000" y="2468880"/>
            <a:ext cx="1188720" cy="585216"/>
          </a:xfrm>
          <a:prstGeom prst="rect">
            <a:avLst/>
          </a:prstGeom>
          <a:noFill/>
          <a:ln/>
        </p:spPr>
        <p:txBody>
          <a:bodyPr wrap="square" lIns="0" tIns="0" rIns="0" bIns="0" rtlCol="0" anchor="ctr"/>
          <a:lstStyle/>
          <a:p>
            <a:pPr algn="r" indent="0" marL="0">
              <a:buNone/>
            </a:pPr>
            <a:r>
              <a:rPr lang="en-US" sz="1300" b="1" dirty="0">
                <a:solidFill>
                  <a:srgbClr val="3B7D4F"/>
                </a:solidFill>
                <a:latin typeface="Calibri" pitchFamily="34" charset="0"/>
                <a:ea typeface="Calibri" pitchFamily="34" charset="-122"/>
                <a:cs typeface="Calibri" pitchFamily="34" charset="-120"/>
              </a:rPr>
              <a:t>Done ✓</a:t>
            </a:r>
            <a:endParaRPr lang="en-US" sz="1300" dirty="0"/>
          </a:p>
        </p:txBody>
      </p:sp>
      <p:sp>
        <p:nvSpPr>
          <p:cNvPr id="12" name="Shape 9"/>
          <p:cNvSpPr/>
          <p:nvPr/>
        </p:nvSpPr>
        <p:spPr>
          <a:xfrm>
            <a:off x="548640" y="3200400"/>
            <a:ext cx="5349240" cy="585216"/>
          </a:xfrm>
          <a:prstGeom prst="roundRect">
            <a:avLst>
              <a:gd name="adj" fmla="val 12500"/>
            </a:avLst>
          </a:prstGeom>
          <a:solidFill>
            <a:srgbClr val="F1F3F6"/>
          </a:solidFill>
          <a:ln w="12700">
            <a:solidFill>
              <a:srgbClr val="F1F3F6"/>
            </a:solidFill>
            <a:prstDash val="solid"/>
          </a:ln>
        </p:spPr>
      </p:sp>
      <p:sp>
        <p:nvSpPr>
          <p:cNvPr id="13" name="Text 10"/>
          <p:cNvSpPr txBox="1"/>
          <p:nvPr/>
        </p:nvSpPr>
        <p:spPr>
          <a:xfrm>
            <a:off x="685800" y="3200400"/>
            <a:ext cx="502920" cy="58521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M2</a:t>
            </a:r>
            <a:endParaRPr lang="en-US" sz="1400" dirty="0"/>
          </a:p>
        </p:txBody>
      </p:sp>
      <p:sp>
        <p:nvSpPr>
          <p:cNvPr id="14" name="Text 11"/>
          <p:cNvSpPr txBox="1"/>
          <p:nvPr/>
        </p:nvSpPr>
        <p:spPr>
          <a:xfrm>
            <a:off x="1188720" y="320040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First synced OpenCap + Theia3D trial</a:t>
            </a:r>
            <a:endParaRPr lang="en-US" sz="1400" dirty="0"/>
          </a:p>
        </p:txBody>
      </p:sp>
      <p:sp>
        <p:nvSpPr>
          <p:cNvPr id="15" name="Text 12"/>
          <p:cNvSpPr txBox="1"/>
          <p:nvPr/>
        </p:nvSpPr>
        <p:spPr>
          <a:xfrm>
            <a:off x="4572000" y="320040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Oct 16</a:t>
            </a:r>
            <a:endParaRPr lang="en-US" sz="1300" dirty="0"/>
          </a:p>
        </p:txBody>
      </p:sp>
      <p:sp>
        <p:nvSpPr>
          <p:cNvPr id="16" name="Shape 13"/>
          <p:cNvSpPr/>
          <p:nvPr/>
        </p:nvSpPr>
        <p:spPr>
          <a:xfrm>
            <a:off x="548640" y="3931920"/>
            <a:ext cx="5349240" cy="585216"/>
          </a:xfrm>
          <a:prstGeom prst="roundRect">
            <a:avLst>
              <a:gd name="adj" fmla="val 12500"/>
            </a:avLst>
          </a:prstGeom>
          <a:solidFill>
            <a:srgbClr val="F1F3F6"/>
          </a:solidFill>
          <a:ln w="12700">
            <a:solidFill>
              <a:srgbClr val="F1F3F6"/>
            </a:solidFill>
            <a:prstDash val="solid"/>
          </a:ln>
        </p:spPr>
      </p:sp>
      <p:sp>
        <p:nvSpPr>
          <p:cNvPr id="17" name="Text 14"/>
          <p:cNvSpPr txBox="1"/>
          <p:nvPr/>
        </p:nvSpPr>
        <p:spPr>
          <a:xfrm>
            <a:off x="685800" y="3931920"/>
            <a:ext cx="502920" cy="58521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M3</a:t>
            </a:r>
            <a:endParaRPr lang="en-US" sz="1400" dirty="0"/>
          </a:p>
        </p:txBody>
      </p:sp>
      <p:sp>
        <p:nvSpPr>
          <p:cNvPr id="18" name="Text 15"/>
          <p:cNvSpPr txBox="1"/>
          <p:nvPr/>
        </p:nvSpPr>
        <p:spPr>
          <a:xfrm>
            <a:off x="1188720" y="393192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First joint moments from OpenCap + Bertec</a:t>
            </a:r>
            <a:endParaRPr lang="en-US" sz="1400" dirty="0"/>
          </a:p>
        </p:txBody>
      </p:sp>
      <p:sp>
        <p:nvSpPr>
          <p:cNvPr id="19" name="Text 16"/>
          <p:cNvSpPr txBox="1"/>
          <p:nvPr/>
        </p:nvSpPr>
        <p:spPr>
          <a:xfrm>
            <a:off x="4572000" y="393192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Oct 30</a:t>
            </a:r>
            <a:endParaRPr lang="en-US" sz="1300" dirty="0"/>
          </a:p>
        </p:txBody>
      </p:sp>
      <p:sp>
        <p:nvSpPr>
          <p:cNvPr id="20" name="Shape 17"/>
          <p:cNvSpPr/>
          <p:nvPr/>
        </p:nvSpPr>
        <p:spPr>
          <a:xfrm>
            <a:off x="548640" y="4663440"/>
            <a:ext cx="5349240" cy="585216"/>
          </a:xfrm>
          <a:prstGeom prst="roundRect">
            <a:avLst>
              <a:gd name="adj" fmla="val 12500"/>
            </a:avLst>
          </a:prstGeom>
          <a:solidFill>
            <a:srgbClr val="F1F3F6"/>
          </a:solidFill>
          <a:ln w="12700">
            <a:solidFill>
              <a:srgbClr val="F1F3F6"/>
            </a:solidFill>
            <a:prstDash val="solid"/>
          </a:ln>
        </p:spPr>
      </p:sp>
      <p:sp>
        <p:nvSpPr>
          <p:cNvPr id="21" name="Text 18"/>
          <p:cNvSpPr txBox="1"/>
          <p:nvPr/>
        </p:nvSpPr>
        <p:spPr>
          <a:xfrm>
            <a:off x="685800" y="4663440"/>
            <a:ext cx="502920" cy="58521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M4</a:t>
            </a:r>
            <a:endParaRPr lang="en-US" sz="1400" dirty="0"/>
          </a:p>
        </p:txBody>
      </p:sp>
      <p:sp>
        <p:nvSpPr>
          <p:cNvPr id="22" name="Text 19"/>
          <p:cNvSpPr txBox="1"/>
          <p:nvPr/>
        </p:nvSpPr>
        <p:spPr>
          <a:xfrm>
            <a:off x="1188720" y="466344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All environments captured</a:t>
            </a:r>
            <a:endParaRPr lang="en-US" sz="1400" dirty="0"/>
          </a:p>
        </p:txBody>
      </p:sp>
      <p:sp>
        <p:nvSpPr>
          <p:cNvPr id="23" name="Text 20"/>
          <p:cNvSpPr txBox="1"/>
          <p:nvPr/>
        </p:nvSpPr>
        <p:spPr>
          <a:xfrm>
            <a:off x="4572000" y="466344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Nov 13</a:t>
            </a:r>
            <a:endParaRPr lang="en-US" sz="1300" dirty="0"/>
          </a:p>
        </p:txBody>
      </p:sp>
      <p:sp>
        <p:nvSpPr>
          <p:cNvPr id="24" name="Shape 21"/>
          <p:cNvSpPr/>
          <p:nvPr/>
        </p:nvSpPr>
        <p:spPr>
          <a:xfrm>
            <a:off x="548640" y="5394960"/>
            <a:ext cx="5349240" cy="585216"/>
          </a:xfrm>
          <a:prstGeom prst="roundRect">
            <a:avLst>
              <a:gd name="adj" fmla="val 12500"/>
            </a:avLst>
          </a:prstGeom>
          <a:solidFill>
            <a:srgbClr val="F1F3F6"/>
          </a:solidFill>
          <a:ln w="12700">
            <a:solidFill>
              <a:srgbClr val="F1F3F6"/>
            </a:solidFill>
            <a:prstDash val="solid"/>
          </a:ln>
        </p:spPr>
      </p:sp>
      <p:sp>
        <p:nvSpPr>
          <p:cNvPr id="25" name="Text 22"/>
          <p:cNvSpPr txBox="1"/>
          <p:nvPr/>
        </p:nvSpPr>
        <p:spPr>
          <a:xfrm>
            <a:off x="685800" y="5394960"/>
            <a:ext cx="502920" cy="58521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M5</a:t>
            </a:r>
            <a:endParaRPr lang="en-US" sz="1400" dirty="0"/>
          </a:p>
        </p:txBody>
      </p:sp>
      <p:sp>
        <p:nvSpPr>
          <p:cNvPr id="26" name="Text 23"/>
          <p:cNvSpPr txBox="1"/>
          <p:nvPr/>
        </p:nvSpPr>
        <p:spPr>
          <a:xfrm>
            <a:off x="1188720" y="539496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Analysis complete</a:t>
            </a:r>
            <a:endParaRPr lang="en-US" sz="1400" dirty="0"/>
          </a:p>
        </p:txBody>
      </p:sp>
      <p:sp>
        <p:nvSpPr>
          <p:cNvPr id="27" name="Text 24"/>
          <p:cNvSpPr txBox="1"/>
          <p:nvPr/>
        </p:nvSpPr>
        <p:spPr>
          <a:xfrm>
            <a:off x="4572000" y="539496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Nov 25</a:t>
            </a:r>
            <a:endParaRPr lang="en-US" sz="1300" dirty="0"/>
          </a:p>
        </p:txBody>
      </p:sp>
      <p:sp>
        <p:nvSpPr>
          <p:cNvPr id="28" name="Shape 25"/>
          <p:cNvSpPr/>
          <p:nvPr/>
        </p:nvSpPr>
        <p:spPr>
          <a:xfrm>
            <a:off x="6309360" y="1691640"/>
            <a:ext cx="502920" cy="502920"/>
          </a:xfrm>
          <a:prstGeom prst="ellipse">
            <a:avLst/>
          </a:prstGeom>
          <a:solidFill>
            <a:srgbClr val="BF5700"/>
          </a:solidFill>
          <a:ln w="12700">
            <a:solidFill>
              <a:srgbClr val="BF5700"/>
            </a:solidFill>
            <a:prstDash val="solid"/>
          </a:ln>
        </p:spPr>
      </p:sp>
      <p:pic>
        <p:nvPicPr>
          <p:cNvPr id="29" name="Image 1" descr="preencoded.png">    </p:cNvPr>
          <p:cNvPicPr>
            <a:picLocks noChangeAspect="1"/>
          </p:cNvPicPr>
          <p:nvPr/>
        </p:nvPicPr>
        <p:blipFill>
          <a:blip r:embed="rId2"/>
          <a:stretch>
            <a:fillRect/>
          </a:stretch>
        </p:blipFill>
        <p:spPr>
          <a:xfrm>
            <a:off x="6435090" y="1817370"/>
            <a:ext cx="251460" cy="251460"/>
          </a:xfrm>
          <a:prstGeom prst="rect">
            <a:avLst/>
          </a:prstGeom>
        </p:spPr>
      </p:pic>
      <p:sp>
        <p:nvSpPr>
          <p:cNvPr id="30" name="Text 26"/>
          <p:cNvSpPr txBox="1"/>
          <p:nvPr/>
        </p:nvSpPr>
        <p:spPr>
          <a:xfrm>
            <a:off x="6949440" y="1691640"/>
            <a:ext cx="4114800" cy="502920"/>
          </a:xfrm>
          <a:prstGeom prst="rect">
            <a:avLst/>
          </a:prstGeom>
          <a:noFill/>
          <a:ln/>
        </p:spPr>
        <p:txBody>
          <a:bodyPr wrap="square" lIns="0" tIns="0" rIns="0" bIns="0" rtlCol="0" anchor="ctr"/>
          <a:lstStyle/>
          <a:p>
            <a:pPr indent="0" marL="0">
              <a:buNone/>
            </a:pPr>
            <a:r>
              <a:rPr lang="en-US" sz="2000" b="1" dirty="0">
                <a:solidFill>
                  <a:srgbClr val="BF5700"/>
                </a:solidFill>
                <a:latin typeface="Arial" pitchFamily="34" charset="0"/>
                <a:ea typeface="Arial" pitchFamily="34" charset="-122"/>
                <a:cs typeface="Arial" pitchFamily="34" charset="-120"/>
              </a:rPr>
              <a:t>Deliverables</a:t>
            </a:r>
            <a:endParaRPr lang="en-US" sz="2000" dirty="0"/>
          </a:p>
        </p:txBody>
      </p:sp>
      <p:sp>
        <p:nvSpPr>
          <p:cNvPr id="31" name="Shape 27"/>
          <p:cNvSpPr/>
          <p:nvPr/>
        </p:nvSpPr>
        <p:spPr>
          <a:xfrm>
            <a:off x="6309360" y="2468880"/>
            <a:ext cx="5349240" cy="585216"/>
          </a:xfrm>
          <a:prstGeom prst="roundRect">
            <a:avLst>
              <a:gd name="adj" fmla="val 12500"/>
            </a:avLst>
          </a:prstGeom>
          <a:solidFill>
            <a:srgbClr val="E6F0E9"/>
          </a:solidFill>
          <a:ln w="12700">
            <a:solidFill>
              <a:srgbClr val="E6F0E9"/>
            </a:solidFill>
            <a:prstDash val="solid"/>
          </a:ln>
        </p:spPr>
      </p:sp>
      <p:sp>
        <p:nvSpPr>
          <p:cNvPr id="32" name="Text 28"/>
          <p:cNvSpPr txBox="1"/>
          <p:nvPr/>
        </p:nvSpPr>
        <p:spPr>
          <a:xfrm>
            <a:off x="6446520" y="2468880"/>
            <a:ext cx="502920" cy="585216"/>
          </a:xfrm>
          <a:prstGeom prst="rect">
            <a:avLst/>
          </a:prstGeom>
          <a:noFill/>
          <a:ln/>
        </p:spPr>
        <p:txBody>
          <a:bodyPr wrap="square" lIns="0" tIns="0" rIns="0" bIns="0" rtlCol="0" anchor="ctr"/>
          <a:lstStyle/>
          <a:p>
            <a:pPr indent="0" marL="0">
              <a:buNone/>
            </a:pPr>
            <a:r>
              <a:rPr lang="en-US" sz="1400" b="1" dirty="0">
                <a:solidFill>
                  <a:srgbClr val="BF5700"/>
                </a:solidFill>
                <a:latin typeface="Calibri" pitchFamily="34" charset="0"/>
                <a:ea typeface="Calibri" pitchFamily="34" charset="-122"/>
                <a:cs typeface="Calibri" pitchFamily="34" charset="-120"/>
              </a:rPr>
              <a:t>D1</a:t>
            </a:r>
            <a:endParaRPr lang="en-US" sz="1400" dirty="0"/>
          </a:p>
        </p:txBody>
      </p:sp>
      <p:sp>
        <p:nvSpPr>
          <p:cNvPr id="33" name="Text 29"/>
          <p:cNvSpPr txBox="1"/>
          <p:nvPr/>
        </p:nvSpPr>
        <p:spPr>
          <a:xfrm>
            <a:off x="6949440" y="246888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Checkerboard holder CAD + print files</a:t>
            </a:r>
            <a:endParaRPr lang="en-US" sz="1400" dirty="0"/>
          </a:p>
        </p:txBody>
      </p:sp>
      <p:sp>
        <p:nvSpPr>
          <p:cNvPr id="34" name="Text 30"/>
          <p:cNvSpPr txBox="1"/>
          <p:nvPr/>
        </p:nvSpPr>
        <p:spPr>
          <a:xfrm>
            <a:off x="10332720" y="2468880"/>
            <a:ext cx="1188720" cy="585216"/>
          </a:xfrm>
          <a:prstGeom prst="rect">
            <a:avLst/>
          </a:prstGeom>
          <a:noFill/>
          <a:ln/>
        </p:spPr>
        <p:txBody>
          <a:bodyPr wrap="square" lIns="0" tIns="0" rIns="0" bIns="0" rtlCol="0" anchor="ctr"/>
          <a:lstStyle/>
          <a:p>
            <a:pPr algn="r" indent="0" marL="0">
              <a:buNone/>
            </a:pPr>
            <a:r>
              <a:rPr lang="en-US" sz="1300" b="1" dirty="0">
                <a:solidFill>
                  <a:srgbClr val="3B7D4F"/>
                </a:solidFill>
                <a:latin typeface="Calibri" pitchFamily="34" charset="0"/>
                <a:ea typeface="Calibri" pitchFamily="34" charset="-122"/>
                <a:cs typeface="Calibri" pitchFamily="34" charset="-120"/>
              </a:rPr>
              <a:t>Done ✓</a:t>
            </a:r>
            <a:endParaRPr lang="en-US" sz="1300" dirty="0"/>
          </a:p>
        </p:txBody>
      </p:sp>
      <p:sp>
        <p:nvSpPr>
          <p:cNvPr id="35" name="Shape 31"/>
          <p:cNvSpPr/>
          <p:nvPr/>
        </p:nvSpPr>
        <p:spPr>
          <a:xfrm>
            <a:off x="6309360" y="3200400"/>
            <a:ext cx="5349240" cy="585216"/>
          </a:xfrm>
          <a:prstGeom prst="roundRect">
            <a:avLst>
              <a:gd name="adj" fmla="val 12500"/>
            </a:avLst>
          </a:prstGeom>
          <a:solidFill>
            <a:srgbClr val="F1F3F6"/>
          </a:solidFill>
          <a:ln w="12700">
            <a:solidFill>
              <a:srgbClr val="F1F3F6"/>
            </a:solidFill>
            <a:prstDash val="solid"/>
          </a:ln>
        </p:spPr>
      </p:sp>
      <p:sp>
        <p:nvSpPr>
          <p:cNvPr id="36" name="Text 32"/>
          <p:cNvSpPr txBox="1"/>
          <p:nvPr/>
        </p:nvSpPr>
        <p:spPr>
          <a:xfrm>
            <a:off x="6446520" y="3200400"/>
            <a:ext cx="502920" cy="585216"/>
          </a:xfrm>
          <a:prstGeom prst="rect">
            <a:avLst/>
          </a:prstGeom>
          <a:noFill/>
          <a:ln/>
        </p:spPr>
        <p:txBody>
          <a:bodyPr wrap="square" lIns="0" tIns="0" rIns="0" bIns="0" rtlCol="0" anchor="ctr"/>
          <a:lstStyle/>
          <a:p>
            <a:pPr indent="0" marL="0">
              <a:buNone/>
            </a:pPr>
            <a:r>
              <a:rPr lang="en-US" sz="1400" b="1" dirty="0">
                <a:solidFill>
                  <a:srgbClr val="BF5700"/>
                </a:solidFill>
                <a:latin typeface="Calibri" pitchFamily="34" charset="0"/>
                <a:ea typeface="Calibri" pitchFamily="34" charset="-122"/>
                <a:cs typeface="Calibri" pitchFamily="34" charset="-120"/>
              </a:rPr>
              <a:t>D2</a:t>
            </a:r>
            <a:endParaRPr lang="en-US" sz="1400" dirty="0"/>
          </a:p>
        </p:txBody>
      </p:sp>
      <p:sp>
        <p:nvSpPr>
          <p:cNvPr id="37" name="Text 33"/>
          <p:cNvSpPr txBox="1"/>
          <p:nvPr/>
        </p:nvSpPr>
        <p:spPr>
          <a:xfrm>
            <a:off x="6949440" y="320040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Project proposal</a:t>
            </a:r>
            <a:endParaRPr lang="en-US" sz="1400" dirty="0"/>
          </a:p>
        </p:txBody>
      </p:sp>
      <p:sp>
        <p:nvSpPr>
          <p:cNvPr id="38" name="Text 34"/>
          <p:cNvSpPr txBox="1"/>
          <p:nvPr/>
        </p:nvSpPr>
        <p:spPr>
          <a:xfrm>
            <a:off x="10332720" y="320040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Oct</a:t>
            </a:r>
            <a:endParaRPr lang="en-US" sz="1300" dirty="0"/>
          </a:p>
        </p:txBody>
      </p:sp>
      <p:sp>
        <p:nvSpPr>
          <p:cNvPr id="39" name="Shape 35"/>
          <p:cNvSpPr/>
          <p:nvPr/>
        </p:nvSpPr>
        <p:spPr>
          <a:xfrm>
            <a:off x="6309360" y="3931920"/>
            <a:ext cx="5349240" cy="585216"/>
          </a:xfrm>
          <a:prstGeom prst="roundRect">
            <a:avLst>
              <a:gd name="adj" fmla="val 12500"/>
            </a:avLst>
          </a:prstGeom>
          <a:solidFill>
            <a:srgbClr val="F1F3F6"/>
          </a:solidFill>
          <a:ln w="12700">
            <a:solidFill>
              <a:srgbClr val="F1F3F6"/>
            </a:solidFill>
            <a:prstDash val="solid"/>
          </a:ln>
        </p:spPr>
      </p:sp>
      <p:sp>
        <p:nvSpPr>
          <p:cNvPr id="40" name="Text 36"/>
          <p:cNvSpPr txBox="1"/>
          <p:nvPr/>
        </p:nvSpPr>
        <p:spPr>
          <a:xfrm>
            <a:off x="6446520" y="3931920"/>
            <a:ext cx="502920" cy="585216"/>
          </a:xfrm>
          <a:prstGeom prst="rect">
            <a:avLst/>
          </a:prstGeom>
          <a:noFill/>
          <a:ln/>
        </p:spPr>
        <p:txBody>
          <a:bodyPr wrap="square" lIns="0" tIns="0" rIns="0" bIns="0" rtlCol="0" anchor="ctr"/>
          <a:lstStyle/>
          <a:p>
            <a:pPr indent="0" marL="0">
              <a:buNone/>
            </a:pPr>
            <a:r>
              <a:rPr lang="en-US" sz="1400" b="1" dirty="0">
                <a:solidFill>
                  <a:srgbClr val="BF5700"/>
                </a:solidFill>
                <a:latin typeface="Calibri" pitchFamily="34" charset="0"/>
                <a:ea typeface="Calibri" pitchFamily="34" charset="-122"/>
                <a:cs typeface="Calibri" pitchFamily="34" charset="-120"/>
              </a:rPr>
              <a:t>D3</a:t>
            </a:r>
            <a:endParaRPr lang="en-US" sz="1400" dirty="0"/>
          </a:p>
        </p:txBody>
      </p:sp>
      <p:sp>
        <p:nvSpPr>
          <p:cNvPr id="41" name="Text 37"/>
          <p:cNvSpPr txBox="1"/>
          <p:nvPr/>
        </p:nvSpPr>
        <p:spPr>
          <a:xfrm>
            <a:off x="6949440" y="393192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Lab setup guide for mobile capture</a:t>
            </a:r>
            <a:endParaRPr lang="en-US" sz="1400" dirty="0"/>
          </a:p>
        </p:txBody>
      </p:sp>
      <p:sp>
        <p:nvSpPr>
          <p:cNvPr id="42" name="Text 38"/>
          <p:cNvSpPr txBox="1"/>
          <p:nvPr/>
        </p:nvSpPr>
        <p:spPr>
          <a:xfrm>
            <a:off x="10332720" y="393192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Nov</a:t>
            </a:r>
            <a:endParaRPr lang="en-US" sz="1300" dirty="0"/>
          </a:p>
        </p:txBody>
      </p:sp>
      <p:sp>
        <p:nvSpPr>
          <p:cNvPr id="43" name="Shape 39"/>
          <p:cNvSpPr/>
          <p:nvPr/>
        </p:nvSpPr>
        <p:spPr>
          <a:xfrm>
            <a:off x="6309360" y="4663440"/>
            <a:ext cx="5349240" cy="585216"/>
          </a:xfrm>
          <a:prstGeom prst="roundRect">
            <a:avLst>
              <a:gd name="adj" fmla="val 12500"/>
            </a:avLst>
          </a:prstGeom>
          <a:solidFill>
            <a:srgbClr val="F1F3F6"/>
          </a:solidFill>
          <a:ln w="12700">
            <a:solidFill>
              <a:srgbClr val="F1F3F6"/>
            </a:solidFill>
            <a:prstDash val="solid"/>
          </a:ln>
        </p:spPr>
      </p:sp>
      <p:sp>
        <p:nvSpPr>
          <p:cNvPr id="44" name="Text 40"/>
          <p:cNvSpPr txBox="1"/>
          <p:nvPr/>
        </p:nvSpPr>
        <p:spPr>
          <a:xfrm>
            <a:off x="6446520" y="4663440"/>
            <a:ext cx="502920" cy="585216"/>
          </a:xfrm>
          <a:prstGeom prst="rect">
            <a:avLst/>
          </a:prstGeom>
          <a:noFill/>
          <a:ln/>
        </p:spPr>
        <p:txBody>
          <a:bodyPr wrap="square" lIns="0" tIns="0" rIns="0" bIns="0" rtlCol="0" anchor="ctr"/>
          <a:lstStyle/>
          <a:p>
            <a:pPr indent="0" marL="0">
              <a:buNone/>
            </a:pPr>
            <a:r>
              <a:rPr lang="en-US" sz="1400" b="1" dirty="0">
                <a:solidFill>
                  <a:srgbClr val="BF5700"/>
                </a:solidFill>
                <a:latin typeface="Calibri" pitchFamily="34" charset="0"/>
                <a:ea typeface="Calibri" pitchFamily="34" charset="-122"/>
                <a:cs typeface="Calibri" pitchFamily="34" charset="-120"/>
              </a:rPr>
              <a:t>D4</a:t>
            </a:r>
            <a:endParaRPr lang="en-US" sz="1400" dirty="0"/>
          </a:p>
        </p:txBody>
      </p:sp>
      <p:sp>
        <p:nvSpPr>
          <p:cNvPr id="45" name="Text 41"/>
          <p:cNvSpPr txBox="1"/>
          <p:nvPr/>
        </p:nvSpPr>
        <p:spPr>
          <a:xfrm>
            <a:off x="6949440" y="466344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Dataset + processing scripts</a:t>
            </a:r>
            <a:endParaRPr lang="en-US" sz="1400" dirty="0"/>
          </a:p>
        </p:txBody>
      </p:sp>
      <p:sp>
        <p:nvSpPr>
          <p:cNvPr id="46" name="Text 42"/>
          <p:cNvSpPr txBox="1"/>
          <p:nvPr/>
        </p:nvSpPr>
        <p:spPr>
          <a:xfrm>
            <a:off x="10332720" y="466344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Dec</a:t>
            </a:r>
            <a:endParaRPr lang="en-US" sz="1300" dirty="0"/>
          </a:p>
        </p:txBody>
      </p:sp>
      <p:sp>
        <p:nvSpPr>
          <p:cNvPr id="47" name="Shape 43"/>
          <p:cNvSpPr/>
          <p:nvPr/>
        </p:nvSpPr>
        <p:spPr>
          <a:xfrm>
            <a:off x="6309360" y="5394960"/>
            <a:ext cx="5349240" cy="585216"/>
          </a:xfrm>
          <a:prstGeom prst="roundRect">
            <a:avLst>
              <a:gd name="adj" fmla="val 12500"/>
            </a:avLst>
          </a:prstGeom>
          <a:solidFill>
            <a:srgbClr val="F1F3F6"/>
          </a:solidFill>
          <a:ln w="12700">
            <a:solidFill>
              <a:srgbClr val="F1F3F6"/>
            </a:solidFill>
            <a:prstDash val="solid"/>
          </a:ln>
        </p:spPr>
      </p:sp>
      <p:sp>
        <p:nvSpPr>
          <p:cNvPr id="48" name="Text 44"/>
          <p:cNvSpPr txBox="1"/>
          <p:nvPr/>
        </p:nvSpPr>
        <p:spPr>
          <a:xfrm>
            <a:off x="6446520" y="5394960"/>
            <a:ext cx="502920" cy="585216"/>
          </a:xfrm>
          <a:prstGeom prst="rect">
            <a:avLst/>
          </a:prstGeom>
          <a:noFill/>
          <a:ln/>
        </p:spPr>
        <p:txBody>
          <a:bodyPr wrap="square" lIns="0" tIns="0" rIns="0" bIns="0" rtlCol="0" anchor="ctr"/>
          <a:lstStyle/>
          <a:p>
            <a:pPr indent="0" marL="0">
              <a:buNone/>
            </a:pPr>
            <a:r>
              <a:rPr lang="en-US" sz="1400" b="1" dirty="0">
                <a:solidFill>
                  <a:srgbClr val="BF5700"/>
                </a:solidFill>
                <a:latin typeface="Calibri" pitchFamily="34" charset="0"/>
                <a:ea typeface="Calibri" pitchFamily="34" charset="-122"/>
                <a:cs typeface="Calibri" pitchFamily="34" charset="-120"/>
              </a:rPr>
              <a:t>D5</a:t>
            </a:r>
            <a:endParaRPr lang="en-US" sz="1400" dirty="0"/>
          </a:p>
        </p:txBody>
      </p:sp>
      <p:sp>
        <p:nvSpPr>
          <p:cNvPr id="49" name="Text 45"/>
          <p:cNvSpPr txBox="1"/>
          <p:nvPr/>
        </p:nvSpPr>
        <p:spPr>
          <a:xfrm>
            <a:off x="6949440" y="5394960"/>
            <a:ext cx="3383280" cy="585216"/>
          </a:xfrm>
          <a:prstGeom prst="rect">
            <a:avLst/>
          </a:prstGeom>
          <a:noFill/>
          <a:ln/>
        </p:spPr>
        <p:txBody>
          <a:bodyPr wrap="square" lIns="0" tIns="0" rIns="0" bIns="0" rtlCol="0" anchor="ctr"/>
          <a:lstStyle/>
          <a:p>
            <a:pPr indent="0" marL="0">
              <a:buNone/>
            </a:pPr>
            <a:r>
              <a:rPr lang="en-US" sz="1400" dirty="0">
                <a:solidFill>
                  <a:srgbClr val="1A1F2B"/>
                </a:solidFill>
                <a:latin typeface="Calibri" pitchFamily="34" charset="0"/>
                <a:ea typeface="Calibri" pitchFamily="34" charset="-122"/>
                <a:cs typeface="Calibri" pitchFamily="34" charset="-120"/>
              </a:rPr>
              <a:t>Poster, presentation, final report</a:t>
            </a:r>
            <a:endParaRPr lang="en-US" sz="1400" dirty="0"/>
          </a:p>
        </p:txBody>
      </p:sp>
      <p:sp>
        <p:nvSpPr>
          <p:cNvPr id="50" name="Text 46"/>
          <p:cNvSpPr txBox="1"/>
          <p:nvPr/>
        </p:nvSpPr>
        <p:spPr>
          <a:xfrm>
            <a:off x="10332720" y="5394960"/>
            <a:ext cx="1188720" cy="585216"/>
          </a:xfrm>
          <a:prstGeom prst="rect">
            <a:avLst/>
          </a:prstGeom>
          <a:noFill/>
          <a:ln/>
        </p:spPr>
        <p:txBody>
          <a:bodyPr wrap="square" lIns="0" tIns="0" rIns="0" bIns="0" rtlCol="0" anchor="ctr"/>
          <a:lstStyle/>
          <a:p>
            <a:pPr algn="r" indent="0" marL="0">
              <a:buNone/>
            </a:pPr>
            <a:r>
              <a:rPr lang="en-US" sz="1300" dirty="0">
                <a:solidFill>
                  <a:srgbClr val="5B6472"/>
                </a:solidFill>
                <a:latin typeface="Calibri" pitchFamily="34" charset="0"/>
                <a:ea typeface="Calibri" pitchFamily="34" charset="-122"/>
                <a:cs typeface="Calibri" pitchFamily="34" charset="-120"/>
              </a:rPr>
              <a:t>Dec</a:t>
            </a:r>
            <a:endParaRPr lang="en-US" sz="1300" dirty="0"/>
          </a:p>
        </p:txBody>
      </p:sp>
      <p:sp>
        <p:nvSpPr>
          <p:cNvPr id="51" name="Text 47"/>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SCHEDULE</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Gantt chart: Sep 7 to Dec 13</a:t>
            </a:r>
            <a:endParaRPr lang="en-US" sz="3200" dirty="0"/>
          </a:p>
        </p:txBody>
      </p:sp>
      <p:sp>
        <p:nvSpPr>
          <p:cNvPr id="4" name="Shape 2"/>
          <p:cNvSpPr/>
          <p:nvPr/>
        </p:nvSpPr>
        <p:spPr>
          <a:xfrm>
            <a:off x="3840480" y="1234440"/>
            <a:ext cx="2233749" cy="274320"/>
          </a:xfrm>
          <a:prstGeom prst="rect">
            <a:avLst/>
          </a:prstGeom>
          <a:solidFill>
            <a:srgbClr val="1A1F2B"/>
          </a:solidFill>
          <a:ln w="6350">
            <a:solidFill>
              <a:srgbClr val="FFFFFF"/>
            </a:solidFill>
            <a:prstDash val="solid"/>
          </a:ln>
        </p:spPr>
      </p:sp>
      <p:sp>
        <p:nvSpPr>
          <p:cNvPr id="5" name="Text 3"/>
          <p:cNvSpPr txBox="1"/>
          <p:nvPr/>
        </p:nvSpPr>
        <p:spPr>
          <a:xfrm>
            <a:off x="3840480" y="1234440"/>
            <a:ext cx="2233749"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SEP</a:t>
            </a:r>
            <a:endParaRPr lang="en-US" sz="1100" dirty="0"/>
          </a:p>
        </p:txBody>
      </p:sp>
      <p:sp>
        <p:nvSpPr>
          <p:cNvPr id="6" name="Shape 4"/>
          <p:cNvSpPr/>
          <p:nvPr/>
        </p:nvSpPr>
        <p:spPr>
          <a:xfrm>
            <a:off x="6074229" y="1234440"/>
            <a:ext cx="2233749" cy="274320"/>
          </a:xfrm>
          <a:prstGeom prst="rect">
            <a:avLst/>
          </a:prstGeom>
          <a:solidFill>
            <a:srgbClr val="2A3140"/>
          </a:solidFill>
          <a:ln w="6350">
            <a:solidFill>
              <a:srgbClr val="FFFFFF"/>
            </a:solidFill>
            <a:prstDash val="solid"/>
          </a:ln>
        </p:spPr>
      </p:sp>
      <p:sp>
        <p:nvSpPr>
          <p:cNvPr id="7" name="Text 5"/>
          <p:cNvSpPr txBox="1"/>
          <p:nvPr/>
        </p:nvSpPr>
        <p:spPr>
          <a:xfrm>
            <a:off x="6074229" y="1234440"/>
            <a:ext cx="2233749"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OCT</a:t>
            </a:r>
            <a:endParaRPr lang="en-US" sz="1100" dirty="0"/>
          </a:p>
        </p:txBody>
      </p:sp>
      <p:sp>
        <p:nvSpPr>
          <p:cNvPr id="8" name="Shape 6"/>
          <p:cNvSpPr/>
          <p:nvPr/>
        </p:nvSpPr>
        <p:spPr>
          <a:xfrm>
            <a:off x="8307977" y="1234440"/>
            <a:ext cx="2792186" cy="274320"/>
          </a:xfrm>
          <a:prstGeom prst="rect">
            <a:avLst/>
          </a:prstGeom>
          <a:solidFill>
            <a:srgbClr val="1A1F2B"/>
          </a:solidFill>
          <a:ln w="6350">
            <a:solidFill>
              <a:srgbClr val="FFFFFF"/>
            </a:solidFill>
            <a:prstDash val="solid"/>
          </a:ln>
        </p:spPr>
      </p:sp>
      <p:sp>
        <p:nvSpPr>
          <p:cNvPr id="9" name="Text 7"/>
          <p:cNvSpPr txBox="1"/>
          <p:nvPr/>
        </p:nvSpPr>
        <p:spPr>
          <a:xfrm>
            <a:off x="8307977" y="1234440"/>
            <a:ext cx="279218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NOV</a:t>
            </a:r>
            <a:endParaRPr lang="en-US" sz="1100" dirty="0"/>
          </a:p>
        </p:txBody>
      </p:sp>
      <p:sp>
        <p:nvSpPr>
          <p:cNvPr id="10" name="Shape 8"/>
          <p:cNvSpPr/>
          <p:nvPr/>
        </p:nvSpPr>
        <p:spPr>
          <a:xfrm>
            <a:off x="11100163" y="1234440"/>
            <a:ext cx="558437" cy="274320"/>
          </a:xfrm>
          <a:prstGeom prst="rect">
            <a:avLst/>
          </a:prstGeom>
          <a:solidFill>
            <a:srgbClr val="2A3140"/>
          </a:solidFill>
          <a:ln w="6350">
            <a:solidFill>
              <a:srgbClr val="FFFFFF"/>
            </a:solidFill>
            <a:prstDash val="solid"/>
          </a:ln>
        </p:spPr>
      </p:sp>
      <p:sp>
        <p:nvSpPr>
          <p:cNvPr id="11" name="Text 9"/>
          <p:cNvSpPr txBox="1"/>
          <p:nvPr/>
        </p:nvSpPr>
        <p:spPr>
          <a:xfrm>
            <a:off x="11100163" y="1234440"/>
            <a:ext cx="558437"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a:t>
            </a:r>
            <a:endParaRPr lang="en-US" sz="1100" dirty="0"/>
          </a:p>
        </p:txBody>
      </p:sp>
      <p:sp>
        <p:nvSpPr>
          <p:cNvPr id="12" name="Text 10"/>
          <p:cNvSpPr txBox="1"/>
          <p:nvPr/>
        </p:nvSpPr>
        <p:spPr>
          <a:xfrm>
            <a:off x="3840480"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
        <p:nvSpPr>
          <p:cNvPr id="13" name="Text 11"/>
          <p:cNvSpPr txBox="1"/>
          <p:nvPr/>
        </p:nvSpPr>
        <p:spPr>
          <a:xfrm>
            <a:off x="4398917"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
        <p:nvSpPr>
          <p:cNvPr id="14" name="Text 12"/>
          <p:cNvSpPr txBox="1"/>
          <p:nvPr/>
        </p:nvSpPr>
        <p:spPr>
          <a:xfrm>
            <a:off x="4957354"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21</a:t>
            </a:r>
            <a:endParaRPr lang="en-US" sz="1000" dirty="0"/>
          </a:p>
        </p:txBody>
      </p:sp>
      <p:sp>
        <p:nvSpPr>
          <p:cNvPr id="15" name="Text 13"/>
          <p:cNvSpPr txBox="1"/>
          <p:nvPr/>
        </p:nvSpPr>
        <p:spPr>
          <a:xfrm>
            <a:off x="5515791"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28</a:t>
            </a:r>
            <a:endParaRPr lang="en-US" sz="1000" dirty="0"/>
          </a:p>
        </p:txBody>
      </p:sp>
      <p:sp>
        <p:nvSpPr>
          <p:cNvPr id="16" name="Text 14"/>
          <p:cNvSpPr txBox="1"/>
          <p:nvPr/>
        </p:nvSpPr>
        <p:spPr>
          <a:xfrm>
            <a:off x="6074229"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
        <p:nvSpPr>
          <p:cNvPr id="17" name="Text 15"/>
          <p:cNvSpPr txBox="1"/>
          <p:nvPr/>
        </p:nvSpPr>
        <p:spPr>
          <a:xfrm>
            <a:off x="6632666"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
        <p:nvSpPr>
          <p:cNvPr id="18" name="Text 16"/>
          <p:cNvSpPr txBox="1"/>
          <p:nvPr/>
        </p:nvSpPr>
        <p:spPr>
          <a:xfrm>
            <a:off x="7191103"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19</a:t>
            </a:r>
            <a:endParaRPr lang="en-US" sz="1000" dirty="0"/>
          </a:p>
        </p:txBody>
      </p:sp>
      <p:sp>
        <p:nvSpPr>
          <p:cNvPr id="19" name="Text 17"/>
          <p:cNvSpPr txBox="1"/>
          <p:nvPr/>
        </p:nvSpPr>
        <p:spPr>
          <a:xfrm>
            <a:off x="7749540"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26</a:t>
            </a:r>
            <a:endParaRPr lang="en-US" sz="1000" dirty="0"/>
          </a:p>
        </p:txBody>
      </p:sp>
      <p:sp>
        <p:nvSpPr>
          <p:cNvPr id="20" name="Text 18"/>
          <p:cNvSpPr txBox="1"/>
          <p:nvPr/>
        </p:nvSpPr>
        <p:spPr>
          <a:xfrm>
            <a:off x="8307977"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
        <p:nvSpPr>
          <p:cNvPr id="21" name="Text 19"/>
          <p:cNvSpPr txBox="1"/>
          <p:nvPr/>
        </p:nvSpPr>
        <p:spPr>
          <a:xfrm>
            <a:off x="8866414"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
        <p:nvSpPr>
          <p:cNvPr id="22" name="Text 20"/>
          <p:cNvSpPr txBox="1"/>
          <p:nvPr/>
        </p:nvSpPr>
        <p:spPr>
          <a:xfrm>
            <a:off x="9424851"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16</a:t>
            </a:r>
            <a:endParaRPr lang="en-US" sz="1000" dirty="0"/>
          </a:p>
        </p:txBody>
      </p:sp>
      <p:sp>
        <p:nvSpPr>
          <p:cNvPr id="23" name="Text 21"/>
          <p:cNvSpPr txBox="1"/>
          <p:nvPr/>
        </p:nvSpPr>
        <p:spPr>
          <a:xfrm>
            <a:off x="9983289"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23</a:t>
            </a:r>
            <a:endParaRPr lang="en-US" sz="1000" dirty="0"/>
          </a:p>
        </p:txBody>
      </p:sp>
      <p:sp>
        <p:nvSpPr>
          <p:cNvPr id="24" name="Text 22"/>
          <p:cNvSpPr txBox="1"/>
          <p:nvPr/>
        </p:nvSpPr>
        <p:spPr>
          <a:xfrm>
            <a:off x="10541726"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30</a:t>
            </a:r>
            <a:endParaRPr lang="en-US" sz="1000" dirty="0"/>
          </a:p>
        </p:txBody>
      </p:sp>
      <p:sp>
        <p:nvSpPr>
          <p:cNvPr id="25" name="Text 23"/>
          <p:cNvSpPr txBox="1"/>
          <p:nvPr/>
        </p:nvSpPr>
        <p:spPr>
          <a:xfrm>
            <a:off x="11100163" y="1508760"/>
            <a:ext cx="558437"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
        <p:nvSpPr>
          <p:cNvPr id="26" name="Shape 24"/>
          <p:cNvSpPr/>
          <p:nvPr/>
        </p:nvSpPr>
        <p:spPr>
          <a:xfrm>
            <a:off x="548640" y="1783080"/>
            <a:ext cx="11109960" cy="365760"/>
          </a:xfrm>
          <a:prstGeom prst="rect">
            <a:avLst/>
          </a:prstGeom>
          <a:solidFill>
            <a:srgbClr val="F1F3F6"/>
          </a:solidFill>
          <a:ln w="12700">
            <a:solidFill>
              <a:srgbClr val="F1F3F6"/>
            </a:solidFill>
            <a:prstDash val="solid"/>
          </a:ln>
        </p:spPr>
      </p:sp>
      <p:sp>
        <p:nvSpPr>
          <p:cNvPr id="27" name="Text 25"/>
          <p:cNvSpPr txBox="1"/>
          <p:nvPr/>
        </p:nvSpPr>
        <p:spPr>
          <a:xfrm>
            <a:off x="640080" y="1783080"/>
            <a:ext cx="3108960" cy="3657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Onboarding + OpenCap demo</a:t>
            </a:r>
            <a:endParaRPr lang="en-US" sz="1200" dirty="0"/>
          </a:p>
        </p:txBody>
      </p:sp>
      <p:sp>
        <p:nvSpPr>
          <p:cNvPr id="28" name="Shape 26"/>
          <p:cNvSpPr/>
          <p:nvPr/>
        </p:nvSpPr>
        <p:spPr>
          <a:xfrm>
            <a:off x="3877056" y="1856232"/>
            <a:ext cx="1043722" cy="219456"/>
          </a:xfrm>
          <a:prstGeom prst="roundRect">
            <a:avLst>
              <a:gd name="adj" fmla="val 41667"/>
            </a:avLst>
          </a:prstGeom>
          <a:solidFill>
            <a:srgbClr val="9AA3B0"/>
          </a:solidFill>
          <a:ln w="12700">
            <a:solidFill>
              <a:srgbClr val="9AA3B0"/>
            </a:solidFill>
            <a:prstDash val="solid"/>
          </a:ln>
        </p:spPr>
      </p:sp>
      <p:sp>
        <p:nvSpPr>
          <p:cNvPr id="29" name="Text 27"/>
          <p:cNvSpPr txBox="1"/>
          <p:nvPr/>
        </p:nvSpPr>
        <p:spPr>
          <a:xfrm>
            <a:off x="640080" y="2148840"/>
            <a:ext cx="3108960" cy="3657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Checkerboard holder CAD</a:t>
            </a:r>
            <a:endParaRPr lang="en-US" sz="1200" dirty="0"/>
          </a:p>
        </p:txBody>
      </p:sp>
      <p:sp>
        <p:nvSpPr>
          <p:cNvPr id="30" name="Shape 28"/>
          <p:cNvSpPr/>
          <p:nvPr/>
        </p:nvSpPr>
        <p:spPr>
          <a:xfrm>
            <a:off x="3877056" y="2221992"/>
            <a:ext cx="1043722" cy="219456"/>
          </a:xfrm>
          <a:prstGeom prst="roundRect">
            <a:avLst>
              <a:gd name="adj" fmla="val 41667"/>
            </a:avLst>
          </a:prstGeom>
          <a:solidFill>
            <a:srgbClr val="9AA3B0"/>
          </a:solidFill>
          <a:ln w="12700">
            <a:solidFill>
              <a:srgbClr val="9AA3B0"/>
            </a:solidFill>
            <a:prstDash val="solid"/>
          </a:ln>
        </p:spPr>
      </p:sp>
      <p:sp>
        <p:nvSpPr>
          <p:cNvPr id="31" name="Shape 29"/>
          <p:cNvSpPr/>
          <p:nvPr/>
        </p:nvSpPr>
        <p:spPr>
          <a:xfrm>
            <a:off x="548640" y="2514600"/>
            <a:ext cx="11109960" cy="365760"/>
          </a:xfrm>
          <a:prstGeom prst="rect">
            <a:avLst/>
          </a:prstGeom>
          <a:solidFill>
            <a:srgbClr val="F1F3F6"/>
          </a:solidFill>
          <a:ln w="12700">
            <a:solidFill>
              <a:srgbClr val="F1F3F6"/>
            </a:solidFill>
            <a:prstDash val="solid"/>
          </a:ln>
        </p:spPr>
      </p:sp>
      <p:sp>
        <p:nvSpPr>
          <p:cNvPr id="32" name="Text 30"/>
          <p:cNvSpPr txBox="1"/>
          <p:nvPr/>
        </p:nvSpPr>
        <p:spPr>
          <a:xfrm>
            <a:off x="640080" y="251460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Proposal</a:t>
            </a:r>
            <a:endParaRPr lang="en-US" sz="1200" dirty="0"/>
          </a:p>
        </p:txBody>
      </p:sp>
      <p:sp>
        <p:nvSpPr>
          <p:cNvPr id="33" name="Shape 31"/>
          <p:cNvSpPr/>
          <p:nvPr/>
        </p:nvSpPr>
        <p:spPr>
          <a:xfrm>
            <a:off x="4993930" y="2587752"/>
            <a:ext cx="1043722" cy="219456"/>
          </a:xfrm>
          <a:prstGeom prst="roundRect">
            <a:avLst>
              <a:gd name="adj" fmla="val 41667"/>
            </a:avLst>
          </a:prstGeom>
          <a:solidFill>
            <a:srgbClr val="1A1F2B"/>
          </a:solidFill>
          <a:ln w="12700">
            <a:solidFill>
              <a:srgbClr val="1A1F2B"/>
            </a:solidFill>
            <a:prstDash val="solid"/>
          </a:ln>
        </p:spPr>
      </p:sp>
      <p:sp>
        <p:nvSpPr>
          <p:cNvPr id="34" name="Text 32"/>
          <p:cNvSpPr txBox="1"/>
          <p:nvPr/>
        </p:nvSpPr>
        <p:spPr>
          <a:xfrm>
            <a:off x="640080" y="288036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Literature review</a:t>
            </a:r>
            <a:endParaRPr lang="en-US" sz="1200" dirty="0"/>
          </a:p>
        </p:txBody>
      </p:sp>
      <p:sp>
        <p:nvSpPr>
          <p:cNvPr id="35" name="Shape 33"/>
          <p:cNvSpPr/>
          <p:nvPr/>
        </p:nvSpPr>
        <p:spPr>
          <a:xfrm>
            <a:off x="4435493" y="2953512"/>
            <a:ext cx="2160597" cy="219456"/>
          </a:xfrm>
          <a:prstGeom prst="roundRect">
            <a:avLst>
              <a:gd name="adj" fmla="val 41667"/>
            </a:avLst>
          </a:prstGeom>
          <a:solidFill>
            <a:srgbClr val="BF5700"/>
          </a:solidFill>
          <a:ln w="12700">
            <a:solidFill>
              <a:srgbClr val="BF5700"/>
            </a:solidFill>
            <a:prstDash val="solid"/>
          </a:ln>
        </p:spPr>
      </p:sp>
      <p:sp>
        <p:nvSpPr>
          <p:cNvPr id="36" name="Shape 34"/>
          <p:cNvSpPr/>
          <p:nvPr/>
        </p:nvSpPr>
        <p:spPr>
          <a:xfrm>
            <a:off x="548640" y="3246120"/>
            <a:ext cx="11109960" cy="365760"/>
          </a:xfrm>
          <a:prstGeom prst="rect">
            <a:avLst/>
          </a:prstGeom>
          <a:solidFill>
            <a:srgbClr val="F1F3F6"/>
          </a:solidFill>
          <a:ln w="12700">
            <a:solidFill>
              <a:srgbClr val="F1F3F6"/>
            </a:solidFill>
            <a:prstDash val="solid"/>
          </a:ln>
        </p:spPr>
      </p:sp>
      <p:sp>
        <p:nvSpPr>
          <p:cNvPr id="37" name="Text 35"/>
          <p:cNvSpPr txBox="1"/>
          <p:nvPr/>
        </p:nvSpPr>
        <p:spPr>
          <a:xfrm>
            <a:off x="640080" y="324612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Theia3D + Bertec training</a:t>
            </a:r>
            <a:endParaRPr lang="en-US" sz="1200" dirty="0"/>
          </a:p>
        </p:txBody>
      </p:sp>
      <p:sp>
        <p:nvSpPr>
          <p:cNvPr id="38" name="Shape 36"/>
          <p:cNvSpPr/>
          <p:nvPr/>
        </p:nvSpPr>
        <p:spPr>
          <a:xfrm>
            <a:off x="6110805" y="3319272"/>
            <a:ext cx="1043722" cy="219456"/>
          </a:xfrm>
          <a:prstGeom prst="roundRect">
            <a:avLst>
              <a:gd name="adj" fmla="val 41667"/>
            </a:avLst>
          </a:prstGeom>
          <a:solidFill>
            <a:srgbClr val="BF5700"/>
          </a:solidFill>
          <a:ln w="12700">
            <a:solidFill>
              <a:srgbClr val="BF5700"/>
            </a:solidFill>
            <a:prstDash val="solid"/>
          </a:ln>
        </p:spPr>
      </p:sp>
      <p:sp>
        <p:nvSpPr>
          <p:cNvPr id="39" name="Text 37"/>
          <p:cNvSpPr txBox="1"/>
          <p:nvPr/>
        </p:nvSpPr>
        <p:spPr>
          <a:xfrm>
            <a:off x="640080" y="361188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Aim 1: treadmill captures</a:t>
            </a:r>
            <a:endParaRPr lang="en-US" sz="1200" dirty="0"/>
          </a:p>
        </p:txBody>
      </p:sp>
      <p:sp>
        <p:nvSpPr>
          <p:cNvPr id="40" name="Shape 38"/>
          <p:cNvSpPr/>
          <p:nvPr/>
        </p:nvSpPr>
        <p:spPr>
          <a:xfrm>
            <a:off x="6669242" y="3685032"/>
            <a:ext cx="1602159" cy="219456"/>
          </a:xfrm>
          <a:prstGeom prst="roundRect">
            <a:avLst>
              <a:gd name="adj" fmla="val 41667"/>
            </a:avLst>
          </a:prstGeom>
          <a:solidFill>
            <a:srgbClr val="BF5700"/>
          </a:solidFill>
          <a:ln w="12700">
            <a:solidFill>
              <a:srgbClr val="BF5700"/>
            </a:solidFill>
            <a:prstDash val="solid"/>
          </a:ln>
        </p:spPr>
      </p:sp>
      <p:sp>
        <p:nvSpPr>
          <p:cNvPr id="41" name="Shape 39"/>
          <p:cNvSpPr/>
          <p:nvPr/>
        </p:nvSpPr>
        <p:spPr>
          <a:xfrm>
            <a:off x="548640" y="3977640"/>
            <a:ext cx="11109960" cy="365760"/>
          </a:xfrm>
          <a:prstGeom prst="rect">
            <a:avLst/>
          </a:prstGeom>
          <a:solidFill>
            <a:srgbClr val="F1F3F6"/>
          </a:solidFill>
          <a:ln w="12700">
            <a:solidFill>
              <a:srgbClr val="F1F3F6"/>
            </a:solidFill>
            <a:prstDash val="solid"/>
          </a:ln>
        </p:spPr>
      </p:sp>
      <p:sp>
        <p:nvSpPr>
          <p:cNvPr id="42" name="Text 40"/>
          <p:cNvSpPr txBox="1"/>
          <p:nvPr/>
        </p:nvSpPr>
        <p:spPr>
          <a:xfrm>
            <a:off x="640080" y="397764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Aim 2: OpenSim ID pipeline</a:t>
            </a:r>
            <a:endParaRPr lang="en-US" sz="1200" dirty="0"/>
          </a:p>
        </p:txBody>
      </p:sp>
      <p:sp>
        <p:nvSpPr>
          <p:cNvPr id="43" name="Shape 41"/>
          <p:cNvSpPr/>
          <p:nvPr/>
        </p:nvSpPr>
        <p:spPr>
          <a:xfrm>
            <a:off x="7227679" y="4050792"/>
            <a:ext cx="2160597" cy="219456"/>
          </a:xfrm>
          <a:prstGeom prst="roundRect">
            <a:avLst>
              <a:gd name="adj" fmla="val 41667"/>
            </a:avLst>
          </a:prstGeom>
          <a:solidFill>
            <a:srgbClr val="BF5700"/>
          </a:solidFill>
          <a:ln w="12700">
            <a:solidFill>
              <a:srgbClr val="BF5700"/>
            </a:solidFill>
            <a:prstDash val="solid"/>
          </a:ln>
        </p:spPr>
      </p:sp>
      <p:sp>
        <p:nvSpPr>
          <p:cNvPr id="44" name="Text 42"/>
          <p:cNvSpPr txBox="1"/>
          <p:nvPr/>
        </p:nvSpPr>
        <p:spPr>
          <a:xfrm>
            <a:off x="640080" y="434340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Aim 3: terrain park + outdoors</a:t>
            </a:r>
            <a:endParaRPr lang="en-US" sz="1200" dirty="0"/>
          </a:p>
        </p:txBody>
      </p:sp>
      <p:sp>
        <p:nvSpPr>
          <p:cNvPr id="45" name="Shape 43"/>
          <p:cNvSpPr/>
          <p:nvPr/>
        </p:nvSpPr>
        <p:spPr>
          <a:xfrm>
            <a:off x="8344553" y="4416552"/>
            <a:ext cx="1602159" cy="219456"/>
          </a:xfrm>
          <a:prstGeom prst="roundRect">
            <a:avLst>
              <a:gd name="adj" fmla="val 41667"/>
            </a:avLst>
          </a:prstGeom>
          <a:solidFill>
            <a:srgbClr val="BF5700"/>
          </a:solidFill>
          <a:ln w="12700">
            <a:solidFill>
              <a:srgbClr val="BF5700"/>
            </a:solidFill>
            <a:prstDash val="solid"/>
          </a:ln>
        </p:spPr>
      </p:sp>
      <p:sp>
        <p:nvSpPr>
          <p:cNvPr id="46" name="Shape 44"/>
          <p:cNvSpPr/>
          <p:nvPr/>
        </p:nvSpPr>
        <p:spPr>
          <a:xfrm>
            <a:off x="548640" y="4709160"/>
            <a:ext cx="11109960" cy="365760"/>
          </a:xfrm>
          <a:prstGeom prst="rect">
            <a:avLst/>
          </a:prstGeom>
          <a:solidFill>
            <a:srgbClr val="F1F3F6"/>
          </a:solidFill>
          <a:ln w="12700">
            <a:solidFill>
              <a:srgbClr val="F1F3F6"/>
            </a:solidFill>
            <a:prstDash val="solid"/>
          </a:ln>
        </p:spPr>
      </p:sp>
      <p:sp>
        <p:nvSpPr>
          <p:cNvPr id="47" name="Text 45"/>
          <p:cNvSpPr txBox="1"/>
          <p:nvPr/>
        </p:nvSpPr>
        <p:spPr>
          <a:xfrm>
            <a:off x="640080" y="470916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Analysis + figures</a:t>
            </a:r>
            <a:endParaRPr lang="en-US" sz="1200" dirty="0"/>
          </a:p>
        </p:txBody>
      </p:sp>
      <p:sp>
        <p:nvSpPr>
          <p:cNvPr id="48" name="Shape 46"/>
          <p:cNvSpPr/>
          <p:nvPr/>
        </p:nvSpPr>
        <p:spPr>
          <a:xfrm>
            <a:off x="8902990" y="4782312"/>
            <a:ext cx="2160597" cy="219456"/>
          </a:xfrm>
          <a:prstGeom prst="roundRect">
            <a:avLst>
              <a:gd name="adj" fmla="val 41667"/>
            </a:avLst>
          </a:prstGeom>
          <a:solidFill>
            <a:srgbClr val="BF5700"/>
          </a:solidFill>
          <a:ln w="12700">
            <a:solidFill>
              <a:srgbClr val="BF5700"/>
            </a:solidFill>
            <a:prstDash val="solid"/>
          </a:ln>
        </p:spPr>
      </p:sp>
      <p:sp>
        <p:nvSpPr>
          <p:cNvPr id="49" name="Text 47"/>
          <p:cNvSpPr txBox="1"/>
          <p:nvPr/>
        </p:nvSpPr>
        <p:spPr>
          <a:xfrm>
            <a:off x="640080" y="507492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Phone holder (side project)</a:t>
            </a:r>
            <a:endParaRPr lang="en-US" sz="1200" dirty="0"/>
          </a:p>
        </p:txBody>
      </p:sp>
      <p:sp>
        <p:nvSpPr>
          <p:cNvPr id="50" name="Shape 48"/>
          <p:cNvSpPr/>
          <p:nvPr/>
        </p:nvSpPr>
        <p:spPr>
          <a:xfrm>
            <a:off x="6110805" y="5148072"/>
            <a:ext cx="2719034" cy="219456"/>
          </a:xfrm>
          <a:prstGeom prst="roundRect">
            <a:avLst>
              <a:gd name="adj" fmla="val 41667"/>
            </a:avLst>
          </a:prstGeom>
          <a:solidFill>
            <a:srgbClr val="E9B48E"/>
          </a:solidFill>
          <a:ln w="12700">
            <a:solidFill>
              <a:srgbClr val="E9B48E"/>
            </a:solidFill>
            <a:prstDash val="solid"/>
          </a:ln>
        </p:spPr>
      </p:sp>
      <p:sp>
        <p:nvSpPr>
          <p:cNvPr id="51" name="Shape 49"/>
          <p:cNvSpPr/>
          <p:nvPr/>
        </p:nvSpPr>
        <p:spPr>
          <a:xfrm>
            <a:off x="548640" y="5440680"/>
            <a:ext cx="11109960" cy="365760"/>
          </a:xfrm>
          <a:prstGeom prst="rect">
            <a:avLst/>
          </a:prstGeom>
          <a:solidFill>
            <a:srgbClr val="F1F3F6"/>
          </a:solidFill>
          <a:ln w="12700">
            <a:solidFill>
              <a:srgbClr val="F1F3F6"/>
            </a:solidFill>
            <a:prstDash val="solid"/>
          </a:ln>
        </p:spPr>
      </p:sp>
      <p:sp>
        <p:nvSpPr>
          <p:cNvPr id="52" name="Text 50"/>
          <p:cNvSpPr txBox="1"/>
          <p:nvPr/>
        </p:nvSpPr>
        <p:spPr>
          <a:xfrm>
            <a:off x="640080" y="5440680"/>
            <a:ext cx="3108960" cy="365760"/>
          </a:xfrm>
          <a:prstGeom prst="rect">
            <a:avLst/>
          </a:prstGeom>
          <a:noFill/>
          <a:ln/>
        </p:spPr>
        <p:txBody>
          <a:bodyPr wrap="square" lIns="0" tIns="0" rIns="0" bIns="0" rtlCol="0" anchor="ctr"/>
          <a:lstStyle/>
          <a:p>
            <a:pPr indent="0" marL="0">
              <a:buNone/>
            </a:pPr>
            <a:r>
              <a:rPr lang="en-US" sz="1200" dirty="0">
                <a:solidFill>
                  <a:srgbClr val="1A1F2B"/>
                </a:solidFill>
                <a:latin typeface="Calibri" pitchFamily="34" charset="0"/>
                <a:ea typeface="Calibri" pitchFamily="34" charset="-122"/>
                <a:cs typeface="Calibri" pitchFamily="34" charset="-120"/>
              </a:rPr>
              <a:t>Poster, talk, final report</a:t>
            </a:r>
            <a:endParaRPr lang="en-US" sz="1200" dirty="0"/>
          </a:p>
        </p:txBody>
      </p:sp>
      <p:sp>
        <p:nvSpPr>
          <p:cNvPr id="53" name="Shape 51"/>
          <p:cNvSpPr/>
          <p:nvPr/>
        </p:nvSpPr>
        <p:spPr>
          <a:xfrm>
            <a:off x="10019865" y="5513832"/>
            <a:ext cx="1602159" cy="219456"/>
          </a:xfrm>
          <a:prstGeom prst="roundRect">
            <a:avLst>
              <a:gd name="adj" fmla="val 41667"/>
            </a:avLst>
          </a:prstGeom>
          <a:solidFill>
            <a:srgbClr val="1A1F2B"/>
          </a:solidFill>
          <a:ln w="12700">
            <a:solidFill>
              <a:srgbClr val="1A1F2B"/>
            </a:solidFill>
            <a:prstDash val="solid"/>
          </a:ln>
        </p:spPr>
      </p:sp>
      <p:sp>
        <p:nvSpPr>
          <p:cNvPr id="54" name="Shape 52"/>
          <p:cNvSpPr/>
          <p:nvPr/>
        </p:nvSpPr>
        <p:spPr>
          <a:xfrm>
            <a:off x="5037131" y="1508760"/>
            <a:ext cx="914" cy="4343400"/>
          </a:xfrm>
          <a:prstGeom prst="line">
            <a:avLst/>
          </a:prstGeom>
          <a:noFill/>
          <a:ln w="19050">
            <a:solidFill>
              <a:srgbClr val="C0392B"/>
            </a:solidFill>
            <a:prstDash val="dash"/>
          </a:ln>
        </p:spPr>
      </p:sp>
      <p:sp>
        <p:nvSpPr>
          <p:cNvPr id="55" name="Text 53"/>
          <p:cNvSpPr txBox="1"/>
          <p:nvPr/>
        </p:nvSpPr>
        <p:spPr>
          <a:xfrm>
            <a:off x="4671371" y="5870448"/>
            <a:ext cx="731520" cy="228600"/>
          </a:xfrm>
          <a:prstGeom prst="rect">
            <a:avLst/>
          </a:prstGeom>
          <a:noFill/>
          <a:ln/>
        </p:spPr>
        <p:txBody>
          <a:bodyPr wrap="square" lIns="0" tIns="0" rIns="0" bIns="0" rtlCol="0" anchor="t"/>
          <a:lstStyle/>
          <a:p>
            <a:pPr algn="ctr" indent="0" marL="0">
              <a:buNone/>
            </a:pPr>
            <a:r>
              <a:rPr lang="en-US" sz="1000" b="1" dirty="0">
                <a:solidFill>
                  <a:srgbClr val="C0392B"/>
                </a:solidFill>
                <a:latin typeface="Calibri" pitchFamily="34" charset="0"/>
                <a:ea typeface="Calibri" pitchFamily="34" charset="-122"/>
                <a:cs typeface="Calibri" pitchFamily="34" charset="-120"/>
              </a:rPr>
              <a:t>today</a:t>
            </a:r>
            <a:endParaRPr lang="en-US" sz="1000" dirty="0"/>
          </a:p>
        </p:txBody>
      </p:sp>
      <p:sp>
        <p:nvSpPr>
          <p:cNvPr id="56" name="Shape 54"/>
          <p:cNvSpPr/>
          <p:nvPr/>
        </p:nvSpPr>
        <p:spPr>
          <a:xfrm>
            <a:off x="3840480" y="6172200"/>
            <a:ext cx="320040" cy="182880"/>
          </a:xfrm>
          <a:prstGeom prst="roundRect">
            <a:avLst>
              <a:gd name="adj" fmla="val 30000"/>
            </a:avLst>
          </a:prstGeom>
          <a:solidFill>
            <a:srgbClr val="9AA3B0"/>
          </a:solidFill>
          <a:ln w="12700">
            <a:solidFill>
              <a:srgbClr val="9AA3B0"/>
            </a:solidFill>
            <a:prstDash val="solid"/>
          </a:ln>
        </p:spPr>
      </p:sp>
      <p:sp>
        <p:nvSpPr>
          <p:cNvPr id="57" name="Text 55"/>
          <p:cNvSpPr txBox="1"/>
          <p:nvPr/>
        </p:nvSpPr>
        <p:spPr>
          <a:xfrm>
            <a:off x="4251960" y="6126480"/>
            <a:ext cx="1463040" cy="2743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Done</a:t>
            </a:r>
            <a:endParaRPr lang="en-US" sz="1100" dirty="0"/>
          </a:p>
        </p:txBody>
      </p:sp>
      <p:sp>
        <p:nvSpPr>
          <p:cNvPr id="58" name="Shape 56"/>
          <p:cNvSpPr/>
          <p:nvPr/>
        </p:nvSpPr>
        <p:spPr>
          <a:xfrm>
            <a:off x="5806440" y="6172200"/>
            <a:ext cx="320040" cy="182880"/>
          </a:xfrm>
          <a:prstGeom prst="roundRect">
            <a:avLst>
              <a:gd name="adj" fmla="val 30000"/>
            </a:avLst>
          </a:prstGeom>
          <a:solidFill>
            <a:srgbClr val="BF5700"/>
          </a:solidFill>
          <a:ln w="12700">
            <a:solidFill>
              <a:srgbClr val="BF5700"/>
            </a:solidFill>
            <a:prstDash val="solid"/>
          </a:ln>
        </p:spPr>
      </p:sp>
      <p:sp>
        <p:nvSpPr>
          <p:cNvPr id="59" name="Text 57"/>
          <p:cNvSpPr txBox="1"/>
          <p:nvPr/>
        </p:nvSpPr>
        <p:spPr>
          <a:xfrm>
            <a:off x="6217920" y="6126480"/>
            <a:ext cx="1463040" cy="2743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Core aims</a:t>
            </a:r>
            <a:endParaRPr lang="en-US" sz="1100" dirty="0"/>
          </a:p>
        </p:txBody>
      </p:sp>
      <p:sp>
        <p:nvSpPr>
          <p:cNvPr id="60" name="Shape 58"/>
          <p:cNvSpPr/>
          <p:nvPr/>
        </p:nvSpPr>
        <p:spPr>
          <a:xfrm>
            <a:off x="7772400" y="6172200"/>
            <a:ext cx="320040" cy="182880"/>
          </a:xfrm>
          <a:prstGeom prst="roundRect">
            <a:avLst>
              <a:gd name="adj" fmla="val 30000"/>
            </a:avLst>
          </a:prstGeom>
          <a:solidFill>
            <a:srgbClr val="E9B48E"/>
          </a:solidFill>
          <a:ln w="12700">
            <a:solidFill>
              <a:srgbClr val="E9B48E"/>
            </a:solidFill>
            <a:prstDash val="solid"/>
          </a:ln>
        </p:spPr>
      </p:sp>
      <p:sp>
        <p:nvSpPr>
          <p:cNvPr id="61" name="Text 59"/>
          <p:cNvSpPr txBox="1"/>
          <p:nvPr/>
        </p:nvSpPr>
        <p:spPr>
          <a:xfrm>
            <a:off x="8183880" y="6126480"/>
            <a:ext cx="1463040" cy="2743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Side project</a:t>
            </a:r>
            <a:endParaRPr lang="en-US" sz="1100" dirty="0"/>
          </a:p>
        </p:txBody>
      </p:sp>
      <p:sp>
        <p:nvSpPr>
          <p:cNvPr id="62" name="Shape 60"/>
          <p:cNvSpPr/>
          <p:nvPr/>
        </p:nvSpPr>
        <p:spPr>
          <a:xfrm>
            <a:off x="9738360" y="6172200"/>
            <a:ext cx="320040" cy="182880"/>
          </a:xfrm>
          <a:prstGeom prst="roundRect">
            <a:avLst>
              <a:gd name="adj" fmla="val 30000"/>
            </a:avLst>
          </a:prstGeom>
          <a:solidFill>
            <a:srgbClr val="1A1F2B"/>
          </a:solidFill>
          <a:ln w="12700">
            <a:solidFill>
              <a:srgbClr val="1A1F2B"/>
            </a:solidFill>
            <a:prstDash val="solid"/>
          </a:ln>
        </p:spPr>
      </p:sp>
      <p:sp>
        <p:nvSpPr>
          <p:cNvPr id="63" name="Text 61"/>
          <p:cNvSpPr txBox="1"/>
          <p:nvPr/>
        </p:nvSpPr>
        <p:spPr>
          <a:xfrm>
            <a:off x="10149840" y="6126480"/>
            <a:ext cx="1463040" cy="2743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Course deliverable</a:t>
            </a:r>
            <a:endParaRPr lang="en-US" sz="1100" dirty="0"/>
          </a:p>
        </p:txBody>
      </p:sp>
      <p:sp>
        <p:nvSpPr>
          <p:cNvPr id="64" name="Text 62"/>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RISKS</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What could go wrong, and our plan</a:t>
            </a:r>
            <a:endParaRPr lang="en-US" sz="3200" dirty="0"/>
          </a:p>
        </p:txBody>
      </p:sp>
      <p:sp>
        <p:nvSpPr>
          <p:cNvPr id="4" name="Shape 2"/>
          <p:cNvSpPr/>
          <p:nvPr/>
        </p:nvSpPr>
        <p:spPr>
          <a:xfrm>
            <a:off x="548640" y="1371600"/>
            <a:ext cx="5440680" cy="1481328"/>
          </a:xfrm>
          <a:prstGeom prst="roundRect">
            <a:avLst>
              <a:gd name="adj" fmla="val 4938"/>
            </a:avLst>
          </a:prstGeom>
          <a:solidFill>
            <a:srgbClr val="F1F3F6"/>
          </a:solidFill>
          <a:ln w="12700">
            <a:solidFill>
              <a:srgbClr val="F1F3F6"/>
            </a:solidFill>
            <a:prstDash val="solid"/>
          </a:ln>
        </p:spPr>
      </p:sp>
      <p:sp>
        <p:nvSpPr>
          <p:cNvPr id="5" name="Shape 3"/>
          <p:cNvSpPr/>
          <p:nvPr/>
        </p:nvSpPr>
        <p:spPr>
          <a:xfrm>
            <a:off x="777240" y="1600200"/>
            <a:ext cx="502920" cy="502920"/>
          </a:xfrm>
          <a:prstGeom prst="ellipse">
            <a:avLst/>
          </a:prstGeom>
          <a:solidFill>
            <a:srgbClr val="1A1F2B"/>
          </a:solidFill>
          <a:ln w="12700">
            <a:solidFill>
              <a:srgbClr val="1A1F2B"/>
            </a:solidFill>
            <a:prstDash val="solid"/>
          </a:ln>
        </p:spPr>
      </p:sp>
      <p:pic>
        <p:nvPicPr>
          <p:cNvPr id="6" name="Image 0" descr="preencoded.png">    </p:cNvPr>
          <p:cNvPicPr>
            <a:picLocks noChangeAspect="1"/>
          </p:cNvPicPr>
          <p:nvPr/>
        </p:nvPicPr>
        <p:blipFill>
          <a:blip r:embed="rId1"/>
          <a:stretch>
            <a:fillRect/>
          </a:stretch>
        </p:blipFill>
        <p:spPr>
          <a:xfrm>
            <a:off x="902970" y="1725930"/>
            <a:ext cx="251460" cy="251460"/>
          </a:xfrm>
          <a:prstGeom prst="rect">
            <a:avLst/>
          </a:prstGeom>
        </p:spPr>
      </p:pic>
      <p:sp>
        <p:nvSpPr>
          <p:cNvPr id="7" name="Text 4"/>
          <p:cNvSpPr txBox="1"/>
          <p:nvPr/>
        </p:nvSpPr>
        <p:spPr>
          <a:xfrm>
            <a:off x="1463040" y="1536192"/>
            <a:ext cx="4389120" cy="32004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Systems are not time-synced</a:t>
            </a:r>
            <a:endParaRPr lang="en-US" sz="1500" dirty="0"/>
          </a:p>
        </p:txBody>
      </p:sp>
      <p:sp>
        <p:nvSpPr>
          <p:cNvPr id="8" name="Text 5"/>
          <p:cNvSpPr txBox="1"/>
          <p:nvPr/>
        </p:nvSpPr>
        <p:spPr>
          <a:xfrm>
            <a:off x="1463040" y="1874520"/>
            <a:ext cx="438912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OpenCap, Theia3D, and Bertec each keep their own clocks.</a:t>
            </a:r>
            <a:endParaRPr lang="en-US" sz="1200" dirty="0"/>
          </a:p>
        </p:txBody>
      </p:sp>
      <p:sp>
        <p:nvSpPr>
          <p:cNvPr id="9" name="Text 6"/>
          <p:cNvSpPr txBox="1"/>
          <p:nvPr/>
        </p:nvSpPr>
        <p:spPr>
          <a:xfrm>
            <a:off x="1463040" y="2194560"/>
            <a:ext cx="4389120" cy="59436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Plan: </a:t>
            </a:r>
            <a:pPr indent="0" marL="0">
              <a:buNone/>
            </a:pPr>
            <a:r>
              <a:rPr lang="en-US" sz="1200" dirty="0">
                <a:solidFill>
                  <a:srgbClr val="1A1F2B"/>
                </a:solidFill>
                <a:latin typeface="Calibri" pitchFamily="34" charset="0"/>
                <a:ea typeface="Calibri" pitchFamily="34" charset="-122"/>
                <a:cs typeface="Calibri" pitchFamily="34" charset="-120"/>
              </a:rPr>
              <a:t>Stomp at trial start; align on the ankle event; check with cross-correlation.</a:t>
            </a:r>
            <a:endParaRPr lang="en-US" sz="1200" dirty="0"/>
          </a:p>
        </p:txBody>
      </p:sp>
      <p:sp>
        <p:nvSpPr>
          <p:cNvPr id="10" name="Shape 7"/>
          <p:cNvSpPr/>
          <p:nvPr/>
        </p:nvSpPr>
        <p:spPr>
          <a:xfrm>
            <a:off x="6172200" y="1371600"/>
            <a:ext cx="5440680" cy="1481328"/>
          </a:xfrm>
          <a:prstGeom prst="roundRect">
            <a:avLst>
              <a:gd name="adj" fmla="val 4938"/>
            </a:avLst>
          </a:prstGeom>
          <a:solidFill>
            <a:srgbClr val="F1F3F6"/>
          </a:solidFill>
          <a:ln w="12700">
            <a:solidFill>
              <a:srgbClr val="F1F3F6"/>
            </a:solidFill>
            <a:prstDash val="solid"/>
          </a:ln>
        </p:spPr>
      </p:sp>
      <p:sp>
        <p:nvSpPr>
          <p:cNvPr id="11" name="Shape 8"/>
          <p:cNvSpPr/>
          <p:nvPr/>
        </p:nvSpPr>
        <p:spPr>
          <a:xfrm>
            <a:off x="6400800" y="1600200"/>
            <a:ext cx="502920" cy="502920"/>
          </a:xfrm>
          <a:prstGeom prst="ellipse">
            <a:avLst/>
          </a:prstGeom>
          <a:solidFill>
            <a:srgbClr val="1A1F2B"/>
          </a:solidFill>
          <a:ln w="12700">
            <a:solidFill>
              <a:srgbClr val="1A1F2B"/>
            </a:solidFill>
            <a:prstDash val="solid"/>
          </a:ln>
        </p:spPr>
      </p:sp>
      <p:pic>
        <p:nvPicPr>
          <p:cNvPr id="12" name="Image 1" descr="preencoded.png">    </p:cNvPr>
          <p:cNvPicPr>
            <a:picLocks noChangeAspect="1"/>
          </p:cNvPicPr>
          <p:nvPr/>
        </p:nvPicPr>
        <p:blipFill>
          <a:blip r:embed="rId2"/>
          <a:stretch>
            <a:fillRect/>
          </a:stretch>
        </p:blipFill>
        <p:spPr>
          <a:xfrm>
            <a:off x="6526530" y="1725930"/>
            <a:ext cx="251460" cy="251460"/>
          </a:xfrm>
          <a:prstGeom prst="rect">
            <a:avLst/>
          </a:prstGeom>
        </p:spPr>
      </p:pic>
      <p:sp>
        <p:nvSpPr>
          <p:cNvPr id="13" name="Text 9"/>
          <p:cNvSpPr txBox="1"/>
          <p:nvPr/>
        </p:nvSpPr>
        <p:spPr>
          <a:xfrm>
            <a:off x="7086600" y="1536192"/>
            <a:ext cx="4389120" cy="32004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Occlusion with only two phones</a:t>
            </a:r>
            <a:endParaRPr lang="en-US" sz="1500" dirty="0"/>
          </a:p>
        </p:txBody>
      </p:sp>
      <p:sp>
        <p:nvSpPr>
          <p:cNvPr id="14" name="Text 10"/>
          <p:cNvSpPr txBox="1"/>
          <p:nvPr/>
        </p:nvSpPr>
        <p:spPr>
          <a:xfrm>
            <a:off x="7086600" y="1874520"/>
            <a:ext cx="438912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Treadmill handrails or the far leg can block a camera.</a:t>
            </a:r>
            <a:endParaRPr lang="en-US" sz="1200" dirty="0"/>
          </a:p>
        </p:txBody>
      </p:sp>
      <p:sp>
        <p:nvSpPr>
          <p:cNvPr id="15" name="Text 11"/>
          <p:cNvSpPr txBox="1"/>
          <p:nvPr/>
        </p:nvSpPr>
        <p:spPr>
          <a:xfrm>
            <a:off x="7086600" y="2194560"/>
            <a:ext cx="4389120" cy="59436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Plan: </a:t>
            </a:r>
            <a:pPr indent="0" marL="0">
              <a:buNone/>
            </a:pPr>
            <a:r>
              <a:rPr lang="en-US" sz="1200" dirty="0">
                <a:solidFill>
                  <a:srgbClr val="1A1F2B"/>
                </a:solidFill>
                <a:latin typeface="Calibri" pitchFamily="34" charset="0"/>
                <a:ea typeface="Calibri" pitchFamily="34" charset="-122"/>
                <a:cs typeface="Calibri" pitchFamily="34" charset="-120"/>
              </a:rPr>
              <a:t>Test camera angles early; laser-level holder for repeatable placement; try a third phone.</a:t>
            </a:r>
            <a:endParaRPr lang="en-US" sz="1200" dirty="0"/>
          </a:p>
        </p:txBody>
      </p:sp>
      <p:sp>
        <p:nvSpPr>
          <p:cNvPr id="16" name="Shape 12"/>
          <p:cNvSpPr/>
          <p:nvPr/>
        </p:nvSpPr>
        <p:spPr>
          <a:xfrm>
            <a:off x="548640" y="3017520"/>
            <a:ext cx="5440680" cy="1481328"/>
          </a:xfrm>
          <a:prstGeom prst="roundRect">
            <a:avLst>
              <a:gd name="adj" fmla="val 4938"/>
            </a:avLst>
          </a:prstGeom>
          <a:solidFill>
            <a:srgbClr val="F1F3F6"/>
          </a:solidFill>
          <a:ln w="12700">
            <a:solidFill>
              <a:srgbClr val="F1F3F6"/>
            </a:solidFill>
            <a:prstDash val="solid"/>
          </a:ln>
        </p:spPr>
      </p:sp>
      <p:sp>
        <p:nvSpPr>
          <p:cNvPr id="17" name="Shape 13"/>
          <p:cNvSpPr/>
          <p:nvPr/>
        </p:nvSpPr>
        <p:spPr>
          <a:xfrm>
            <a:off x="777240" y="3246120"/>
            <a:ext cx="502920" cy="502920"/>
          </a:xfrm>
          <a:prstGeom prst="ellipse">
            <a:avLst/>
          </a:prstGeom>
          <a:solidFill>
            <a:srgbClr val="1A1F2B"/>
          </a:solidFill>
          <a:ln w="12700">
            <a:solidFill>
              <a:srgbClr val="1A1F2B"/>
            </a:solidFill>
            <a:prstDash val="solid"/>
          </a:ln>
        </p:spPr>
      </p:sp>
      <p:pic>
        <p:nvPicPr>
          <p:cNvPr id="18" name="Image 2" descr="preencoded.png">    </p:cNvPr>
          <p:cNvPicPr>
            <a:picLocks noChangeAspect="1"/>
          </p:cNvPicPr>
          <p:nvPr/>
        </p:nvPicPr>
        <p:blipFill>
          <a:blip r:embed="rId3"/>
          <a:stretch>
            <a:fillRect/>
          </a:stretch>
        </p:blipFill>
        <p:spPr>
          <a:xfrm>
            <a:off x="902970" y="3371850"/>
            <a:ext cx="251460" cy="251460"/>
          </a:xfrm>
          <a:prstGeom prst="rect">
            <a:avLst/>
          </a:prstGeom>
        </p:spPr>
      </p:pic>
      <p:sp>
        <p:nvSpPr>
          <p:cNvPr id="19" name="Text 14"/>
          <p:cNvSpPr txBox="1"/>
          <p:nvPr/>
        </p:nvSpPr>
        <p:spPr>
          <a:xfrm>
            <a:off x="1463040" y="3182112"/>
            <a:ext cx="4389120" cy="32004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No true ground truth</a:t>
            </a:r>
            <a:endParaRPr lang="en-US" sz="1500" dirty="0"/>
          </a:p>
        </p:txBody>
      </p:sp>
      <p:sp>
        <p:nvSpPr>
          <p:cNvPr id="20" name="Text 15"/>
          <p:cNvSpPr txBox="1"/>
          <p:nvPr/>
        </p:nvSpPr>
        <p:spPr>
          <a:xfrm>
            <a:off x="1463040" y="3520440"/>
            <a:ext cx="438912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Theia3D is also a model-based estimate.</a:t>
            </a:r>
            <a:endParaRPr lang="en-US" sz="1200" dirty="0"/>
          </a:p>
        </p:txBody>
      </p:sp>
      <p:sp>
        <p:nvSpPr>
          <p:cNvPr id="21" name="Text 16"/>
          <p:cNvSpPr txBox="1"/>
          <p:nvPr/>
        </p:nvSpPr>
        <p:spPr>
          <a:xfrm>
            <a:off x="1463040" y="3840480"/>
            <a:ext cx="4389120" cy="59436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Plan: </a:t>
            </a:r>
            <a:pPr indent="0" marL="0">
              <a:buNone/>
            </a:pPr>
            <a:r>
              <a:rPr lang="en-US" sz="1200" dirty="0">
                <a:solidFill>
                  <a:srgbClr val="1A1F2B"/>
                </a:solidFill>
                <a:latin typeface="Calibri" pitchFamily="34" charset="0"/>
                <a:ea typeface="Calibri" pitchFamily="34" charset="-122"/>
                <a:cs typeface="Calibri" pitchFamily="34" charset="-120"/>
              </a:rPr>
              <a:t>Report agreement, not accuracy; cite Theia3D's marker validation.</a:t>
            </a:r>
            <a:endParaRPr lang="en-US" sz="1200" dirty="0"/>
          </a:p>
        </p:txBody>
      </p:sp>
      <p:sp>
        <p:nvSpPr>
          <p:cNvPr id="22" name="Shape 17"/>
          <p:cNvSpPr/>
          <p:nvPr/>
        </p:nvSpPr>
        <p:spPr>
          <a:xfrm>
            <a:off x="6172200" y="3017520"/>
            <a:ext cx="5440680" cy="1481328"/>
          </a:xfrm>
          <a:prstGeom prst="roundRect">
            <a:avLst>
              <a:gd name="adj" fmla="val 4938"/>
            </a:avLst>
          </a:prstGeom>
          <a:solidFill>
            <a:srgbClr val="F1F3F6"/>
          </a:solidFill>
          <a:ln w="12700">
            <a:solidFill>
              <a:srgbClr val="F1F3F6"/>
            </a:solidFill>
            <a:prstDash val="solid"/>
          </a:ln>
        </p:spPr>
      </p:sp>
      <p:sp>
        <p:nvSpPr>
          <p:cNvPr id="23" name="Shape 18"/>
          <p:cNvSpPr/>
          <p:nvPr/>
        </p:nvSpPr>
        <p:spPr>
          <a:xfrm>
            <a:off x="6400800" y="3246120"/>
            <a:ext cx="502920" cy="502920"/>
          </a:xfrm>
          <a:prstGeom prst="ellipse">
            <a:avLst/>
          </a:prstGeom>
          <a:solidFill>
            <a:srgbClr val="1A1F2B"/>
          </a:solidFill>
          <a:ln w="12700">
            <a:solidFill>
              <a:srgbClr val="1A1F2B"/>
            </a:solidFill>
            <a:prstDash val="solid"/>
          </a:ln>
        </p:spPr>
      </p:sp>
      <p:pic>
        <p:nvPicPr>
          <p:cNvPr id="24" name="Image 3" descr="preencoded.png">    </p:cNvPr>
          <p:cNvPicPr>
            <a:picLocks noChangeAspect="1"/>
          </p:cNvPicPr>
          <p:nvPr/>
        </p:nvPicPr>
        <p:blipFill>
          <a:blip r:embed="rId4"/>
          <a:stretch>
            <a:fillRect/>
          </a:stretch>
        </p:blipFill>
        <p:spPr>
          <a:xfrm>
            <a:off x="6526530" y="3371850"/>
            <a:ext cx="251460" cy="251460"/>
          </a:xfrm>
          <a:prstGeom prst="rect">
            <a:avLst/>
          </a:prstGeom>
        </p:spPr>
      </p:pic>
      <p:sp>
        <p:nvSpPr>
          <p:cNvPr id="25" name="Text 19"/>
          <p:cNvSpPr txBox="1"/>
          <p:nvPr/>
        </p:nvSpPr>
        <p:spPr>
          <a:xfrm>
            <a:off x="7086600" y="3182112"/>
            <a:ext cx="4389120" cy="32004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Outdoor calibration fails</a:t>
            </a:r>
            <a:endParaRPr lang="en-US" sz="1500" dirty="0"/>
          </a:p>
        </p:txBody>
      </p:sp>
      <p:sp>
        <p:nvSpPr>
          <p:cNvPr id="26" name="Text 20"/>
          <p:cNvSpPr txBox="1"/>
          <p:nvPr/>
        </p:nvSpPr>
        <p:spPr>
          <a:xfrm>
            <a:off x="7086600" y="3520440"/>
            <a:ext cx="438912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Glare, shadows, and wind move the board or phones.</a:t>
            </a:r>
            <a:endParaRPr lang="en-US" sz="1200" dirty="0"/>
          </a:p>
        </p:txBody>
      </p:sp>
      <p:sp>
        <p:nvSpPr>
          <p:cNvPr id="27" name="Text 21"/>
          <p:cNvSpPr txBox="1"/>
          <p:nvPr/>
        </p:nvSpPr>
        <p:spPr>
          <a:xfrm>
            <a:off x="7086600" y="3840480"/>
            <a:ext cx="4389120" cy="59436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Plan: </a:t>
            </a:r>
            <a:pPr indent="0" marL="0">
              <a:buNone/>
            </a:pPr>
            <a:r>
              <a:rPr lang="en-US" sz="1200" dirty="0">
                <a:solidFill>
                  <a:srgbClr val="1A1F2B"/>
                </a:solidFill>
                <a:latin typeface="Calibri" pitchFamily="34" charset="0"/>
                <a:ea typeface="Calibri" pitchFamily="34" charset="-122"/>
                <a:cs typeface="Calibri" pitchFamily="34" charset="-120"/>
              </a:rPr>
              <a:t>Rigid holder; check calibration before each trial; pick shaded times.</a:t>
            </a:r>
            <a:endParaRPr lang="en-US" sz="1200" dirty="0"/>
          </a:p>
        </p:txBody>
      </p:sp>
      <p:sp>
        <p:nvSpPr>
          <p:cNvPr id="28" name="Shape 22"/>
          <p:cNvSpPr/>
          <p:nvPr/>
        </p:nvSpPr>
        <p:spPr>
          <a:xfrm>
            <a:off x="548640" y="4663440"/>
            <a:ext cx="5440680" cy="1481328"/>
          </a:xfrm>
          <a:prstGeom prst="roundRect">
            <a:avLst>
              <a:gd name="adj" fmla="val 4938"/>
            </a:avLst>
          </a:prstGeom>
          <a:solidFill>
            <a:srgbClr val="F1F3F6"/>
          </a:solidFill>
          <a:ln w="12700">
            <a:solidFill>
              <a:srgbClr val="F1F3F6"/>
            </a:solidFill>
            <a:prstDash val="solid"/>
          </a:ln>
        </p:spPr>
      </p:sp>
      <p:sp>
        <p:nvSpPr>
          <p:cNvPr id="29" name="Shape 23"/>
          <p:cNvSpPr/>
          <p:nvPr/>
        </p:nvSpPr>
        <p:spPr>
          <a:xfrm>
            <a:off x="777240" y="4892040"/>
            <a:ext cx="502920" cy="502920"/>
          </a:xfrm>
          <a:prstGeom prst="ellipse">
            <a:avLst/>
          </a:prstGeom>
          <a:solidFill>
            <a:srgbClr val="1A1F2B"/>
          </a:solidFill>
          <a:ln w="12700">
            <a:solidFill>
              <a:srgbClr val="1A1F2B"/>
            </a:solidFill>
            <a:prstDash val="solid"/>
          </a:ln>
        </p:spPr>
      </p:sp>
      <p:pic>
        <p:nvPicPr>
          <p:cNvPr id="30" name="Image 4" descr="preencoded.png">    </p:cNvPr>
          <p:cNvPicPr>
            <a:picLocks noChangeAspect="1"/>
          </p:cNvPicPr>
          <p:nvPr/>
        </p:nvPicPr>
        <p:blipFill>
          <a:blip r:embed="rId5"/>
          <a:stretch>
            <a:fillRect/>
          </a:stretch>
        </p:blipFill>
        <p:spPr>
          <a:xfrm>
            <a:off x="902970" y="5017770"/>
            <a:ext cx="251460" cy="251460"/>
          </a:xfrm>
          <a:prstGeom prst="rect">
            <a:avLst/>
          </a:prstGeom>
        </p:spPr>
      </p:pic>
      <p:sp>
        <p:nvSpPr>
          <p:cNvPr id="31" name="Text 24"/>
          <p:cNvSpPr txBox="1"/>
          <p:nvPr/>
        </p:nvSpPr>
        <p:spPr>
          <a:xfrm>
            <a:off x="1463040" y="4828032"/>
            <a:ext cx="4389120" cy="32004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Cloud processing delays</a:t>
            </a:r>
            <a:endParaRPr lang="en-US" sz="1500" dirty="0"/>
          </a:p>
        </p:txBody>
      </p:sp>
      <p:sp>
        <p:nvSpPr>
          <p:cNvPr id="32" name="Text 25"/>
          <p:cNvSpPr txBox="1"/>
          <p:nvPr/>
        </p:nvSpPr>
        <p:spPr>
          <a:xfrm>
            <a:off x="1463040" y="5166360"/>
            <a:ext cx="438912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OpenCap needs internet and a processing queue.</a:t>
            </a:r>
            <a:endParaRPr lang="en-US" sz="1200" dirty="0"/>
          </a:p>
        </p:txBody>
      </p:sp>
      <p:sp>
        <p:nvSpPr>
          <p:cNvPr id="33" name="Text 26"/>
          <p:cNvSpPr txBox="1"/>
          <p:nvPr/>
        </p:nvSpPr>
        <p:spPr>
          <a:xfrm>
            <a:off x="1463040" y="5486400"/>
            <a:ext cx="4389120" cy="59436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Plan: </a:t>
            </a:r>
            <a:pPr indent="0" marL="0">
              <a:buNone/>
            </a:pPr>
            <a:r>
              <a:rPr lang="en-US" sz="1200" dirty="0">
                <a:solidFill>
                  <a:srgbClr val="1A1F2B"/>
                </a:solidFill>
                <a:latin typeface="Calibri" pitchFamily="34" charset="0"/>
                <a:ea typeface="Calibri" pitchFamily="34" charset="-122"/>
                <a:cs typeface="Calibri" pitchFamily="34" charset="-120"/>
              </a:rPr>
              <a:t>Process the same day; back up raw videos to the lab drive.</a:t>
            </a:r>
            <a:endParaRPr lang="en-US" sz="1200" dirty="0"/>
          </a:p>
        </p:txBody>
      </p:sp>
      <p:sp>
        <p:nvSpPr>
          <p:cNvPr id="34" name="Shape 27"/>
          <p:cNvSpPr/>
          <p:nvPr/>
        </p:nvSpPr>
        <p:spPr>
          <a:xfrm>
            <a:off x="6172200" y="4663440"/>
            <a:ext cx="5440680" cy="1481328"/>
          </a:xfrm>
          <a:prstGeom prst="roundRect">
            <a:avLst>
              <a:gd name="adj" fmla="val 4938"/>
            </a:avLst>
          </a:prstGeom>
          <a:solidFill>
            <a:srgbClr val="F1F3F6"/>
          </a:solidFill>
          <a:ln w="12700">
            <a:solidFill>
              <a:srgbClr val="F1F3F6"/>
            </a:solidFill>
            <a:prstDash val="solid"/>
          </a:ln>
        </p:spPr>
      </p:sp>
      <p:sp>
        <p:nvSpPr>
          <p:cNvPr id="35" name="Shape 28"/>
          <p:cNvSpPr/>
          <p:nvPr/>
        </p:nvSpPr>
        <p:spPr>
          <a:xfrm>
            <a:off x="6400800" y="4892040"/>
            <a:ext cx="502920" cy="502920"/>
          </a:xfrm>
          <a:prstGeom prst="ellipse">
            <a:avLst/>
          </a:prstGeom>
          <a:solidFill>
            <a:srgbClr val="1A1F2B"/>
          </a:solidFill>
          <a:ln w="12700">
            <a:solidFill>
              <a:srgbClr val="1A1F2B"/>
            </a:solidFill>
            <a:prstDash val="solid"/>
          </a:ln>
        </p:spPr>
      </p:sp>
      <p:pic>
        <p:nvPicPr>
          <p:cNvPr id="36" name="Image 5" descr="preencoded.png">    </p:cNvPr>
          <p:cNvPicPr>
            <a:picLocks noChangeAspect="1"/>
          </p:cNvPicPr>
          <p:nvPr/>
        </p:nvPicPr>
        <p:blipFill>
          <a:blip r:embed="rId6"/>
          <a:stretch>
            <a:fillRect/>
          </a:stretch>
        </p:blipFill>
        <p:spPr>
          <a:xfrm>
            <a:off x="6526530" y="5017770"/>
            <a:ext cx="251460" cy="251460"/>
          </a:xfrm>
          <a:prstGeom prst="rect">
            <a:avLst/>
          </a:prstGeom>
        </p:spPr>
      </p:pic>
      <p:sp>
        <p:nvSpPr>
          <p:cNvPr id="37" name="Text 29"/>
          <p:cNvSpPr txBox="1"/>
          <p:nvPr/>
        </p:nvSpPr>
        <p:spPr>
          <a:xfrm>
            <a:off x="7086600" y="4828032"/>
            <a:ext cx="4389120" cy="320040"/>
          </a:xfrm>
          <a:prstGeom prst="rect">
            <a:avLst/>
          </a:prstGeom>
          <a:noFill/>
          <a:ln/>
        </p:spPr>
        <p:txBody>
          <a:bodyPr wrap="square" lIns="0" tIns="0" rIns="0" bIns="0" rtlCol="0" anchor="t"/>
          <a:lstStyle/>
          <a:p>
            <a:pPr indent="0" marL="0">
              <a:buNone/>
            </a:pPr>
            <a:r>
              <a:rPr lang="en-US" sz="1500" b="1" dirty="0">
                <a:solidFill>
                  <a:srgbClr val="1A1F2B"/>
                </a:solidFill>
                <a:latin typeface="Arial" pitchFamily="34" charset="0"/>
                <a:ea typeface="Arial" pitchFamily="34" charset="-122"/>
                <a:cs typeface="Arial" pitchFamily="34" charset="-120"/>
              </a:rPr>
              <a:t>Schedule slips</a:t>
            </a:r>
            <a:endParaRPr lang="en-US" sz="1500" dirty="0"/>
          </a:p>
        </p:txBody>
      </p:sp>
      <p:sp>
        <p:nvSpPr>
          <p:cNvPr id="38" name="Text 30"/>
          <p:cNvSpPr txBox="1"/>
          <p:nvPr/>
        </p:nvSpPr>
        <p:spPr>
          <a:xfrm>
            <a:off x="7086600" y="5166360"/>
            <a:ext cx="438912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Lab time and equipment are shared.</a:t>
            </a:r>
            <a:endParaRPr lang="en-US" sz="1200" dirty="0"/>
          </a:p>
        </p:txBody>
      </p:sp>
      <p:sp>
        <p:nvSpPr>
          <p:cNvPr id="39" name="Text 31"/>
          <p:cNvSpPr txBox="1"/>
          <p:nvPr/>
        </p:nvSpPr>
        <p:spPr>
          <a:xfrm>
            <a:off x="7086600" y="5486400"/>
            <a:ext cx="4389120" cy="594360"/>
          </a:xfrm>
          <a:prstGeom prst="rect">
            <a:avLst/>
          </a:prstGeom>
          <a:noFill/>
          <a:ln/>
        </p:spPr>
        <p:txBody>
          <a:bodyPr wrap="square" lIns="0" tIns="0" rIns="0" bIns="0" rtlCol="0" anchor="t"/>
          <a:lstStyle/>
          <a:p>
            <a:pPr indent="0" marL="0">
              <a:buNone/>
            </a:pPr>
            <a:r>
              <a:rPr lang="en-US" sz="1200" b="1" dirty="0">
                <a:solidFill>
                  <a:srgbClr val="BF5700"/>
                </a:solidFill>
                <a:latin typeface="Calibri" pitchFamily="34" charset="0"/>
                <a:ea typeface="Calibri" pitchFamily="34" charset="-122"/>
                <a:cs typeface="Calibri" pitchFamily="34" charset="-120"/>
              </a:rPr>
              <a:t>Plan: </a:t>
            </a:r>
            <a:pPr indent="0" marL="0">
              <a:buNone/>
            </a:pPr>
            <a:r>
              <a:rPr lang="en-US" sz="1200" dirty="0">
                <a:solidFill>
                  <a:srgbClr val="1A1F2B"/>
                </a:solidFill>
                <a:latin typeface="Calibri" pitchFamily="34" charset="0"/>
                <a:ea typeface="Calibri" pitchFamily="34" charset="-122"/>
                <a:cs typeface="Calibri" pitchFamily="34" charset="-120"/>
              </a:rPr>
              <a:t>Book Theia3D and Bertec time early; drop stretch goals first.</a:t>
            </a:r>
            <a:endParaRPr lang="en-US" sz="1200" dirty="0"/>
          </a:p>
        </p:txBody>
      </p:sp>
      <p:sp>
        <p:nvSpPr>
          <p:cNvPr id="40" name="Text 32"/>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100" b="1" spc="200" kern="0" dirty="0">
                <a:solidFill>
                  <a:srgbClr val="BF5700"/>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1A1F2B"/>
                </a:solidFill>
                <a:latin typeface="Arial" pitchFamily="34" charset="0"/>
                <a:ea typeface="Arial" pitchFamily="34" charset="-122"/>
                <a:cs typeface="Arial" pitchFamily="34" charset="-120"/>
              </a:rPr>
              <a:t>Sources</a:t>
            </a:r>
            <a:endParaRPr lang="en-US" sz="3200" dirty="0"/>
          </a:p>
        </p:txBody>
      </p:sp>
      <p:sp>
        <p:nvSpPr>
          <p:cNvPr id="4" name="Text 2"/>
          <p:cNvSpPr txBox="1"/>
          <p:nvPr/>
        </p:nvSpPr>
        <p:spPr>
          <a:xfrm>
            <a:off x="548640" y="1417320"/>
            <a:ext cx="11064240" cy="4754880"/>
          </a:xfrm>
          <a:prstGeom prst="rect">
            <a:avLst/>
          </a:prstGeom>
          <a:noFill/>
          <a:ln/>
        </p:spPr>
        <p:txBody>
          <a:bodyPr wrap="square" lIns="0" tIns="0" rIns="0" bIns="0" rtlCol="0" anchor="t"/>
          <a:lstStyle/>
          <a:p>
            <a:pPr indent="0" marL="0">
              <a:spcAft>
                <a:spcPts val="1200"/>
              </a:spcAft>
              <a:buNone/>
            </a:pPr>
            <a:r>
              <a:rPr lang="en-US" sz="1500" dirty="0">
                <a:solidFill>
                  <a:srgbClr val="1A1F2B"/>
                </a:solidFill>
                <a:latin typeface="Calibri" pitchFamily="34" charset="0"/>
                <a:ea typeface="Calibri" pitchFamily="34" charset="-122"/>
                <a:cs typeface="Calibri" pitchFamily="34" charset="-120"/>
              </a:rPr>
              <a:t>[1]  Uhlrich SD, Falisse A, Kidziński Ł, et al. OpenCap: Human movement dynamics from smartphone videos. PLOS Computational Biology. 2023;19(10):e1011462.</a:t>
            </a:r>
            <a:endParaRPr lang="en-US" sz="1500" dirty="0"/>
          </a:p>
          <a:p>
            <a:pPr indent="0" marL="0">
              <a:spcAft>
                <a:spcPts val="1200"/>
              </a:spcAft>
              <a:buNone/>
            </a:pPr>
            <a:r>
              <a:rPr lang="en-US" sz="1500" dirty="0">
                <a:solidFill>
                  <a:srgbClr val="1A1F2B"/>
                </a:solidFill>
                <a:latin typeface="Calibri" pitchFamily="34" charset="0"/>
                <a:ea typeface="Calibri" pitchFamily="34" charset="-122"/>
                <a:cs typeface="Calibri" pitchFamily="34" charset="-120"/>
              </a:rPr>
              <a:t>[2]  Kanko RM, Laende EK, Davis EM, Selbie WS, Deluzio KJ. Concurrent assessment of gait kinematics using marker-based and markerless motion capture. Journal of Biomechanics. 2021;127:110665.</a:t>
            </a:r>
            <a:endParaRPr lang="en-US" sz="1500" dirty="0"/>
          </a:p>
          <a:p>
            <a:pPr indent="0" marL="0">
              <a:spcAft>
                <a:spcPts val="1200"/>
              </a:spcAft>
              <a:buNone/>
            </a:pPr>
            <a:r>
              <a:rPr lang="en-US" sz="1500" dirty="0">
                <a:solidFill>
                  <a:srgbClr val="1A1F2B"/>
                </a:solidFill>
                <a:latin typeface="Calibri" pitchFamily="34" charset="0"/>
                <a:ea typeface="Calibri" pitchFamily="34" charset="-122"/>
                <a:cs typeface="Calibri" pitchFamily="34" charset="-120"/>
              </a:rPr>
              <a:t>[3]  Delp SL, Anderson FC, Arnold AS, et al. OpenSim: open-source software to create and analyze dynamic simulations of movement. IEEE Transactions on Biomedical Engineering. 2007;54(11):1940–1950.</a:t>
            </a:r>
            <a:endParaRPr lang="en-US" sz="1500" dirty="0"/>
          </a:p>
          <a:p>
            <a:pPr indent="0" marL="0">
              <a:spcAft>
                <a:spcPts val="1200"/>
              </a:spcAft>
              <a:buNone/>
            </a:pPr>
            <a:r>
              <a:rPr lang="en-US" sz="1500" dirty="0">
                <a:solidFill>
                  <a:srgbClr val="1A1F2B"/>
                </a:solidFill>
                <a:latin typeface="Calibri" pitchFamily="34" charset="0"/>
                <a:ea typeface="Calibri" pitchFamily="34" charset="-122"/>
                <a:cs typeface="Calibri" pitchFamily="34" charset="-120"/>
              </a:rPr>
              <a:t>[4]  Seth A, Hicks JL, Uchida TK, et al. OpenSim: Simulating musculoskeletal dynamics and neuromuscular control to study human and animal movement. PLOS Computational Biology. 2018;14(7):e1006223.</a:t>
            </a:r>
            <a:endParaRPr lang="en-US" sz="1500" dirty="0"/>
          </a:p>
          <a:p>
            <a:pPr indent="0" marL="0">
              <a:spcAft>
                <a:spcPts val="1200"/>
              </a:spcAft>
              <a:buNone/>
            </a:pPr>
            <a:r>
              <a:rPr lang="en-US" sz="1500" dirty="0">
                <a:solidFill>
                  <a:srgbClr val="1A1F2B"/>
                </a:solidFill>
                <a:latin typeface="Calibri" pitchFamily="34" charset="0"/>
                <a:ea typeface="Calibri" pitchFamily="34" charset="-122"/>
                <a:cs typeface="Calibri" pitchFamily="34" charset="-120"/>
              </a:rPr>
              <a:t>[5]  Cotton RJ, et al. Portable biomechanics laboratory enables clinically accessible movement analysis from a handheld smartphone. 2025.</a:t>
            </a:r>
            <a:endParaRPr lang="en-US" sz="1500" dirty="0"/>
          </a:p>
          <a:p>
            <a:pPr indent="0" marL="0">
              <a:spcAft>
                <a:spcPts val="1200"/>
              </a:spcAft>
              <a:buNone/>
            </a:pPr>
            <a:r>
              <a:rPr lang="en-US" sz="1500" dirty="0">
                <a:solidFill>
                  <a:srgbClr val="1A1F2B"/>
                </a:solidFill>
                <a:latin typeface="Calibri" pitchFamily="34" charset="0"/>
                <a:ea typeface="Calibri" pitchFamily="34" charset="-122"/>
                <a:cs typeface="Calibri" pitchFamily="34" charset="-120"/>
              </a:rPr>
              <a:t>[6]  Bland JM, Altman DG. Statistical methods for assessing agreement between two methods of clinical measurement. The Lancet. 1986;1(8476):307–310.</a:t>
            </a:r>
            <a:endParaRPr lang="en-US" sz="1500" dirty="0"/>
          </a:p>
        </p:txBody>
      </p:sp>
      <p:sp>
        <p:nvSpPr>
          <p:cNvPr id="5" name="Text 3"/>
          <p:cNvSpPr txBox="1"/>
          <p:nvPr/>
        </p:nvSpPr>
        <p:spPr>
          <a:xfrm>
            <a:off x="11274552" y="6400800"/>
            <a:ext cx="45720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F2B"/>
        </a:solidFill>
      </p:bgPr>
    </p:bg>
    <p:spTree>
      <p:nvGrpSpPr>
        <p:cNvPr id="1" name=""/>
        <p:cNvGrpSpPr/>
        <p:nvPr/>
      </p:nvGrpSpPr>
      <p:grpSpPr>
        <a:xfrm>
          <a:off x="0" y="0"/>
          <a:ext cx="0" cy="0"/>
          <a:chOff x="0" y="0"/>
          <a:chExt cx="0" cy="0"/>
        </a:xfrm>
      </p:grpSpPr>
      <p:sp>
        <p:nvSpPr>
          <p:cNvPr id="2" name="Text 0"/>
          <p:cNvSpPr txBox="1"/>
          <p:nvPr/>
        </p:nvSpPr>
        <p:spPr>
          <a:xfrm>
            <a:off x="640080" y="731520"/>
            <a:ext cx="5486400" cy="274320"/>
          </a:xfrm>
          <a:prstGeom prst="rect">
            <a:avLst/>
          </a:prstGeom>
          <a:noFill/>
          <a:ln/>
        </p:spPr>
        <p:txBody>
          <a:bodyPr wrap="square" lIns="0" tIns="0" rIns="0" bIns="0" rtlCol="0" anchor="t"/>
          <a:lstStyle/>
          <a:p>
            <a:pPr indent="0" marL="0">
              <a:buNone/>
            </a:pPr>
            <a:r>
              <a:rPr lang="en-US" sz="1200" b="1" spc="200" kern="0" dirty="0">
                <a:solidFill>
                  <a:srgbClr val="BF5700"/>
                </a:solidFill>
                <a:latin typeface="Calibri" pitchFamily="34" charset="0"/>
                <a:ea typeface="Calibri" pitchFamily="34" charset="-122"/>
                <a:cs typeface="Calibri" pitchFamily="34" charset="-120"/>
              </a:rPr>
              <a:t>WHAT WE NEED</a:t>
            </a:r>
            <a:endParaRPr lang="en-US" sz="1200" dirty="0"/>
          </a:p>
        </p:txBody>
      </p:sp>
      <p:sp>
        <p:nvSpPr>
          <p:cNvPr id="3" name="Text 1"/>
          <p:cNvSpPr txBox="1"/>
          <p:nvPr/>
        </p:nvSpPr>
        <p:spPr>
          <a:xfrm>
            <a:off x="640080" y="1097280"/>
            <a:ext cx="6675120" cy="16459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Two phones, one lab, and a clear answer by December</a:t>
            </a:r>
            <a:endParaRPr lang="en-US" sz="3600" dirty="0"/>
          </a:p>
        </p:txBody>
      </p:sp>
      <p:sp>
        <p:nvSpPr>
          <p:cNvPr id="4" name="Shape 2"/>
          <p:cNvSpPr/>
          <p:nvPr/>
        </p:nvSpPr>
        <p:spPr>
          <a:xfrm>
            <a:off x="640080" y="3154680"/>
            <a:ext cx="475488" cy="475488"/>
          </a:xfrm>
          <a:prstGeom prst="ellipse">
            <a:avLst/>
          </a:prstGeom>
          <a:solidFill>
            <a:srgbClr val="BF5700"/>
          </a:solidFill>
          <a:ln w="12700">
            <a:solidFill>
              <a:srgbClr val="BF5700"/>
            </a:solidFill>
            <a:prstDash val="solid"/>
          </a:ln>
        </p:spPr>
      </p:sp>
      <p:pic>
        <p:nvPicPr>
          <p:cNvPr id="5" name="Image 0" descr="preencoded.png">    </p:cNvPr>
          <p:cNvPicPr>
            <a:picLocks noChangeAspect="1"/>
          </p:cNvPicPr>
          <p:nvPr/>
        </p:nvPicPr>
        <p:blipFill>
          <a:blip r:embed="rId1"/>
          <a:stretch>
            <a:fillRect/>
          </a:stretch>
        </p:blipFill>
        <p:spPr>
          <a:xfrm>
            <a:off x="758952" y="3273552"/>
            <a:ext cx="237744" cy="237744"/>
          </a:xfrm>
          <a:prstGeom prst="rect">
            <a:avLst/>
          </a:prstGeom>
        </p:spPr>
      </p:pic>
      <p:sp>
        <p:nvSpPr>
          <p:cNvPr id="6" name="Text 3"/>
          <p:cNvSpPr txBox="1"/>
          <p:nvPr/>
        </p:nvSpPr>
        <p:spPr>
          <a:xfrm>
            <a:off x="1280160" y="3154680"/>
            <a:ext cx="5852160" cy="47548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Scheduled time on Theia3D and the Bertec treadmill</a:t>
            </a:r>
            <a:endParaRPr lang="en-US" sz="1700" dirty="0"/>
          </a:p>
        </p:txBody>
      </p:sp>
      <p:sp>
        <p:nvSpPr>
          <p:cNvPr id="7" name="Shape 4"/>
          <p:cNvSpPr/>
          <p:nvPr/>
        </p:nvSpPr>
        <p:spPr>
          <a:xfrm>
            <a:off x="640080" y="3867912"/>
            <a:ext cx="475488" cy="475488"/>
          </a:xfrm>
          <a:prstGeom prst="ellipse">
            <a:avLst/>
          </a:prstGeom>
          <a:solidFill>
            <a:srgbClr val="BF5700"/>
          </a:solidFill>
          <a:ln w="12700">
            <a:solidFill>
              <a:srgbClr val="BF5700"/>
            </a:solidFill>
            <a:prstDash val="solid"/>
          </a:ln>
        </p:spPr>
      </p:sp>
      <p:pic>
        <p:nvPicPr>
          <p:cNvPr id="8" name="Image 1" descr="preencoded.png">    </p:cNvPr>
          <p:cNvPicPr>
            <a:picLocks noChangeAspect="1"/>
          </p:cNvPicPr>
          <p:nvPr/>
        </p:nvPicPr>
        <p:blipFill>
          <a:blip r:embed="rId2"/>
          <a:stretch>
            <a:fillRect/>
          </a:stretch>
        </p:blipFill>
        <p:spPr>
          <a:xfrm>
            <a:off x="758952" y="3986784"/>
            <a:ext cx="237744" cy="237744"/>
          </a:xfrm>
          <a:prstGeom prst="rect">
            <a:avLst/>
          </a:prstGeom>
        </p:spPr>
      </p:pic>
      <p:sp>
        <p:nvSpPr>
          <p:cNvPr id="9" name="Text 5"/>
          <p:cNvSpPr txBox="1"/>
          <p:nvPr/>
        </p:nvSpPr>
        <p:spPr>
          <a:xfrm>
            <a:off x="1280160" y="3867912"/>
            <a:ext cx="5852160" cy="47548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Access to the terrain park for Aim 3</a:t>
            </a:r>
            <a:endParaRPr lang="en-US" sz="1700" dirty="0"/>
          </a:p>
        </p:txBody>
      </p:sp>
      <p:sp>
        <p:nvSpPr>
          <p:cNvPr id="10" name="Shape 6"/>
          <p:cNvSpPr/>
          <p:nvPr/>
        </p:nvSpPr>
        <p:spPr>
          <a:xfrm>
            <a:off x="640080" y="4581144"/>
            <a:ext cx="475488" cy="475488"/>
          </a:xfrm>
          <a:prstGeom prst="ellipse">
            <a:avLst/>
          </a:prstGeom>
          <a:solidFill>
            <a:srgbClr val="BF5700"/>
          </a:solidFill>
          <a:ln w="12700">
            <a:solidFill>
              <a:srgbClr val="BF5700"/>
            </a:solidFill>
            <a:prstDash val="solid"/>
          </a:ln>
        </p:spPr>
      </p:sp>
      <p:pic>
        <p:nvPicPr>
          <p:cNvPr id="11" name="Image 2" descr="preencoded.png">    </p:cNvPr>
          <p:cNvPicPr>
            <a:picLocks noChangeAspect="1"/>
          </p:cNvPicPr>
          <p:nvPr/>
        </p:nvPicPr>
        <p:blipFill>
          <a:blip r:embed="rId3"/>
          <a:stretch>
            <a:fillRect/>
          </a:stretch>
        </p:blipFill>
        <p:spPr>
          <a:xfrm>
            <a:off x="758952" y="4700016"/>
            <a:ext cx="237744" cy="237744"/>
          </a:xfrm>
          <a:prstGeom prst="rect">
            <a:avLst/>
          </a:prstGeom>
        </p:spPr>
      </p:pic>
      <p:sp>
        <p:nvSpPr>
          <p:cNvPr id="12" name="Text 7"/>
          <p:cNvSpPr txBox="1"/>
          <p:nvPr/>
        </p:nvSpPr>
        <p:spPr>
          <a:xfrm>
            <a:off x="1280160" y="4581144"/>
            <a:ext cx="5852160" cy="47548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About $130 in materials</a:t>
            </a:r>
            <a:endParaRPr lang="en-US" sz="1700" dirty="0"/>
          </a:p>
        </p:txBody>
      </p:sp>
      <p:sp>
        <p:nvSpPr>
          <p:cNvPr id="13" name="Shape 8"/>
          <p:cNvSpPr/>
          <p:nvPr/>
        </p:nvSpPr>
        <p:spPr>
          <a:xfrm>
            <a:off x="640080" y="5294376"/>
            <a:ext cx="475488" cy="475488"/>
          </a:xfrm>
          <a:prstGeom prst="ellipse">
            <a:avLst/>
          </a:prstGeom>
          <a:solidFill>
            <a:srgbClr val="BF5700"/>
          </a:solidFill>
          <a:ln w="12700">
            <a:solidFill>
              <a:srgbClr val="BF5700"/>
            </a:solidFill>
            <a:prstDash val="solid"/>
          </a:ln>
        </p:spPr>
      </p:sp>
      <p:pic>
        <p:nvPicPr>
          <p:cNvPr id="14" name="Image 3" descr="preencoded.png">    </p:cNvPr>
          <p:cNvPicPr>
            <a:picLocks noChangeAspect="1"/>
          </p:cNvPicPr>
          <p:nvPr/>
        </p:nvPicPr>
        <p:blipFill>
          <a:blip r:embed="rId4"/>
          <a:stretch>
            <a:fillRect/>
          </a:stretch>
        </p:blipFill>
        <p:spPr>
          <a:xfrm>
            <a:off x="758952" y="5413248"/>
            <a:ext cx="237744" cy="237744"/>
          </a:xfrm>
          <a:prstGeom prst="rect">
            <a:avLst/>
          </a:prstGeom>
        </p:spPr>
      </p:pic>
      <p:sp>
        <p:nvSpPr>
          <p:cNvPr id="15" name="Text 9"/>
          <p:cNvSpPr txBox="1"/>
          <p:nvPr/>
        </p:nvSpPr>
        <p:spPr>
          <a:xfrm>
            <a:off x="1280160" y="5294376"/>
            <a:ext cx="5852160" cy="47548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Feedback on scope and hypotheses</a:t>
            </a:r>
            <a:endParaRPr lang="en-US" sz="1700" dirty="0"/>
          </a:p>
        </p:txBody>
      </p:sp>
      <p:sp>
        <p:nvSpPr>
          <p:cNvPr id="16" name="Shape 10"/>
          <p:cNvSpPr/>
          <p:nvPr/>
        </p:nvSpPr>
        <p:spPr>
          <a:xfrm flipV="1">
            <a:off x="9484614" y="1991106"/>
            <a:ext cx="48006" cy="1440180"/>
          </a:xfrm>
          <a:prstGeom prst="line">
            <a:avLst/>
          </a:prstGeom>
          <a:noFill/>
          <a:ln w="28575">
            <a:solidFill>
              <a:srgbClr val="6B7485"/>
            </a:solidFill>
            <a:prstDash val="solid"/>
          </a:ln>
        </p:spPr>
      </p:sp>
      <p:sp>
        <p:nvSpPr>
          <p:cNvPr id="17" name="Shape 11"/>
          <p:cNvSpPr/>
          <p:nvPr/>
        </p:nvSpPr>
        <p:spPr>
          <a:xfrm>
            <a:off x="9532620" y="1991106"/>
            <a:ext cx="115214" cy="163220"/>
          </a:xfrm>
          <a:prstGeom prst="line">
            <a:avLst/>
          </a:prstGeom>
          <a:noFill/>
          <a:ln w="28575">
            <a:solidFill>
              <a:srgbClr val="6B7485"/>
            </a:solidFill>
            <a:prstDash val="solid"/>
          </a:ln>
        </p:spPr>
      </p:sp>
      <p:sp>
        <p:nvSpPr>
          <p:cNvPr id="18" name="Shape 12"/>
          <p:cNvSpPr/>
          <p:nvPr/>
        </p:nvSpPr>
        <p:spPr>
          <a:xfrm flipV="1">
            <a:off x="9417406" y="1991106"/>
            <a:ext cx="115214" cy="163220"/>
          </a:xfrm>
          <a:prstGeom prst="line">
            <a:avLst/>
          </a:prstGeom>
          <a:noFill/>
          <a:ln w="28575">
            <a:solidFill>
              <a:srgbClr val="6B7485"/>
            </a:solidFill>
            <a:prstDash val="solid"/>
          </a:ln>
        </p:spPr>
      </p:sp>
      <p:sp>
        <p:nvSpPr>
          <p:cNvPr id="19" name="Shape 13"/>
          <p:cNvSpPr/>
          <p:nvPr/>
        </p:nvSpPr>
        <p:spPr>
          <a:xfrm>
            <a:off x="9647834" y="2154326"/>
            <a:ext cx="268834" cy="604876"/>
          </a:xfrm>
          <a:prstGeom prst="line">
            <a:avLst/>
          </a:prstGeom>
          <a:noFill/>
          <a:ln w="28575">
            <a:solidFill>
              <a:srgbClr val="6B7485"/>
            </a:solidFill>
            <a:prstDash val="solid"/>
          </a:ln>
        </p:spPr>
      </p:sp>
      <p:sp>
        <p:nvSpPr>
          <p:cNvPr id="20" name="Shape 14"/>
          <p:cNvSpPr/>
          <p:nvPr/>
        </p:nvSpPr>
        <p:spPr>
          <a:xfrm>
            <a:off x="9916668" y="2759202"/>
            <a:ext cx="211226" cy="480060"/>
          </a:xfrm>
          <a:prstGeom prst="line">
            <a:avLst/>
          </a:prstGeom>
          <a:noFill/>
          <a:ln w="28575">
            <a:solidFill>
              <a:srgbClr val="6B7485"/>
            </a:solidFill>
            <a:prstDash val="solid"/>
          </a:ln>
        </p:spPr>
      </p:sp>
      <p:sp>
        <p:nvSpPr>
          <p:cNvPr id="21" name="Shape 15"/>
          <p:cNvSpPr/>
          <p:nvPr/>
        </p:nvSpPr>
        <p:spPr>
          <a:xfrm flipV="1">
            <a:off x="9244584" y="2154326"/>
            <a:ext cx="172822" cy="604876"/>
          </a:xfrm>
          <a:prstGeom prst="line">
            <a:avLst/>
          </a:prstGeom>
          <a:noFill/>
          <a:ln w="28575">
            <a:solidFill>
              <a:srgbClr val="6B7485"/>
            </a:solidFill>
            <a:prstDash val="solid"/>
          </a:ln>
        </p:spPr>
      </p:sp>
      <p:sp>
        <p:nvSpPr>
          <p:cNvPr id="22" name="Shape 16"/>
          <p:cNvSpPr/>
          <p:nvPr/>
        </p:nvSpPr>
        <p:spPr>
          <a:xfrm flipV="1">
            <a:off x="9071762" y="2759202"/>
            <a:ext cx="172822" cy="432054"/>
          </a:xfrm>
          <a:prstGeom prst="line">
            <a:avLst/>
          </a:prstGeom>
          <a:noFill/>
          <a:ln w="28575">
            <a:solidFill>
              <a:srgbClr val="6B7485"/>
            </a:solidFill>
            <a:prstDash val="solid"/>
          </a:ln>
        </p:spPr>
      </p:sp>
      <p:sp>
        <p:nvSpPr>
          <p:cNvPr id="23" name="Shape 17"/>
          <p:cNvSpPr/>
          <p:nvPr/>
        </p:nvSpPr>
        <p:spPr>
          <a:xfrm>
            <a:off x="9484614" y="3431286"/>
            <a:ext cx="96012" cy="48006"/>
          </a:xfrm>
          <a:prstGeom prst="line">
            <a:avLst/>
          </a:prstGeom>
          <a:noFill/>
          <a:ln w="28575">
            <a:solidFill>
              <a:srgbClr val="6B7485"/>
            </a:solidFill>
            <a:prstDash val="solid"/>
          </a:ln>
        </p:spPr>
      </p:sp>
      <p:sp>
        <p:nvSpPr>
          <p:cNvPr id="24" name="Shape 18"/>
          <p:cNvSpPr/>
          <p:nvPr/>
        </p:nvSpPr>
        <p:spPr>
          <a:xfrm flipV="1">
            <a:off x="9388602" y="3431286"/>
            <a:ext cx="96012" cy="48006"/>
          </a:xfrm>
          <a:prstGeom prst="line">
            <a:avLst/>
          </a:prstGeom>
          <a:noFill/>
          <a:ln w="28575">
            <a:solidFill>
              <a:srgbClr val="6B7485"/>
            </a:solidFill>
            <a:prstDash val="solid"/>
          </a:ln>
        </p:spPr>
      </p:sp>
      <p:sp>
        <p:nvSpPr>
          <p:cNvPr id="25" name="Shape 19"/>
          <p:cNvSpPr/>
          <p:nvPr/>
        </p:nvSpPr>
        <p:spPr>
          <a:xfrm>
            <a:off x="9580626" y="3479292"/>
            <a:ext cx="288036" cy="720090"/>
          </a:xfrm>
          <a:prstGeom prst="line">
            <a:avLst/>
          </a:prstGeom>
          <a:noFill/>
          <a:ln w="28575">
            <a:solidFill>
              <a:srgbClr val="6B7485"/>
            </a:solidFill>
            <a:prstDash val="solid"/>
          </a:ln>
        </p:spPr>
      </p:sp>
      <p:sp>
        <p:nvSpPr>
          <p:cNvPr id="26" name="Shape 20"/>
          <p:cNvSpPr/>
          <p:nvPr/>
        </p:nvSpPr>
        <p:spPr>
          <a:xfrm flipV="1">
            <a:off x="9772650" y="4199382"/>
            <a:ext cx="96012" cy="768096"/>
          </a:xfrm>
          <a:prstGeom prst="line">
            <a:avLst/>
          </a:prstGeom>
          <a:noFill/>
          <a:ln w="28575">
            <a:solidFill>
              <a:srgbClr val="6B7485"/>
            </a:solidFill>
            <a:prstDash val="solid"/>
          </a:ln>
        </p:spPr>
      </p:sp>
      <p:sp>
        <p:nvSpPr>
          <p:cNvPr id="27" name="Shape 21"/>
          <p:cNvSpPr/>
          <p:nvPr/>
        </p:nvSpPr>
        <p:spPr>
          <a:xfrm>
            <a:off x="9772650" y="4967478"/>
            <a:ext cx="288036" cy="67208"/>
          </a:xfrm>
          <a:prstGeom prst="line">
            <a:avLst/>
          </a:prstGeom>
          <a:noFill/>
          <a:ln w="28575">
            <a:solidFill>
              <a:srgbClr val="6B7485"/>
            </a:solidFill>
            <a:prstDash val="solid"/>
          </a:ln>
        </p:spPr>
      </p:sp>
      <p:sp>
        <p:nvSpPr>
          <p:cNvPr id="28" name="Shape 22"/>
          <p:cNvSpPr/>
          <p:nvPr/>
        </p:nvSpPr>
        <p:spPr>
          <a:xfrm flipV="1">
            <a:off x="9244584" y="3479292"/>
            <a:ext cx="144018" cy="720090"/>
          </a:xfrm>
          <a:prstGeom prst="line">
            <a:avLst/>
          </a:prstGeom>
          <a:noFill/>
          <a:ln w="28575">
            <a:solidFill>
              <a:srgbClr val="6B7485"/>
            </a:solidFill>
            <a:prstDash val="solid"/>
          </a:ln>
        </p:spPr>
      </p:sp>
      <p:sp>
        <p:nvSpPr>
          <p:cNvPr id="29" name="Shape 23"/>
          <p:cNvSpPr/>
          <p:nvPr/>
        </p:nvSpPr>
        <p:spPr>
          <a:xfrm flipV="1">
            <a:off x="8860536" y="4199382"/>
            <a:ext cx="384048" cy="624078"/>
          </a:xfrm>
          <a:prstGeom prst="line">
            <a:avLst/>
          </a:prstGeom>
          <a:noFill/>
          <a:ln w="28575">
            <a:solidFill>
              <a:srgbClr val="6B7485"/>
            </a:solidFill>
            <a:prstDash val="solid"/>
          </a:ln>
        </p:spPr>
      </p:sp>
      <p:sp>
        <p:nvSpPr>
          <p:cNvPr id="30" name="Shape 24"/>
          <p:cNvSpPr/>
          <p:nvPr/>
        </p:nvSpPr>
        <p:spPr>
          <a:xfrm>
            <a:off x="8860536" y="4823460"/>
            <a:ext cx="144018" cy="211226"/>
          </a:xfrm>
          <a:prstGeom prst="line">
            <a:avLst/>
          </a:prstGeom>
          <a:noFill/>
          <a:ln w="28575">
            <a:solidFill>
              <a:srgbClr val="6B7485"/>
            </a:solidFill>
            <a:prstDash val="solid"/>
          </a:ln>
        </p:spPr>
      </p:sp>
      <p:sp>
        <p:nvSpPr>
          <p:cNvPr id="31" name="Shape 25"/>
          <p:cNvSpPr/>
          <p:nvPr/>
        </p:nvSpPr>
        <p:spPr>
          <a:xfrm>
            <a:off x="9311792" y="1194206"/>
            <a:ext cx="537667" cy="537667"/>
          </a:xfrm>
          <a:prstGeom prst="ellipse">
            <a:avLst/>
          </a:prstGeom>
          <a:solidFill>
            <a:srgbClr val="6B7485">
              <a:alpha val="0"/>
            </a:srgbClr>
          </a:solidFill>
          <a:ln w="28575">
            <a:solidFill>
              <a:srgbClr val="6B7485"/>
            </a:solidFill>
            <a:prstDash val="solid"/>
          </a:ln>
        </p:spPr>
      </p:sp>
      <p:sp>
        <p:nvSpPr>
          <p:cNvPr id="32" name="Shape 26"/>
          <p:cNvSpPr/>
          <p:nvPr/>
        </p:nvSpPr>
        <p:spPr>
          <a:xfrm>
            <a:off x="9581312" y="2087804"/>
            <a:ext cx="133045" cy="133045"/>
          </a:xfrm>
          <a:prstGeom prst="ellipse">
            <a:avLst/>
          </a:prstGeom>
          <a:solidFill>
            <a:srgbClr val="BF5700"/>
          </a:solidFill>
          <a:ln w="12700">
            <a:solidFill>
              <a:srgbClr val="BF5700"/>
            </a:solidFill>
            <a:prstDash val="solid"/>
          </a:ln>
        </p:spPr>
      </p:sp>
      <p:sp>
        <p:nvSpPr>
          <p:cNvPr id="33" name="Shape 27"/>
          <p:cNvSpPr/>
          <p:nvPr/>
        </p:nvSpPr>
        <p:spPr>
          <a:xfrm>
            <a:off x="9350883" y="2087804"/>
            <a:ext cx="133045" cy="133045"/>
          </a:xfrm>
          <a:prstGeom prst="ellipse">
            <a:avLst/>
          </a:prstGeom>
          <a:solidFill>
            <a:srgbClr val="BF5700"/>
          </a:solidFill>
          <a:ln w="12700">
            <a:solidFill>
              <a:srgbClr val="BF5700"/>
            </a:solidFill>
            <a:prstDash val="solid"/>
          </a:ln>
        </p:spPr>
      </p:sp>
      <p:sp>
        <p:nvSpPr>
          <p:cNvPr id="34" name="Shape 28"/>
          <p:cNvSpPr/>
          <p:nvPr/>
        </p:nvSpPr>
        <p:spPr>
          <a:xfrm>
            <a:off x="9850145" y="2692679"/>
            <a:ext cx="133045" cy="133045"/>
          </a:xfrm>
          <a:prstGeom prst="ellipse">
            <a:avLst/>
          </a:prstGeom>
          <a:solidFill>
            <a:srgbClr val="BF5700"/>
          </a:solidFill>
          <a:ln w="12700">
            <a:solidFill>
              <a:srgbClr val="BF5700"/>
            </a:solidFill>
            <a:prstDash val="solid"/>
          </a:ln>
        </p:spPr>
      </p:sp>
      <p:sp>
        <p:nvSpPr>
          <p:cNvPr id="35" name="Shape 29"/>
          <p:cNvSpPr/>
          <p:nvPr/>
        </p:nvSpPr>
        <p:spPr>
          <a:xfrm>
            <a:off x="10061372" y="3172739"/>
            <a:ext cx="133045" cy="133045"/>
          </a:xfrm>
          <a:prstGeom prst="ellipse">
            <a:avLst/>
          </a:prstGeom>
          <a:solidFill>
            <a:srgbClr val="BF5700"/>
          </a:solidFill>
          <a:ln w="12700">
            <a:solidFill>
              <a:srgbClr val="BF5700"/>
            </a:solidFill>
            <a:prstDash val="solid"/>
          </a:ln>
        </p:spPr>
      </p:sp>
      <p:sp>
        <p:nvSpPr>
          <p:cNvPr id="36" name="Shape 30"/>
          <p:cNvSpPr/>
          <p:nvPr/>
        </p:nvSpPr>
        <p:spPr>
          <a:xfrm>
            <a:off x="9178061" y="2692679"/>
            <a:ext cx="133045" cy="133045"/>
          </a:xfrm>
          <a:prstGeom prst="ellipse">
            <a:avLst/>
          </a:prstGeom>
          <a:solidFill>
            <a:srgbClr val="BF5700"/>
          </a:solidFill>
          <a:ln w="12700">
            <a:solidFill>
              <a:srgbClr val="BF5700"/>
            </a:solidFill>
            <a:prstDash val="solid"/>
          </a:ln>
        </p:spPr>
      </p:sp>
      <p:sp>
        <p:nvSpPr>
          <p:cNvPr id="37" name="Shape 31"/>
          <p:cNvSpPr/>
          <p:nvPr/>
        </p:nvSpPr>
        <p:spPr>
          <a:xfrm>
            <a:off x="9005240" y="3124733"/>
            <a:ext cx="133045" cy="133045"/>
          </a:xfrm>
          <a:prstGeom prst="ellipse">
            <a:avLst/>
          </a:prstGeom>
          <a:solidFill>
            <a:srgbClr val="BF5700"/>
          </a:solidFill>
          <a:ln w="12700">
            <a:solidFill>
              <a:srgbClr val="BF5700"/>
            </a:solidFill>
            <a:prstDash val="solid"/>
          </a:ln>
        </p:spPr>
      </p:sp>
      <p:sp>
        <p:nvSpPr>
          <p:cNvPr id="38" name="Shape 32"/>
          <p:cNvSpPr/>
          <p:nvPr/>
        </p:nvSpPr>
        <p:spPr>
          <a:xfrm>
            <a:off x="9514103" y="3412769"/>
            <a:ext cx="133045" cy="133045"/>
          </a:xfrm>
          <a:prstGeom prst="ellipse">
            <a:avLst/>
          </a:prstGeom>
          <a:solidFill>
            <a:srgbClr val="BF5700"/>
          </a:solidFill>
          <a:ln w="12700">
            <a:solidFill>
              <a:srgbClr val="BF5700"/>
            </a:solidFill>
            <a:prstDash val="solid"/>
          </a:ln>
        </p:spPr>
      </p:sp>
      <p:sp>
        <p:nvSpPr>
          <p:cNvPr id="39" name="Shape 33"/>
          <p:cNvSpPr/>
          <p:nvPr/>
        </p:nvSpPr>
        <p:spPr>
          <a:xfrm>
            <a:off x="9322079" y="3412769"/>
            <a:ext cx="133045" cy="133045"/>
          </a:xfrm>
          <a:prstGeom prst="ellipse">
            <a:avLst/>
          </a:prstGeom>
          <a:solidFill>
            <a:srgbClr val="BF5700"/>
          </a:solidFill>
          <a:ln w="12700">
            <a:solidFill>
              <a:srgbClr val="BF5700"/>
            </a:solidFill>
            <a:prstDash val="solid"/>
          </a:ln>
        </p:spPr>
      </p:sp>
      <p:sp>
        <p:nvSpPr>
          <p:cNvPr id="40" name="Shape 34"/>
          <p:cNvSpPr/>
          <p:nvPr/>
        </p:nvSpPr>
        <p:spPr>
          <a:xfrm>
            <a:off x="9802139" y="4132859"/>
            <a:ext cx="133045" cy="133045"/>
          </a:xfrm>
          <a:prstGeom prst="ellipse">
            <a:avLst/>
          </a:prstGeom>
          <a:solidFill>
            <a:srgbClr val="BF5700"/>
          </a:solidFill>
          <a:ln w="12700">
            <a:solidFill>
              <a:srgbClr val="BF5700"/>
            </a:solidFill>
            <a:prstDash val="solid"/>
          </a:ln>
        </p:spPr>
      </p:sp>
      <p:sp>
        <p:nvSpPr>
          <p:cNvPr id="41" name="Shape 35"/>
          <p:cNvSpPr/>
          <p:nvPr/>
        </p:nvSpPr>
        <p:spPr>
          <a:xfrm>
            <a:off x="9706127" y="4900955"/>
            <a:ext cx="133045" cy="133045"/>
          </a:xfrm>
          <a:prstGeom prst="ellipse">
            <a:avLst/>
          </a:prstGeom>
          <a:solidFill>
            <a:srgbClr val="BF5700"/>
          </a:solidFill>
          <a:ln w="12700">
            <a:solidFill>
              <a:srgbClr val="BF5700"/>
            </a:solidFill>
            <a:prstDash val="solid"/>
          </a:ln>
        </p:spPr>
      </p:sp>
      <p:sp>
        <p:nvSpPr>
          <p:cNvPr id="42" name="Shape 36"/>
          <p:cNvSpPr/>
          <p:nvPr/>
        </p:nvSpPr>
        <p:spPr>
          <a:xfrm>
            <a:off x="9994163" y="4968164"/>
            <a:ext cx="133045" cy="133045"/>
          </a:xfrm>
          <a:prstGeom prst="ellipse">
            <a:avLst/>
          </a:prstGeom>
          <a:solidFill>
            <a:srgbClr val="BF5700"/>
          </a:solidFill>
          <a:ln w="12700">
            <a:solidFill>
              <a:srgbClr val="BF5700"/>
            </a:solidFill>
            <a:prstDash val="solid"/>
          </a:ln>
        </p:spPr>
      </p:sp>
      <p:sp>
        <p:nvSpPr>
          <p:cNvPr id="43" name="Shape 37"/>
          <p:cNvSpPr/>
          <p:nvPr/>
        </p:nvSpPr>
        <p:spPr>
          <a:xfrm>
            <a:off x="9178061" y="4132859"/>
            <a:ext cx="133045" cy="133045"/>
          </a:xfrm>
          <a:prstGeom prst="ellipse">
            <a:avLst/>
          </a:prstGeom>
          <a:solidFill>
            <a:srgbClr val="BF5700"/>
          </a:solidFill>
          <a:ln w="12700">
            <a:solidFill>
              <a:srgbClr val="BF5700"/>
            </a:solidFill>
            <a:prstDash val="solid"/>
          </a:ln>
        </p:spPr>
      </p:sp>
      <p:sp>
        <p:nvSpPr>
          <p:cNvPr id="44" name="Shape 38"/>
          <p:cNvSpPr/>
          <p:nvPr/>
        </p:nvSpPr>
        <p:spPr>
          <a:xfrm>
            <a:off x="8794013" y="4756937"/>
            <a:ext cx="133045" cy="133045"/>
          </a:xfrm>
          <a:prstGeom prst="ellipse">
            <a:avLst/>
          </a:prstGeom>
          <a:solidFill>
            <a:srgbClr val="BF5700"/>
          </a:solidFill>
          <a:ln w="12700">
            <a:solidFill>
              <a:srgbClr val="BF5700"/>
            </a:solidFill>
            <a:prstDash val="solid"/>
          </a:ln>
        </p:spPr>
      </p:sp>
      <p:sp>
        <p:nvSpPr>
          <p:cNvPr id="45" name="Shape 39"/>
          <p:cNvSpPr/>
          <p:nvPr/>
        </p:nvSpPr>
        <p:spPr>
          <a:xfrm>
            <a:off x="8938031" y="4968164"/>
            <a:ext cx="133045" cy="133045"/>
          </a:xfrm>
          <a:prstGeom prst="ellipse">
            <a:avLst/>
          </a:prstGeom>
          <a:solidFill>
            <a:srgbClr val="BF5700"/>
          </a:solidFill>
          <a:ln w="12700">
            <a:solidFill>
              <a:srgbClr val="BF5700"/>
            </a:solidFill>
            <a:prstDash val="solid"/>
          </a:ln>
        </p:spPr>
      </p:sp>
      <p:sp>
        <p:nvSpPr>
          <p:cNvPr id="46" name="Text 40"/>
          <p:cNvSpPr txBox="1"/>
          <p:nvPr/>
        </p:nvSpPr>
        <p:spPr>
          <a:xfrm>
            <a:off x="7863840" y="5760720"/>
            <a:ext cx="3749040" cy="548640"/>
          </a:xfrm>
          <a:prstGeom prst="rect">
            <a:avLst/>
          </a:prstGeom>
          <a:noFill/>
          <a:ln/>
        </p:spPr>
        <p:txBody>
          <a:bodyPr wrap="square" lIns="0" tIns="0" rIns="0" bIns="0" rtlCol="0" anchor="t"/>
          <a:lstStyle/>
          <a:p>
            <a:pPr algn="ctr" indent="0" marL="0">
              <a:buNone/>
            </a:pPr>
            <a:r>
              <a:rPr lang="en-US" sz="2400" b="1" dirty="0">
                <a:solidFill>
                  <a:srgbClr val="BF5700"/>
                </a:solidFill>
                <a:latin typeface="Arial" pitchFamily="34" charset="0"/>
                <a:ea typeface="Arial" pitchFamily="34" charset="-122"/>
                <a:cs typeface="Arial"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Motion Capture Proposal</dc:title>
  <dc:subject>PptxGenJS Presentation</dc:subject>
  <dc:creator>Oaj Saini, Asiya Sunesara, Tarun Muruganandham</dc:creator>
  <cp:lastModifiedBy>Oaj Saini, Asiya Sunesara, Tarun Muruganandham</cp:lastModifiedBy>
  <cp:revision>1</cp:revision>
  <dcterms:created xsi:type="dcterms:W3CDTF">2026-09-22T18:09:12Z</dcterms:created>
  <dcterms:modified xsi:type="dcterms:W3CDTF">2026-09-22T18:09:12Z</dcterms:modified>
</cp:coreProperties>
</file>