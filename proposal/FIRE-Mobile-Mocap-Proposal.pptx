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Hi, we're Oaj, Asiya, and Tarun, working with Finn Eagen and Dr. Fey in the SAHM Lab. Our project asks whether two smartphones can stand in for a motion capture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We're working in Dr. Nicholas Fey's SAHM Lab with our graduate mentor, Finn Eagen. Lower-limb prostheses are designed around how the hip, knee, and ankle are loaded during natural movement. Inverse dynamics gives us those loads: joint angles from cameras plus ground forces from a force plate go into an OpenSim model, which calculates the joint moments. The joint-angle step is the one that needs a lab full of cameras, and that's the step we're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Our question: are phone-based joint angles close enough to Theia3D to trust for inverse dynamics? Aim 1 compares joint angles, targeting under five degrees of error. Aim 2 compares the joint moments OpenSim computes from each. Aim 3 takes the setup to the terrain park and outdoors, ending in a setup guide the lab can reuse. If time permits, we extend to the ExoBoot.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Here's the setup. Every trial is recorded several ways at once. Two iPhones film the treadmill from the front corners, and a checkerboard calibrates where each phone is. The Bertec treadmill records ground forces under each foot, and the lab's Theia3D cameras record the same trials as our reference. We process the video with OpenCap, and with the Portable Biomechanics Lab if we get it running, then compare joint angles and joint moments against Theia3D.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We've run several OpenCap sessions with two or more phones, and it works end to end. We're learning OpenSim's inverse dynamics workflow. On the CAD side, we designed this holder, which keeps the calibration board upright in the same spot every session. Next up is the laser-guide phone holder and training on Theia3D. (Replace the two dashed boxes with your OpenCap video and an OpenSim screenshot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So here's our timeline. The gray bar up top is what's already done: OpenCap is running and the checkerboard holder is designed. Right now we're wrapping up this proposal, working through the OpenSim tutorial, and starting on the laser-guide phone holder. In October, Finn trains us on Theia3D and the treadmill, and then we start recording with everything at the same time. While that's going, we build the OpenSim pipeline and poke at the PBL code to see if it's worth adding. November, we take the setup out to the terrain park and outdoors, and start crunching numbers. If we're ahead of schedule, we'll try the ExoBoot. December is the poster and the final report. And those diamonds are our five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We split the work into three streams: motion capture, CAD, and simulation, and we collect data together. We check in with Finn weekly and meet Dr. Fey during the consultation hour. The cost is about 130 dollars: tripods and mounts, about 50; laser levels, 40; PLA filament, 25; and a rigid checkerboard, 15. The lab already has Theia3D, the treadmill, and the terrain park, and OpenCap and OpenSim are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Three main risks. The systems aren't synced, so we use a stomp as a shared event. Phones can get blocked, so we test camera angles early. And Theia3D isn't ground truth, so we report agreement rather than accuracy. What we need is time on Theia3D and the treadmill, terrain park access, about 130 dollars, and your feedback. Thank you,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not presented. Verify every citation on Google Scholar before submitting, especially [5]: fill in the full author list and 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2B"/>
        </a:solidFill>
      </p:bgPr>
    </p:bg>
    <p:spTree>
      <p:nvGrpSpPr>
        <p:cNvPr id="1" name=""/>
        <p:cNvGrpSpPr/>
        <p:nvPr/>
      </p:nvGrpSpPr>
      <p:grpSpPr>
        <a:xfrm>
          <a:off x="0" y="0"/>
          <a:ext cx="0" cy="0"/>
          <a:chOff x="0" y="0"/>
          <a:chExt cx="0" cy="0"/>
        </a:xfrm>
      </p:grpSpPr>
      <p:sp>
        <p:nvSpPr>
          <p:cNvPr id="2" name="Text 0"/>
          <p:cNvSpPr txBox="1"/>
          <p:nvPr/>
        </p:nvSpPr>
        <p:spPr>
          <a:xfrm>
            <a:off x="548640" y="685800"/>
            <a:ext cx="6400800" cy="365760"/>
          </a:xfrm>
          <a:prstGeom prst="rect">
            <a:avLst/>
          </a:prstGeom>
          <a:noFill/>
          <a:ln/>
        </p:spPr>
        <p:txBody>
          <a:bodyPr wrap="square" lIns="0" tIns="0" rIns="0" bIns="0" rtlCol="0" anchor="t"/>
          <a:lstStyle/>
          <a:p>
            <a:pPr indent="0" marL="0">
              <a:buNone/>
            </a:pPr>
            <a:r>
              <a:rPr lang="en-US" sz="1800" b="1" spc="200" kern="0" dirty="0">
                <a:solidFill>
                  <a:srgbClr val="BF5700"/>
                </a:solidFill>
                <a:latin typeface="Calibri" pitchFamily="34" charset="0"/>
                <a:ea typeface="Calibri" pitchFamily="34" charset="-122"/>
                <a:cs typeface="Calibri" pitchFamily="34" charset="-120"/>
              </a:rPr>
              <a:t>FIRE ME 177K  ·  FALL 2026</a:t>
            </a:r>
            <a:endParaRPr lang="en-US" sz="1800" dirty="0"/>
          </a:p>
        </p:txBody>
      </p:sp>
      <p:sp>
        <p:nvSpPr>
          <p:cNvPr id="3" name="Text 1"/>
          <p:cNvSpPr txBox="1"/>
          <p:nvPr/>
        </p:nvSpPr>
        <p:spPr>
          <a:xfrm>
            <a:off x="548640" y="1234440"/>
            <a:ext cx="7040880" cy="201168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Taking the Motion Capture Lab Anywhere</a:t>
            </a:r>
            <a:endParaRPr lang="en-US" sz="4800" dirty="0"/>
          </a:p>
        </p:txBody>
      </p:sp>
      <p:sp>
        <p:nvSpPr>
          <p:cNvPr id="4" name="Text 2"/>
          <p:cNvSpPr txBox="1"/>
          <p:nvPr/>
        </p:nvSpPr>
        <p:spPr>
          <a:xfrm>
            <a:off x="548640" y="3337560"/>
            <a:ext cx="6858000" cy="822960"/>
          </a:xfrm>
          <a:prstGeom prst="rect">
            <a:avLst/>
          </a:prstGeom>
          <a:noFill/>
          <a:ln/>
        </p:spPr>
        <p:txBody>
          <a:bodyPr wrap="square" lIns="0" tIns="0" rIns="0" bIns="0" rtlCol="0" anchor="t"/>
          <a:lstStyle/>
          <a:p>
            <a:pPr indent="0" marL="0">
              <a:buNone/>
            </a:pPr>
            <a:r>
              <a:rPr lang="en-US" sz="2600" dirty="0">
                <a:solidFill>
                  <a:srgbClr val="C9CFD9"/>
                </a:solidFill>
                <a:latin typeface="Calibri" pitchFamily="34" charset="0"/>
                <a:ea typeface="Calibri" pitchFamily="34" charset="-122"/>
                <a:cs typeface="Calibri" pitchFamily="34" charset="-120"/>
              </a:rPr>
              <a:t>Can two phones replace a lab full of cameras?</a:t>
            </a:r>
            <a:endParaRPr lang="en-US" sz="2600" dirty="0"/>
          </a:p>
        </p:txBody>
      </p:sp>
      <p:sp>
        <p:nvSpPr>
          <p:cNvPr id="5" name="Text 3"/>
          <p:cNvSpPr txBox="1"/>
          <p:nvPr/>
        </p:nvSpPr>
        <p:spPr>
          <a:xfrm>
            <a:off x="548640" y="4663440"/>
            <a:ext cx="7040880" cy="1645920"/>
          </a:xfrm>
          <a:prstGeom prst="rect">
            <a:avLst/>
          </a:prstGeom>
          <a:noFill/>
          <a:ln/>
        </p:spPr>
        <p:txBody>
          <a:bodyPr wrap="square" lIns="0" tIns="0" rIns="0" bIns="0" rtlCol="0" anchor="b"/>
          <a:lstStyle/>
          <a:p>
            <a:pPr indent="0" marL="0">
              <a:spcAft>
                <a:spcPts val="600"/>
              </a:spcAft>
              <a:buNone/>
            </a:pPr>
            <a:r>
              <a:rPr lang="en-US" sz="2400" b="1" dirty="0">
                <a:solidFill>
                  <a:srgbClr val="FFFFFF"/>
                </a:solidFill>
                <a:latin typeface="Calibri" pitchFamily="34" charset="0"/>
                <a:ea typeface="Calibri" pitchFamily="34" charset="-122"/>
                <a:cs typeface="Calibri" pitchFamily="34" charset="-120"/>
              </a:rPr>
              <a:t>Oaj Saini · Asiya Sunesara · Tarun Muruganandham</a:t>
            </a:r>
            <a:endParaRPr lang="en-US" sz="2400" dirty="0"/>
          </a:p>
          <a:p>
            <a:pPr indent="0" marL="0">
              <a:spcAft>
                <a:spcPts val="600"/>
              </a:spcAft>
              <a:buNone/>
            </a:pPr>
            <a:r>
              <a:rPr lang="en-US" sz="2400" dirty="0">
                <a:solidFill>
                  <a:srgbClr val="C9CFD9"/>
                </a:solidFill>
                <a:latin typeface="Calibri" pitchFamily="34" charset="0"/>
                <a:ea typeface="Calibri" pitchFamily="34" charset="-122"/>
                <a:cs typeface="Calibri" pitchFamily="34" charset="-120"/>
              </a:rPr>
              <a:t>Mentor: Finn Eagen · Faculty: Dr. Nicholas Fey</a:t>
            </a:r>
            <a:endParaRPr lang="en-US" sz="2400" dirty="0"/>
          </a:p>
          <a:p>
            <a:pPr indent="0" marL="0">
              <a:spcAft>
                <a:spcPts val="600"/>
              </a:spcAft>
              <a:buNone/>
            </a:pPr>
            <a:r>
              <a:rPr lang="en-US" sz="2400" dirty="0">
                <a:solidFill>
                  <a:srgbClr val="8A93A3"/>
                </a:solidFill>
                <a:latin typeface="Calibri" pitchFamily="34" charset="0"/>
                <a:ea typeface="Calibri" pitchFamily="34" charset="-122"/>
                <a:cs typeface="Calibri" pitchFamily="34" charset="-120"/>
              </a:rPr>
              <a:t>SAHM Lab · UT Austin Mechanical Engineering</a:t>
            </a:r>
            <a:endParaRPr lang="en-US" sz="2400" dirty="0"/>
          </a:p>
        </p:txBody>
      </p:sp>
      <p:sp>
        <p:nvSpPr>
          <p:cNvPr id="6" name="Shape 4"/>
          <p:cNvSpPr/>
          <p:nvPr/>
        </p:nvSpPr>
        <p:spPr>
          <a:xfrm flipV="1">
            <a:off x="9438894" y="1853946"/>
            <a:ext cx="48006" cy="1440180"/>
          </a:xfrm>
          <a:prstGeom prst="line">
            <a:avLst/>
          </a:prstGeom>
          <a:noFill/>
          <a:ln w="28575">
            <a:solidFill>
              <a:srgbClr val="6B7485"/>
            </a:solidFill>
            <a:prstDash val="solid"/>
          </a:ln>
        </p:spPr>
      </p:sp>
      <p:sp>
        <p:nvSpPr>
          <p:cNvPr id="7" name="Shape 5"/>
          <p:cNvSpPr/>
          <p:nvPr/>
        </p:nvSpPr>
        <p:spPr>
          <a:xfrm>
            <a:off x="9486900" y="1853946"/>
            <a:ext cx="115214" cy="163220"/>
          </a:xfrm>
          <a:prstGeom prst="line">
            <a:avLst/>
          </a:prstGeom>
          <a:noFill/>
          <a:ln w="28575">
            <a:solidFill>
              <a:srgbClr val="6B7485"/>
            </a:solidFill>
            <a:prstDash val="solid"/>
          </a:ln>
        </p:spPr>
      </p:sp>
      <p:sp>
        <p:nvSpPr>
          <p:cNvPr id="8" name="Shape 6"/>
          <p:cNvSpPr/>
          <p:nvPr/>
        </p:nvSpPr>
        <p:spPr>
          <a:xfrm flipV="1">
            <a:off x="9371686" y="1853946"/>
            <a:ext cx="115214" cy="163220"/>
          </a:xfrm>
          <a:prstGeom prst="line">
            <a:avLst/>
          </a:prstGeom>
          <a:noFill/>
          <a:ln w="28575">
            <a:solidFill>
              <a:srgbClr val="6B7485"/>
            </a:solidFill>
            <a:prstDash val="solid"/>
          </a:ln>
        </p:spPr>
      </p:sp>
      <p:sp>
        <p:nvSpPr>
          <p:cNvPr id="9" name="Shape 7"/>
          <p:cNvSpPr/>
          <p:nvPr/>
        </p:nvSpPr>
        <p:spPr>
          <a:xfrm>
            <a:off x="9602114" y="2017166"/>
            <a:ext cx="268834" cy="604876"/>
          </a:xfrm>
          <a:prstGeom prst="line">
            <a:avLst/>
          </a:prstGeom>
          <a:noFill/>
          <a:ln w="28575">
            <a:solidFill>
              <a:srgbClr val="6B7485"/>
            </a:solidFill>
            <a:prstDash val="solid"/>
          </a:ln>
        </p:spPr>
      </p:sp>
      <p:sp>
        <p:nvSpPr>
          <p:cNvPr id="10" name="Shape 8"/>
          <p:cNvSpPr/>
          <p:nvPr/>
        </p:nvSpPr>
        <p:spPr>
          <a:xfrm>
            <a:off x="9870948" y="2622042"/>
            <a:ext cx="211226" cy="480060"/>
          </a:xfrm>
          <a:prstGeom prst="line">
            <a:avLst/>
          </a:prstGeom>
          <a:noFill/>
          <a:ln w="28575">
            <a:solidFill>
              <a:srgbClr val="6B7485"/>
            </a:solidFill>
            <a:prstDash val="solid"/>
          </a:ln>
        </p:spPr>
      </p:sp>
      <p:sp>
        <p:nvSpPr>
          <p:cNvPr id="11" name="Shape 9"/>
          <p:cNvSpPr/>
          <p:nvPr/>
        </p:nvSpPr>
        <p:spPr>
          <a:xfrm flipV="1">
            <a:off x="9198864" y="2017166"/>
            <a:ext cx="172822" cy="604876"/>
          </a:xfrm>
          <a:prstGeom prst="line">
            <a:avLst/>
          </a:prstGeom>
          <a:noFill/>
          <a:ln w="28575">
            <a:solidFill>
              <a:srgbClr val="6B7485"/>
            </a:solidFill>
            <a:prstDash val="solid"/>
          </a:ln>
        </p:spPr>
      </p:sp>
      <p:sp>
        <p:nvSpPr>
          <p:cNvPr id="12" name="Shape 10"/>
          <p:cNvSpPr/>
          <p:nvPr/>
        </p:nvSpPr>
        <p:spPr>
          <a:xfrm flipV="1">
            <a:off x="9026042" y="2622042"/>
            <a:ext cx="172822" cy="432054"/>
          </a:xfrm>
          <a:prstGeom prst="line">
            <a:avLst/>
          </a:prstGeom>
          <a:noFill/>
          <a:ln w="28575">
            <a:solidFill>
              <a:srgbClr val="6B7485"/>
            </a:solidFill>
            <a:prstDash val="solid"/>
          </a:ln>
        </p:spPr>
      </p:sp>
      <p:sp>
        <p:nvSpPr>
          <p:cNvPr id="13" name="Shape 11"/>
          <p:cNvSpPr/>
          <p:nvPr/>
        </p:nvSpPr>
        <p:spPr>
          <a:xfrm>
            <a:off x="9438894" y="3294126"/>
            <a:ext cx="96012" cy="48006"/>
          </a:xfrm>
          <a:prstGeom prst="line">
            <a:avLst/>
          </a:prstGeom>
          <a:noFill/>
          <a:ln w="28575">
            <a:solidFill>
              <a:srgbClr val="6B7485"/>
            </a:solidFill>
            <a:prstDash val="solid"/>
          </a:ln>
        </p:spPr>
      </p:sp>
      <p:sp>
        <p:nvSpPr>
          <p:cNvPr id="14" name="Shape 12"/>
          <p:cNvSpPr/>
          <p:nvPr/>
        </p:nvSpPr>
        <p:spPr>
          <a:xfrm flipV="1">
            <a:off x="9342882" y="3294126"/>
            <a:ext cx="96012" cy="48006"/>
          </a:xfrm>
          <a:prstGeom prst="line">
            <a:avLst/>
          </a:prstGeom>
          <a:noFill/>
          <a:ln w="28575">
            <a:solidFill>
              <a:srgbClr val="6B7485"/>
            </a:solidFill>
            <a:prstDash val="solid"/>
          </a:ln>
        </p:spPr>
      </p:sp>
      <p:sp>
        <p:nvSpPr>
          <p:cNvPr id="15" name="Shape 13"/>
          <p:cNvSpPr/>
          <p:nvPr/>
        </p:nvSpPr>
        <p:spPr>
          <a:xfrm>
            <a:off x="9534906" y="3342132"/>
            <a:ext cx="288036" cy="720090"/>
          </a:xfrm>
          <a:prstGeom prst="line">
            <a:avLst/>
          </a:prstGeom>
          <a:noFill/>
          <a:ln w="28575">
            <a:solidFill>
              <a:srgbClr val="6B7485"/>
            </a:solidFill>
            <a:prstDash val="solid"/>
          </a:ln>
        </p:spPr>
      </p:sp>
      <p:sp>
        <p:nvSpPr>
          <p:cNvPr id="16" name="Shape 14"/>
          <p:cNvSpPr/>
          <p:nvPr/>
        </p:nvSpPr>
        <p:spPr>
          <a:xfrm flipV="1">
            <a:off x="9726930" y="4062222"/>
            <a:ext cx="96012" cy="768096"/>
          </a:xfrm>
          <a:prstGeom prst="line">
            <a:avLst/>
          </a:prstGeom>
          <a:noFill/>
          <a:ln w="28575">
            <a:solidFill>
              <a:srgbClr val="6B7485"/>
            </a:solidFill>
            <a:prstDash val="solid"/>
          </a:ln>
        </p:spPr>
      </p:sp>
      <p:sp>
        <p:nvSpPr>
          <p:cNvPr id="17" name="Shape 15"/>
          <p:cNvSpPr/>
          <p:nvPr/>
        </p:nvSpPr>
        <p:spPr>
          <a:xfrm>
            <a:off x="9726930" y="4830318"/>
            <a:ext cx="288036" cy="67208"/>
          </a:xfrm>
          <a:prstGeom prst="line">
            <a:avLst/>
          </a:prstGeom>
          <a:noFill/>
          <a:ln w="28575">
            <a:solidFill>
              <a:srgbClr val="6B7485"/>
            </a:solidFill>
            <a:prstDash val="solid"/>
          </a:ln>
        </p:spPr>
      </p:sp>
      <p:sp>
        <p:nvSpPr>
          <p:cNvPr id="18" name="Shape 16"/>
          <p:cNvSpPr/>
          <p:nvPr/>
        </p:nvSpPr>
        <p:spPr>
          <a:xfrm flipV="1">
            <a:off x="9198864" y="3342132"/>
            <a:ext cx="144018" cy="720090"/>
          </a:xfrm>
          <a:prstGeom prst="line">
            <a:avLst/>
          </a:prstGeom>
          <a:noFill/>
          <a:ln w="28575">
            <a:solidFill>
              <a:srgbClr val="6B7485"/>
            </a:solidFill>
            <a:prstDash val="solid"/>
          </a:ln>
        </p:spPr>
      </p:sp>
      <p:sp>
        <p:nvSpPr>
          <p:cNvPr id="19" name="Shape 17"/>
          <p:cNvSpPr/>
          <p:nvPr/>
        </p:nvSpPr>
        <p:spPr>
          <a:xfrm flipV="1">
            <a:off x="8814816" y="4062222"/>
            <a:ext cx="384048" cy="624078"/>
          </a:xfrm>
          <a:prstGeom prst="line">
            <a:avLst/>
          </a:prstGeom>
          <a:noFill/>
          <a:ln w="28575">
            <a:solidFill>
              <a:srgbClr val="6B7485"/>
            </a:solidFill>
            <a:prstDash val="solid"/>
          </a:ln>
        </p:spPr>
      </p:sp>
      <p:sp>
        <p:nvSpPr>
          <p:cNvPr id="20" name="Shape 18"/>
          <p:cNvSpPr/>
          <p:nvPr/>
        </p:nvSpPr>
        <p:spPr>
          <a:xfrm>
            <a:off x="8814816" y="4686300"/>
            <a:ext cx="144018" cy="211226"/>
          </a:xfrm>
          <a:prstGeom prst="line">
            <a:avLst/>
          </a:prstGeom>
          <a:noFill/>
          <a:ln w="28575">
            <a:solidFill>
              <a:srgbClr val="6B7485"/>
            </a:solidFill>
            <a:prstDash val="solid"/>
          </a:ln>
        </p:spPr>
      </p:sp>
      <p:sp>
        <p:nvSpPr>
          <p:cNvPr id="21" name="Shape 19"/>
          <p:cNvSpPr/>
          <p:nvPr/>
        </p:nvSpPr>
        <p:spPr>
          <a:xfrm>
            <a:off x="9266072" y="1057046"/>
            <a:ext cx="537667" cy="537667"/>
          </a:xfrm>
          <a:prstGeom prst="ellipse">
            <a:avLst/>
          </a:prstGeom>
          <a:solidFill>
            <a:srgbClr val="6B7485">
              <a:alpha val="0"/>
            </a:srgbClr>
          </a:solidFill>
          <a:ln w="28575">
            <a:solidFill>
              <a:srgbClr val="6B7485"/>
            </a:solidFill>
            <a:prstDash val="solid"/>
          </a:ln>
        </p:spPr>
      </p:sp>
      <p:sp>
        <p:nvSpPr>
          <p:cNvPr id="22" name="Shape 20"/>
          <p:cNvSpPr/>
          <p:nvPr/>
        </p:nvSpPr>
        <p:spPr>
          <a:xfrm>
            <a:off x="9535592" y="1950644"/>
            <a:ext cx="133045" cy="133045"/>
          </a:xfrm>
          <a:prstGeom prst="ellipse">
            <a:avLst/>
          </a:prstGeom>
          <a:solidFill>
            <a:srgbClr val="BF5700"/>
          </a:solidFill>
          <a:ln w="12700">
            <a:solidFill>
              <a:srgbClr val="BF5700"/>
            </a:solidFill>
            <a:prstDash val="solid"/>
          </a:ln>
        </p:spPr>
      </p:sp>
      <p:sp>
        <p:nvSpPr>
          <p:cNvPr id="23" name="Shape 21"/>
          <p:cNvSpPr/>
          <p:nvPr/>
        </p:nvSpPr>
        <p:spPr>
          <a:xfrm>
            <a:off x="9305163" y="1950644"/>
            <a:ext cx="133045" cy="133045"/>
          </a:xfrm>
          <a:prstGeom prst="ellipse">
            <a:avLst/>
          </a:prstGeom>
          <a:solidFill>
            <a:srgbClr val="BF5700"/>
          </a:solidFill>
          <a:ln w="12700">
            <a:solidFill>
              <a:srgbClr val="BF5700"/>
            </a:solidFill>
            <a:prstDash val="solid"/>
          </a:ln>
        </p:spPr>
      </p:sp>
      <p:sp>
        <p:nvSpPr>
          <p:cNvPr id="24" name="Shape 22"/>
          <p:cNvSpPr/>
          <p:nvPr/>
        </p:nvSpPr>
        <p:spPr>
          <a:xfrm>
            <a:off x="9804425" y="2555519"/>
            <a:ext cx="133045" cy="133045"/>
          </a:xfrm>
          <a:prstGeom prst="ellipse">
            <a:avLst/>
          </a:prstGeom>
          <a:solidFill>
            <a:srgbClr val="BF5700"/>
          </a:solidFill>
          <a:ln w="12700">
            <a:solidFill>
              <a:srgbClr val="BF5700"/>
            </a:solidFill>
            <a:prstDash val="solid"/>
          </a:ln>
        </p:spPr>
      </p:sp>
      <p:sp>
        <p:nvSpPr>
          <p:cNvPr id="25" name="Shape 23"/>
          <p:cNvSpPr/>
          <p:nvPr/>
        </p:nvSpPr>
        <p:spPr>
          <a:xfrm>
            <a:off x="10015652" y="3035579"/>
            <a:ext cx="133045" cy="133045"/>
          </a:xfrm>
          <a:prstGeom prst="ellipse">
            <a:avLst/>
          </a:prstGeom>
          <a:solidFill>
            <a:srgbClr val="BF5700"/>
          </a:solidFill>
          <a:ln w="12700">
            <a:solidFill>
              <a:srgbClr val="BF5700"/>
            </a:solidFill>
            <a:prstDash val="solid"/>
          </a:ln>
        </p:spPr>
      </p:sp>
      <p:sp>
        <p:nvSpPr>
          <p:cNvPr id="26" name="Shape 24"/>
          <p:cNvSpPr/>
          <p:nvPr/>
        </p:nvSpPr>
        <p:spPr>
          <a:xfrm>
            <a:off x="9132341" y="2555519"/>
            <a:ext cx="133045" cy="133045"/>
          </a:xfrm>
          <a:prstGeom prst="ellipse">
            <a:avLst/>
          </a:prstGeom>
          <a:solidFill>
            <a:srgbClr val="BF5700"/>
          </a:solidFill>
          <a:ln w="12700">
            <a:solidFill>
              <a:srgbClr val="BF5700"/>
            </a:solidFill>
            <a:prstDash val="solid"/>
          </a:ln>
        </p:spPr>
      </p:sp>
      <p:sp>
        <p:nvSpPr>
          <p:cNvPr id="27" name="Shape 25"/>
          <p:cNvSpPr/>
          <p:nvPr/>
        </p:nvSpPr>
        <p:spPr>
          <a:xfrm>
            <a:off x="8959520" y="2987573"/>
            <a:ext cx="133045" cy="133045"/>
          </a:xfrm>
          <a:prstGeom prst="ellipse">
            <a:avLst/>
          </a:prstGeom>
          <a:solidFill>
            <a:srgbClr val="BF5700"/>
          </a:solidFill>
          <a:ln w="12700">
            <a:solidFill>
              <a:srgbClr val="BF5700"/>
            </a:solidFill>
            <a:prstDash val="solid"/>
          </a:ln>
        </p:spPr>
      </p:sp>
      <p:sp>
        <p:nvSpPr>
          <p:cNvPr id="28" name="Shape 26"/>
          <p:cNvSpPr/>
          <p:nvPr/>
        </p:nvSpPr>
        <p:spPr>
          <a:xfrm>
            <a:off x="9468383" y="3275609"/>
            <a:ext cx="133045" cy="133045"/>
          </a:xfrm>
          <a:prstGeom prst="ellipse">
            <a:avLst/>
          </a:prstGeom>
          <a:solidFill>
            <a:srgbClr val="BF5700"/>
          </a:solidFill>
          <a:ln w="12700">
            <a:solidFill>
              <a:srgbClr val="BF5700"/>
            </a:solidFill>
            <a:prstDash val="solid"/>
          </a:ln>
        </p:spPr>
      </p:sp>
      <p:sp>
        <p:nvSpPr>
          <p:cNvPr id="29" name="Shape 27"/>
          <p:cNvSpPr/>
          <p:nvPr/>
        </p:nvSpPr>
        <p:spPr>
          <a:xfrm>
            <a:off x="9276359" y="3275609"/>
            <a:ext cx="133045" cy="133045"/>
          </a:xfrm>
          <a:prstGeom prst="ellipse">
            <a:avLst/>
          </a:prstGeom>
          <a:solidFill>
            <a:srgbClr val="BF5700"/>
          </a:solidFill>
          <a:ln w="12700">
            <a:solidFill>
              <a:srgbClr val="BF5700"/>
            </a:solidFill>
            <a:prstDash val="solid"/>
          </a:ln>
        </p:spPr>
      </p:sp>
      <p:sp>
        <p:nvSpPr>
          <p:cNvPr id="30" name="Shape 28"/>
          <p:cNvSpPr/>
          <p:nvPr/>
        </p:nvSpPr>
        <p:spPr>
          <a:xfrm>
            <a:off x="9756419" y="3995699"/>
            <a:ext cx="133045" cy="133045"/>
          </a:xfrm>
          <a:prstGeom prst="ellipse">
            <a:avLst/>
          </a:prstGeom>
          <a:solidFill>
            <a:srgbClr val="BF5700"/>
          </a:solidFill>
          <a:ln w="12700">
            <a:solidFill>
              <a:srgbClr val="BF5700"/>
            </a:solidFill>
            <a:prstDash val="solid"/>
          </a:ln>
        </p:spPr>
      </p:sp>
      <p:sp>
        <p:nvSpPr>
          <p:cNvPr id="31" name="Shape 29"/>
          <p:cNvSpPr/>
          <p:nvPr/>
        </p:nvSpPr>
        <p:spPr>
          <a:xfrm>
            <a:off x="9660407" y="4763795"/>
            <a:ext cx="133045" cy="133045"/>
          </a:xfrm>
          <a:prstGeom prst="ellipse">
            <a:avLst/>
          </a:prstGeom>
          <a:solidFill>
            <a:srgbClr val="BF5700"/>
          </a:solidFill>
          <a:ln w="12700">
            <a:solidFill>
              <a:srgbClr val="BF5700"/>
            </a:solidFill>
            <a:prstDash val="solid"/>
          </a:ln>
        </p:spPr>
      </p:sp>
      <p:sp>
        <p:nvSpPr>
          <p:cNvPr id="32" name="Shape 30"/>
          <p:cNvSpPr/>
          <p:nvPr/>
        </p:nvSpPr>
        <p:spPr>
          <a:xfrm>
            <a:off x="9948443" y="4831004"/>
            <a:ext cx="133045" cy="133045"/>
          </a:xfrm>
          <a:prstGeom prst="ellipse">
            <a:avLst/>
          </a:prstGeom>
          <a:solidFill>
            <a:srgbClr val="BF5700"/>
          </a:solidFill>
          <a:ln w="12700">
            <a:solidFill>
              <a:srgbClr val="BF5700"/>
            </a:solidFill>
            <a:prstDash val="solid"/>
          </a:ln>
        </p:spPr>
      </p:sp>
      <p:sp>
        <p:nvSpPr>
          <p:cNvPr id="33" name="Shape 31"/>
          <p:cNvSpPr/>
          <p:nvPr/>
        </p:nvSpPr>
        <p:spPr>
          <a:xfrm>
            <a:off x="9132341" y="3995699"/>
            <a:ext cx="133045" cy="133045"/>
          </a:xfrm>
          <a:prstGeom prst="ellipse">
            <a:avLst/>
          </a:prstGeom>
          <a:solidFill>
            <a:srgbClr val="BF5700"/>
          </a:solidFill>
          <a:ln w="12700">
            <a:solidFill>
              <a:srgbClr val="BF5700"/>
            </a:solidFill>
            <a:prstDash val="solid"/>
          </a:ln>
        </p:spPr>
      </p:sp>
      <p:sp>
        <p:nvSpPr>
          <p:cNvPr id="34" name="Shape 32"/>
          <p:cNvSpPr/>
          <p:nvPr/>
        </p:nvSpPr>
        <p:spPr>
          <a:xfrm>
            <a:off x="8748293" y="4619777"/>
            <a:ext cx="133045" cy="133045"/>
          </a:xfrm>
          <a:prstGeom prst="ellipse">
            <a:avLst/>
          </a:prstGeom>
          <a:solidFill>
            <a:srgbClr val="BF5700"/>
          </a:solidFill>
          <a:ln w="12700">
            <a:solidFill>
              <a:srgbClr val="BF5700"/>
            </a:solidFill>
            <a:prstDash val="solid"/>
          </a:ln>
        </p:spPr>
      </p:sp>
      <p:sp>
        <p:nvSpPr>
          <p:cNvPr id="35" name="Shape 33"/>
          <p:cNvSpPr/>
          <p:nvPr/>
        </p:nvSpPr>
        <p:spPr>
          <a:xfrm>
            <a:off x="8892311" y="4831004"/>
            <a:ext cx="133045" cy="133045"/>
          </a:xfrm>
          <a:prstGeom prst="ellipse">
            <a:avLst/>
          </a:prstGeom>
          <a:solidFill>
            <a:srgbClr val="BF5700"/>
          </a:solidFill>
          <a:ln w="12700">
            <a:solidFill>
              <a:srgbClr val="BF5700"/>
            </a:solidFill>
            <a:prstDash val="solid"/>
          </a:ln>
        </p:spPr>
      </p:sp>
      <p:sp>
        <p:nvSpPr>
          <p:cNvPr id="36" name="Shape 34"/>
          <p:cNvSpPr/>
          <p:nvPr/>
        </p:nvSpPr>
        <p:spPr>
          <a:xfrm flipV="1">
            <a:off x="8138160" y="3342132"/>
            <a:ext cx="1396746" cy="2400300"/>
          </a:xfrm>
          <a:prstGeom prst="line">
            <a:avLst/>
          </a:prstGeom>
          <a:noFill/>
          <a:ln w="9525">
            <a:solidFill>
              <a:srgbClr val="3E4758"/>
            </a:solidFill>
            <a:prstDash val="dash"/>
          </a:ln>
        </p:spPr>
      </p:sp>
      <p:sp>
        <p:nvSpPr>
          <p:cNvPr id="37" name="Shape 35"/>
          <p:cNvSpPr/>
          <p:nvPr/>
        </p:nvSpPr>
        <p:spPr>
          <a:xfrm flipV="1">
            <a:off x="8138160" y="4062222"/>
            <a:ext cx="1684782" cy="1680210"/>
          </a:xfrm>
          <a:prstGeom prst="line">
            <a:avLst/>
          </a:prstGeom>
          <a:noFill/>
          <a:ln w="9525">
            <a:solidFill>
              <a:srgbClr val="3E4758"/>
            </a:solidFill>
            <a:prstDash val="dash"/>
          </a:ln>
        </p:spPr>
      </p:sp>
      <p:sp>
        <p:nvSpPr>
          <p:cNvPr id="38" name="Shape 36"/>
          <p:cNvSpPr/>
          <p:nvPr/>
        </p:nvSpPr>
        <p:spPr>
          <a:xfrm flipV="1">
            <a:off x="8138160" y="2017166"/>
            <a:ext cx="1463954" cy="3725266"/>
          </a:xfrm>
          <a:prstGeom prst="line">
            <a:avLst/>
          </a:prstGeom>
          <a:noFill/>
          <a:ln w="9525">
            <a:solidFill>
              <a:srgbClr val="3E4758"/>
            </a:solidFill>
            <a:prstDash val="dash"/>
          </a:ln>
        </p:spPr>
      </p:sp>
      <p:sp>
        <p:nvSpPr>
          <p:cNvPr id="39" name="Shape 37"/>
          <p:cNvSpPr/>
          <p:nvPr/>
        </p:nvSpPr>
        <p:spPr>
          <a:xfrm flipV="1">
            <a:off x="8138160" y="4686300"/>
            <a:ext cx="676656" cy="1056132"/>
          </a:xfrm>
          <a:prstGeom prst="line">
            <a:avLst/>
          </a:prstGeom>
          <a:noFill/>
          <a:ln w="9525">
            <a:solidFill>
              <a:srgbClr val="3E4758"/>
            </a:solidFill>
            <a:prstDash val="dash"/>
          </a:ln>
        </p:spPr>
      </p:sp>
      <p:sp>
        <p:nvSpPr>
          <p:cNvPr id="40" name="Shape 38"/>
          <p:cNvSpPr/>
          <p:nvPr/>
        </p:nvSpPr>
        <p:spPr>
          <a:xfrm>
            <a:off x="7955280" y="5742432"/>
            <a:ext cx="365760" cy="566928"/>
          </a:xfrm>
          <a:prstGeom prst="roundRect">
            <a:avLst>
              <a:gd name="adj" fmla="val 15000"/>
            </a:avLst>
          </a:prstGeom>
          <a:solidFill>
            <a:srgbClr val="2A3140"/>
          </a:solidFill>
          <a:ln w="15875">
            <a:solidFill>
              <a:srgbClr val="BF5700"/>
            </a:solidFill>
            <a:prstDash val="solid"/>
          </a:ln>
        </p:spPr>
      </p:sp>
      <p:pic>
        <p:nvPicPr>
          <p:cNvPr id="41" name="Image 0" descr="preencoded.png">    </p:cNvPr>
          <p:cNvPicPr>
            <a:picLocks noChangeAspect="1"/>
          </p:cNvPicPr>
          <p:nvPr/>
        </p:nvPicPr>
        <p:blipFill>
          <a:blip r:embed="rId1"/>
          <a:stretch>
            <a:fillRect/>
          </a:stretch>
        </p:blipFill>
        <p:spPr>
          <a:xfrm>
            <a:off x="8019288" y="5852160"/>
            <a:ext cx="237744" cy="347472"/>
          </a:xfrm>
          <a:prstGeom prst="rect">
            <a:avLst/>
          </a:prstGeom>
        </p:spPr>
      </p:pic>
      <p:sp>
        <p:nvSpPr>
          <p:cNvPr id="42" name="Shape 39"/>
          <p:cNvSpPr/>
          <p:nvPr/>
        </p:nvSpPr>
        <p:spPr>
          <a:xfrm>
            <a:off x="9534906" y="3342132"/>
            <a:ext cx="1922526" cy="2400300"/>
          </a:xfrm>
          <a:prstGeom prst="line">
            <a:avLst/>
          </a:prstGeom>
          <a:noFill/>
          <a:ln w="9525">
            <a:solidFill>
              <a:srgbClr val="3E4758"/>
            </a:solidFill>
            <a:prstDash val="dash"/>
          </a:ln>
        </p:spPr>
      </p:sp>
      <p:sp>
        <p:nvSpPr>
          <p:cNvPr id="43" name="Shape 40"/>
          <p:cNvSpPr/>
          <p:nvPr/>
        </p:nvSpPr>
        <p:spPr>
          <a:xfrm>
            <a:off x="9822942" y="4062222"/>
            <a:ext cx="1634490" cy="1680210"/>
          </a:xfrm>
          <a:prstGeom prst="line">
            <a:avLst/>
          </a:prstGeom>
          <a:noFill/>
          <a:ln w="9525">
            <a:solidFill>
              <a:srgbClr val="3E4758"/>
            </a:solidFill>
            <a:prstDash val="dash"/>
          </a:ln>
        </p:spPr>
      </p:sp>
      <p:sp>
        <p:nvSpPr>
          <p:cNvPr id="44" name="Shape 41"/>
          <p:cNvSpPr/>
          <p:nvPr/>
        </p:nvSpPr>
        <p:spPr>
          <a:xfrm>
            <a:off x="9602114" y="2017166"/>
            <a:ext cx="1855318" cy="3725266"/>
          </a:xfrm>
          <a:prstGeom prst="line">
            <a:avLst/>
          </a:prstGeom>
          <a:noFill/>
          <a:ln w="9525">
            <a:solidFill>
              <a:srgbClr val="3E4758"/>
            </a:solidFill>
            <a:prstDash val="dash"/>
          </a:ln>
        </p:spPr>
      </p:sp>
      <p:sp>
        <p:nvSpPr>
          <p:cNvPr id="45" name="Shape 42"/>
          <p:cNvSpPr/>
          <p:nvPr/>
        </p:nvSpPr>
        <p:spPr>
          <a:xfrm>
            <a:off x="8814816" y="4686300"/>
            <a:ext cx="2642616" cy="1056132"/>
          </a:xfrm>
          <a:prstGeom prst="line">
            <a:avLst/>
          </a:prstGeom>
          <a:noFill/>
          <a:ln w="9525">
            <a:solidFill>
              <a:srgbClr val="3E4758"/>
            </a:solidFill>
            <a:prstDash val="dash"/>
          </a:ln>
        </p:spPr>
      </p:sp>
      <p:sp>
        <p:nvSpPr>
          <p:cNvPr id="46" name="Shape 43"/>
          <p:cNvSpPr/>
          <p:nvPr/>
        </p:nvSpPr>
        <p:spPr>
          <a:xfrm>
            <a:off x="11274552" y="5742432"/>
            <a:ext cx="365760" cy="566928"/>
          </a:xfrm>
          <a:prstGeom prst="roundRect">
            <a:avLst>
              <a:gd name="adj" fmla="val 15000"/>
            </a:avLst>
          </a:prstGeom>
          <a:solidFill>
            <a:srgbClr val="2A3140"/>
          </a:solidFill>
          <a:ln w="15875">
            <a:solidFill>
              <a:srgbClr val="BF5700"/>
            </a:solidFill>
            <a:prstDash val="solid"/>
          </a:ln>
        </p:spPr>
      </p:sp>
      <p:pic>
        <p:nvPicPr>
          <p:cNvPr id="47" name="Image 1" descr="preencoded.png">    </p:cNvPr>
          <p:cNvPicPr>
            <a:picLocks noChangeAspect="1"/>
          </p:cNvPicPr>
          <p:nvPr/>
        </p:nvPicPr>
        <p:blipFill>
          <a:blip r:embed="rId2"/>
          <a:stretch>
            <a:fillRect/>
          </a:stretch>
        </p:blipFill>
        <p:spPr>
          <a:xfrm>
            <a:off x="11338560" y="5852160"/>
            <a:ext cx="237744" cy="3474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548640"/>
            <a:ext cx="11091672" cy="731520"/>
          </a:xfrm>
          <a:prstGeom prst="rect">
            <a:avLst/>
          </a:prstGeom>
          <a:noFill/>
          <a:ln/>
        </p:spPr>
        <p:txBody>
          <a:bodyPr wrap="square" lIns="0" tIns="0" rIns="0" bIns="0" rtlCol="0" anchor="t"/>
          <a:lstStyle/>
          <a:p>
            <a:pPr indent="0" marL="0">
              <a:buNone/>
            </a:pPr>
            <a:r>
              <a:rPr lang="en-US" sz="3800" b="1" dirty="0">
                <a:solidFill>
                  <a:srgbClr val="1A1F2B"/>
                </a:solidFill>
                <a:latin typeface="Arial" pitchFamily="34" charset="0"/>
                <a:ea typeface="Arial" pitchFamily="34" charset="-122"/>
                <a:cs typeface="Arial" pitchFamily="34" charset="-120"/>
              </a:rPr>
              <a:t>Better prostheses start with joint loads</a:t>
            </a:r>
            <a:endParaRPr lang="en-US" sz="3800" dirty="0"/>
          </a:p>
        </p:txBody>
      </p:sp>
      <p:sp>
        <p:nvSpPr>
          <p:cNvPr id="3" name="Shape 1"/>
          <p:cNvSpPr/>
          <p:nvPr/>
        </p:nvSpPr>
        <p:spPr>
          <a:xfrm>
            <a:off x="548640" y="1554480"/>
            <a:ext cx="2464308" cy="1234440"/>
          </a:xfrm>
          <a:prstGeom prst="roundRect">
            <a:avLst>
              <a:gd name="adj" fmla="val 5926"/>
            </a:avLst>
          </a:prstGeom>
          <a:solidFill>
            <a:srgbClr val="F6E3D6"/>
          </a:solidFill>
          <a:ln w="12700">
            <a:solidFill>
              <a:srgbClr val="F6E3D6"/>
            </a:solidFill>
            <a:prstDash val="solid"/>
          </a:ln>
        </p:spPr>
      </p:sp>
      <p:sp>
        <p:nvSpPr>
          <p:cNvPr id="4" name="Text 2"/>
          <p:cNvSpPr txBox="1"/>
          <p:nvPr/>
        </p:nvSpPr>
        <p:spPr>
          <a:xfrm>
            <a:off x="685800" y="1554480"/>
            <a:ext cx="2189988" cy="1234440"/>
          </a:xfrm>
          <a:prstGeom prst="rect">
            <a:avLst/>
          </a:prstGeom>
          <a:noFill/>
          <a:ln/>
        </p:spPr>
        <p:txBody>
          <a:bodyPr wrap="square" lIns="0" tIns="0" rIns="0" bIns="0" rtlCol="0" anchor="ctr"/>
          <a:lstStyle/>
          <a:p>
            <a:pPr algn="ctr" indent="0" marL="0">
              <a:buNone/>
            </a:pPr>
            <a:r>
              <a:rPr lang="en-US" sz="2600" b="1" dirty="0">
                <a:solidFill>
                  <a:srgbClr val="BF5700"/>
                </a:solidFill>
                <a:latin typeface="Arial" pitchFamily="34" charset="0"/>
                <a:ea typeface="Arial" pitchFamily="34" charset="-122"/>
                <a:cs typeface="Arial" pitchFamily="34" charset="-120"/>
              </a:rPr>
              <a:t>Joint angles</a:t>
            </a:r>
            <a:endParaRPr lang="en-US" sz="2600" dirty="0"/>
          </a:p>
        </p:txBody>
      </p:sp>
      <p:sp>
        <p:nvSpPr>
          <p:cNvPr id="5" name="Text 3"/>
          <p:cNvSpPr txBox="1"/>
          <p:nvPr/>
        </p:nvSpPr>
        <p:spPr>
          <a:xfrm>
            <a:off x="548640" y="2880360"/>
            <a:ext cx="2464308" cy="411480"/>
          </a:xfrm>
          <a:prstGeom prst="rect">
            <a:avLst/>
          </a:prstGeom>
          <a:noFill/>
          <a:ln/>
        </p:spPr>
        <p:txBody>
          <a:bodyPr wrap="square" lIns="0" tIns="0" rIns="0" bIns="0" rtlCol="0" anchor="t"/>
          <a:lstStyle/>
          <a:p>
            <a:pPr algn="ctr" indent="0" marL="0">
              <a:buNone/>
            </a:pPr>
            <a:r>
              <a:rPr lang="en-US" sz="2400" dirty="0">
                <a:solidFill>
                  <a:srgbClr val="5B6472"/>
                </a:solidFill>
                <a:latin typeface="Calibri" pitchFamily="34" charset="0"/>
                <a:ea typeface="Calibri" pitchFamily="34" charset="-122"/>
                <a:cs typeface="Calibri" pitchFamily="34" charset="-120"/>
              </a:rPr>
              <a:t>cameras</a:t>
            </a:r>
            <a:endParaRPr lang="en-US" sz="2400" dirty="0"/>
          </a:p>
        </p:txBody>
      </p:sp>
      <p:sp>
        <p:nvSpPr>
          <p:cNvPr id="6" name="Text 4"/>
          <p:cNvSpPr txBox="1"/>
          <p:nvPr/>
        </p:nvSpPr>
        <p:spPr>
          <a:xfrm>
            <a:off x="3012948" y="1554480"/>
            <a:ext cx="411480" cy="1234440"/>
          </a:xfrm>
          <a:prstGeom prst="rect">
            <a:avLst/>
          </a:prstGeom>
          <a:noFill/>
          <a:ln/>
        </p:spPr>
        <p:txBody>
          <a:bodyPr wrap="square" lIns="0" tIns="0" rIns="0" bIns="0" rtlCol="0" anchor="ctr"/>
          <a:lstStyle/>
          <a:p>
            <a:pPr algn="ctr" indent="0" marL="0">
              <a:buNone/>
            </a:pPr>
            <a:r>
              <a:rPr lang="en-US" sz="3200" b="1" dirty="0">
                <a:solidFill>
                  <a:srgbClr val="5B6472"/>
                </a:solidFill>
                <a:latin typeface="Calibri" pitchFamily="34" charset="0"/>
                <a:ea typeface="Calibri" pitchFamily="34" charset="-122"/>
                <a:cs typeface="Calibri" pitchFamily="34" charset="-120"/>
              </a:rPr>
              <a:t>+</a:t>
            </a:r>
            <a:endParaRPr lang="en-US" sz="3200" dirty="0"/>
          </a:p>
        </p:txBody>
      </p:sp>
      <p:sp>
        <p:nvSpPr>
          <p:cNvPr id="7" name="Shape 5"/>
          <p:cNvSpPr/>
          <p:nvPr/>
        </p:nvSpPr>
        <p:spPr>
          <a:xfrm>
            <a:off x="3424428" y="1554480"/>
            <a:ext cx="2464308" cy="1234440"/>
          </a:xfrm>
          <a:prstGeom prst="roundRect">
            <a:avLst>
              <a:gd name="adj" fmla="val 5926"/>
            </a:avLst>
          </a:prstGeom>
          <a:solidFill>
            <a:srgbClr val="F1F3F6"/>
          </a:solidFill>
          <a:ln w="12700">
            <a:solidFill>
              <a:srgbClr val="F1F3F6"/>
            </a:solidFill>
            <a:prstDash val="solid"/>
          </a:ln>
        </p:spPr>
      </p:sp>
      <p:sp>
        <p:nvSpPr>
          <p:cNvPr id="8" name="Text 6"/>
          <p:cNvSpPr txBox="1"/>
          <p:nvPr/>
        </p:nvSpPr>
        <p:spPr>
          <a:xfrm>
            <a:off x="3561588" y="1554480"/>
            <a:ext cx="2189988" cy="1234440"/>
          </a:xfrm>
          <a:prstGeom prst="rect">
            <a:avLst/>
          </a:prstGeom>
          <a:noFill/>
          <a:ln/>
        </p:spPr>
        <p:txBody>
          <a:bodyPr wrap="square" lIns="0" tIns="0" rIns="0" bIns="0" rtlCol="0" anchor="ctr"/>
          <a:lstStyle/>
          <a:p>
            <a:pPr algn="ctr" indent="0" marL="0">
              <a:buNone/>
            </a:pPr>
            <a:r>
              <a:rPr lang="en-US" sz="2600" b="1" dirty="0">
                <a:solidFill>
                  <a:srgbClr val="1A1F2B"/>
                </a:solidFill>
                <a:latin typeface="Arial" pitchFamily="34" charset="0"/>
                <a:ea typeface="Arial" pitchFamily="34" charset="-122"/>
                <a:cs typeface="Arial" pitchFamily="34" charset="-120"/>
              </a:rPr>
              <a:t>Ground forces</a:t>
            </a:r>
            <a:endParaRPr lang="en-US" sz="2600" dirty="0"/>
          </a:p>
        </p:txBody>
      </p:sp>
      <p:sp>
        <p:nvSpPr>
          <p:cNvPr id="9" name="Text 7"/>
          <p:cNvSpPr txBox="1"/>
          <p:nvPr/>
        </p:nvSpPr>
        <p:spPr>
          <a:xfrm>
            <a:off x="3424428" y="2880360"/>
            <a:ext cx="2464308" cy="411480"/>
          </a:xfrm>
          <a:prstGeom prst="rect">
            <a:avLst/>
          </a:prstGeom>
          <a:noFill/>
          <a:ln/>
        </p:spPr>
        <p:txBody>
          <a:bodyPr wrap="square" lIns="0" tIns="0" rIns="0" bIns="0" rtlCol="0" anchor="t"/>
          <a:lstStyle/>
          <a:p>
            <a:pPr algn="ctr" indent="0" marL="0">
              <a:buNone/>
            </a:pPr>
            <a:r>
              <a:rPr lang="en-US" sz="2400" dirty="0">
                <a:solidFill>
                  <a:srgbClr val="5B6472"/>
                </a:solidFill>
                <a:latin typeface="Calibri" pitchFamily="34" charset="0"/>
                <a:ea typeface="Calibri" pitchFamily="34" charset="-122"/>
                <a:cs typeface="Calibri" pitchFamily="34" charset="-120"/>
              </a:rPr>
              <a:t>treadmill</a:t>
            </a:r>
            <a:endParaRPr lang="en-US" sz="2400" dirty="0"/>
          </a:p>
        </p:txBody>
      </p:sp>
      <p:sp>
        <p:nvSpPr>
          <p:cNvPr id="10" name="Text 8"/>
          <p:cNvSpPr txBox="1"/>
          <p:nvPr/>
        </p:nvSpPr>
        <p:spPr>
          <a:xfrm>
            <a:off x="5888736" y="1554480"/>
            <a:ext cx="411480" cy="1234440"/>
          </a:xfrm>
          <a:prstGeom prst="rect">
            <a:avLst/>
          </a:prstGeom>
          <a:noFill/>
          <a:ln/>
        </p:spPr>
        <p:txBody>
          <a:bodyPr wrap="square" lIns="0" tIns="0" rIns="0" bIns="0" rtlCol="0" anchor="ctr"/>
          <a:lstStyle/>
          <a:p>
            <a:pPr algn="ctr" indent="0" marL="0">
              <a:buNone/>
            </a:pPr>
            <a:r>
              <a:rPr lang="en-US" sz="3200" b="1" dirty="0">
                <a:solidFill>
                  <a:srgbClr val="BF5700"/>
                </a:solidFill>
                <a:latin typeface="Calibri" pitchFamily="34" charset="0"/>
                <a:ea typeface="Calibri" pitchFamily="34" charset="-122"/>
                <a:cs typeface="Calibri" pitchFamily="34" charset="-120"/>
              </a:rPr>
              <a:t>→</a:t>
            </a:r>
            <a:endParaRPr lang="en-US" sz="3200" dirty="0"/>
          </a:p>
        </p:txBody>
      </p:sp>
      <p:sp>
        <p:nvSpPr>
          <p:cNvPr id="11" name="Shape 9"/>
          <p:cNvSpPr/>
          <p:nvPr/>
        </p:nvSpPr>
        <p:spPr>
          <a:xfrm>
            <a:off x="6300216" y="1554480"/>
            <a:ext cx="2464308" cy="1234440"/>
          </a:xfrm>
          <a:prstGeom prst="roundRect">
            <a:avLst>
              <a:gd name="adj" fmla="val 5926"/>
            </a:avLst>
          </a:prstGeom>
          <a:solidFill>
            <a:srgbClr val="1A1F2B"/>
          </a:solidFill>
          <a:ln w="12700">
            <a:solidFill>
              <a:srgbClr val="1A1F2B"/>
            </a:solidFill>
            <a:prstDash val="solid"/>
          </a:ln>
        </p:spPr>
      </p:sp>
      <p:sp>
        <p:nvSpPr>
          <p:cNvPr id="12" name="Text 10"/>
          <p:cNvSpPr txBox="1"/>
          <p:nvPr/>
        </p:nvSpPr>
        <p:spPr>
          <a:xfrm>
            <a:off x="6437376" y="1554480"/>
            <a:ext cx="2189988" cy="12344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OpenSim</a:t>
            </a:r>
            <a:endParaRPr lang="en-US" sz="2600" dirty="0"/>
          </a:p>
        </p:txBody>
      </p:sp>
      <p:sp>
        <p:nvSpPr>
          <p:cNvPr id="13" name="Text 11"/>
          <p:cNvSpPr txBox="1"/>
          <p:nvPr/>
        </p:nvSpPr>
        <p:spPr>
          <a:xfrm>
            <a:off x="6300216" y="2880360"/>
            <a:ext cx="2464308" cy="411480"/>
          </a:xfrm>
          <a:prstGeom prst="rect">
            <a:avLst/>
          </a:prstGeom>
          <a:noFill/>
          <a:ln/>
        </p:spPr>
        <p:txBody>
          <a:bodyPr wrap="square" lIns="0" tIns="0" rIns="0" bIns="0" rtlCol="0" anchor="t"/>
          <a:lstStyle/>
          <a:p>
            <a:pPr algn="ctr" indent="0" marL="0">
              <a:buNone/>
            </a:pPr>
            <a:r>
              <a:rPr lang="en-US" sz="2400" dirty="0">
                <a:solidFill>
                  <a:srgbClr val="5B6472"/>
                </a:solidFill>
                <a:latin typeface="Calibri" pitchFamily="34" charset="0"/>
                <a:ea typeface="Calibri" pitchFamily="34" charset="-122"/>
                <a:cs typeface="Calibri" pitchFamily="34" charset="-120"/>
              </a:rPr>
              <a:t>model</a:t>
            </a:r>
            <a:endParaRPr lang="en-US" sz="2400" dirty="0"/>
          </a:p>
        </p:txBody>
      </p:sp>
      <p:sp>
        <p:nvSpPr>
          <p:cNvPr id="14" name="Text 12"/>
          <p:cNvSpPr txBox="1"/>
          <p:nvPr/>
        </p:nvSpPr>
        <p:spPr>
          <a:xfrm>
            <a:off x="8764524" y="1554480"/>
            <a:ext cx="411480" cy="1234440"/>
          </a:xfrm>
          <a:prstGeom prst="rect">
            <a:avLst/>
          </a:prstGeom>
          <a:noFill/>
          <a:ln/>
        </p:spPr>
        <p:txBody>
          <a:bodyPr wrap="square" lIns="0" tIns="0" rIns="0" bIns="0" rtlCol="0" anchor="ctr"/>
          <a:lstStyle/>
          <a:p>
            <a:pPr algn="ctr" indent="0" marL="0">
              <a:buNone/>
            </a:pPr>
            <a:r>
              <a:rPr lang="en-US" sz="3200" b="1" dirty="0">
                <a:solidFill>
                  <a:srgbClr val="BF5700"/>
                </a:solidFill>
                <a:latin typeface="Calibri" pitchFamily="34" charset="0"/>
                <a:ea typeface="Calibri" pitchFamily="34" charset="-122"/>
                <a:cs typeface="Calibri" pitchFamily="34" charset="-120"/>
              </a:rPr>
              <a:t>→</a:t>
            </a:r>
            <a:endParaRPr lang="en-US" sz="3200" dirty="0"/>
          </a:p>
        </p:txBody>
      </p:sp>
      <p:sp>
        <p:nvSpPr>
          <p:cNvPr id="15" name="Shape 13"/>
          <p:cNvSpPr/>
          <p:nvPr/>
        </p:nvSpPr>
        <p:spPr>
          <a:xfrm>
            <a:off x="9176004" y="1554480"/>
            <a:ext cx="2464308" cy="1234440"/>
          </a:xfrm>
          <a:prstGeom prst="roundRect">
            <a:avLst>
              <a:gd name="adj" fmla="val 5926"/>
            </a:avLst>
          </a:prstGeom>
          <a:solidFill>
            <a:srgbClr val="BF5700"/>
          </a:solidFill>
          <a:ln w="12700">
            <a:solidFill>
              <a:srgbClr val="BF5700"/>
            </a:solidFill>
            <a:prstDash val="solid"/>
          </a:ln>
        </p:spPr>
      </p:sp>
      <p:sp>
        <p:nvSpPr>
          <p:cNvPr id="16" name="Text 14"/>
          <p:cNvSpPr txBox="1"/>
          <p:nvPr/>
        </p:nvSpPr>
        <p:spPr>
          <a:xfrm>
            <a:off x="9313164" y="1554480"/>
            <a:ext cx="2189988" cy="12344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Joint moments</a:t>
            </a:r>
            <a:endParaRPr lang="en-US" sz="2600" dirty="0"/>
          </a:p>
        </p:txBody>
      </p:sp>
      <p:sp>
        <p:nvSpPr>
          <p:cNvPr id="17" name="Text 15"/>
          <p:cNvSpPr txBox="1"/>
          <p:nvPr/>
        </p:nvSpPr>
        <p:spPr>
          <a:xfrm>
            <a:off x="9176004" y="2880360"/>
            <a:ext cx="2464308" cy="411480"/>
          </a:xfrm>
          <a:prstGeom prst="rect">
            <a:avLst/>
          </a:prstGeom>
          <a:noFill/>
          <a:ln/>
        </p:spPr>
        <p:txBody>
          <a:bodyPr wrap="square" lIns="0" tIns="0" rIns="0" bIns="0" rtlCol="0" anchor="t"/>
          <a:lstStyle/>
          <a:p>
            <a:pPr algn="ctr" indent="0" marL="0">
              <a:buNone/>
            </a:pPr>
            <a:r>
              <a:rPr lang="en-US" sz="2400" dirty="0">
                <a:solidFill>
                  <a:srgbClr val="5B6472"/>
                </a:solidFill>
                <a:latin typeface="Calibri" pitchFamily="34" charset="0"/>
                <a:ea typeface="Calibri" pitchFamily="34" charset="-122"/>
                <a:cs typeface="Calibri" pitchFamily="34" charset="-120"/>
              </a:rPr>
              <a:t>hip · knee · ankle</a:t>
            </a:r>
            <a:endParaRPr lang="en-US" sz="2400" dirty="0"/>
          </a:p>
        </p:txBody>
      </p:sp>
      <p:sp>
        <p:nvSpPr>
          <p:cNvPr id="18" name="Shape 16"/>
          <p:cNvSpPr/>
          <p:nvPr/>
        </p:nvSpPr>
        <p:spPr>
          <a:xfrm>
            <a:off x="548640" y="3566160"/>
            <a:ext cx="11091672" cy="1188720"/>
          </a:xfrm>
          <a:prstGeom prst="roundRect">
            <a:avLst>
              <a:gd name="adj" fmla="val 6154"/>
            </a:avLst>
          </a:prstGeom>
          <a:solidFill>
            <a:srgbClr val="F6E3D6"/>
          </a:solidFill>
          <a:ln w="12700">
            <a:solidFill>
              <a:srgbClr val="F6E3D6"/>
            </a:solidFill>
            <a:prstDash val="solid"/>
          </a:ln>
        </p:spPr>
      </p:sp>
      <p:sp>
        <p:nvSpPr>
          <p:cNvPr id="19" name="Text 17"/>
          <p:cNvSpPr txBox="1"/>
          <p:nvPr/>
        </p:nvSpPr>
        <p:spPr>
          <a:xfrm>
            <a:off x="822960" y="3566160"/>
            <a:ext cx="10543032" cy="1188720"/>
          </a:xfrm>
          <a:prstGeom prst="rect">
            <a:avLst/>
          </a:prstGeom>
          <a:noFill/>
          <a:ln/>
        </p:spPr>
        <p:txBody>
          <a:bodyPr wrap="square" lIns="0" tIns="0" rIns="0" bIns="0" rtlCol="0" anchor="ctr"/>
          <a:lstStyle/>
          <a:p>
            <a:pPr indent="0" marL="0">
              <a:buNone/>
            </a:pPr>
            <a:r>
              <a:rPr lang="en-US" sz="2400" b="1" dirty="0">
                <a:solidFill>
                  <a:srgbClr val="BF5700"/>
                </a:solidFill>
                <a:latin typeface="Calibri" pitchFamily="34" charset="0"/>
                <a:ea typeface="Calibri" pitchFamily="34" charset="-122"/>
                <a:cs typeface="Calibri" pitchFamily="34" charset="-120"/>
              </a:rPr>
              <a:t>Prosthesis design needs these loads. </a:t>
            </a:r>
            <a:pPr indent="0" marL="0">
              <a:buNone/>
            </a:pPr>
            <a:r>
              <a:rPr lang="en-US" sz="2400" dirty="0">
                <a:solidFill>
                  <a:srgbClr val="1A1F2B"/>
                </a:solidFill>
                <a:latin typeface="Calibri" pitchFamily="34" charset="0"/>
                <a:ea typeface="Calibri" pitchFamily="34" charset="-122"/>
                <a:cs typeface="Calibri" pitchFamily="34" charset="-120"/>
              </a:rPr>
              <a:t>But the angles still need a lab full of cameras.</a:t>
            </a:r>
            <a:endParaRPr lang="en-US" sz="2400" dirty="0"/>
          </a:p>
        </p:txBody>
      </p:sp>
      <p:sp>
        <p:nvSpPr>
          <p:cNvPr id="20" name="Shape 18"/>
          <p:cNvSpPr/>
          <p:nvPr/>
        </p:nvSpPr>
        <p:spPr>
          <a:xfrm>
            <a:off x="548640" y="5074920"/>
            <a:ext cx="5408676" cy="1234440"/>
          </a:xfrm>
          <a:prstGeom prst="roundRect">
            <a:avLst>
              <a:gd name="adj" fmla="val 5926"/>
            </a:avLst>
          </a:prstGeom>
          <a:solidFill>
            <a:srgbClr val="F1F3F6"/>
          </a:solidFill>
          <a:ln w="12700">
            <a:solidFill>
              <a:srgbClr val="F1F3F6"/>
            </a:solidFill>
            <a:prstDash val="solid"/>
          </a:ln>
        </p:spPr>
      </p:sp>
      <p:sp>
        <p:nvSpPr>
          <p:cNvPr id="21" name="Shape 19"/>
          <p:cNvSpPr/>
          <p:nvPr/>
        </p:nvSpPr>
        <p:spPr>
          <a:xfrm>
            <a:off x="822960" y="5362956"/>
            <a:ext cx="658368" cy="658368"/>
          </a:xfrm>
          <a:prstGeom prst="ellipse">
            <a:avLst/>
          </a:prstGeom>
          <a:solidFill>
            <a:srgbClr val="1A1F2B"/>
          </a:solidFill>
          <a:ln w="12700">
            <a:solidFill>
              <a:srgbClr val="1A1F2B"/>
            </a:solidFill>
            <a:prstDash val="solid"/>
          </a:ln>
        </p:spPr>
      </p:sp>
      <p:pic>
        <p:nvPicPr>
          <p:cNvPr id="22" name="Image 0" descr="preencoded.png">    </p:cNvPr>
          <p:cNvPicPr>
            <a:picLocks noChangeAspect="1"/>
          </p:cNvPicPr>
          <p:nvPr/>
        </p:nvPicPr>
        <p:blipFill>
          <a:blip r:embed="rId1"/>
          <a:stretch>
            <a:fillRect/>
          </a:stretch>
        </p:blipFill>
        <p:spPr>
          <a:xfrm>
            <a:off x="987552" y="5527548"/>
            <a:ext cx="329184" cy="329184"/>
          </a:xfrm>
          <a:prstGeom prst="rect">
            <a:avLst/>
          </a:prstGeom>
        </p:spPr>
      </p:pic>
      <p:sp>
        <p:nvSpPr>
          <p:cNvPr id="23" name="Text 20"/>
          <p:cNvSpPr txBox="1"/>
          <p:nvPr/>
        </p:nvSpPr>
        <p:spPr>
          <a:xfrm>
            <a:off x="1737360" y="5074920"/>
            <a:ext cx="3945636" cy="1234440"/>
          </a:xfrm>
          <a:prstGeom prst="rect">
            <a:avLst/>
          </a:prstGeom>
          <a:noFill/>
          <a:ln/>
        </p:spPr>
        <p:txBody>
          <a:bodyPr wrap="square" lIns="0" tIns="0" rIns="0" bIns="0" rtlCol="0" anchor="ctr"/>
          <a:lstStyle/>
          <a:p>
            <a:pPr indent="0" marL="0">
              <a:buNone/>
            </a:pPr>
            <a:r>
              <a:rPr lang="en-US" sz="2400" b="1" dirty="0">
                <a:solidFill>
                  <a:srgbClr val="1A1F2B"/>
                </a:solidFill>
                <a:latin typeface="Calibri" pitchFamily="34" charset="0"/>
                <a:ea typeface="Calibri" pitchFamily="34" charset="-122"/>
                <a:cs typeface="Calibri" pitchFamily="34" charset="-120"/>
              </a:rPr>
              <a:t>Dr. Nicholas Fey, lab director</a:t>
            </a:r>
            <a:endParaRPr lang="en-US" sz="2400" dirty="0"/>
          </a:p>
        </p:txBody>
      </p:sp>
      <p:sp>
        <p:nvSpPr>
          <p:cNvPr id="24" name="Shape 21"/>
          <p:cNvSpPr/>
          <p:nvPr/>
        </p:nvSpPr>
        <p:spPr>
          <a:xfrm>
            <a:off x="6231636" y="5074920"/>
            <a:ext cx="5408676" cy="1234440"/>
          </a:xfrm>
          <a:prstGeom prst="roundRect">
            <a:avLst>
              <a:gd name="adj" fmla="val 5926"/>
            </a:avLst>
          </a:prstGeom>
          <a:solidFill>
            <a:srgbClr val="F1F3F6"/>
          </a:solidFill>
          <a:ln w="12700">
            <a:solidFill>
              <a:srgbClr val="F1F3F6"/>
            </a:solidFill>
            <a:prstDash val="solid"/>
          </a:ln>
        </p:spPr>
      </p:sp>
      <p:sp>
        <p:nvSpPr>
          <p:cNvPr id="25" name="Shape 22"/>
          <p:cNvSpPr/>
          <p:nvPr/>
        </p:nvSpPr>
        <p:spPr>
          <a:xfrm>
            <a:off x="6505956" y="5362956"/>
            <a:ext cx="658368" cy="658368"/>
          </a:xfrm>
          <a:prstGeom prst="ellipse">
            <a:avLst/>
          </a:prstGeom>
          <a:solidFill>
            <a:srgbClr val="1A1F2B"/>
          </a:solidFill>
          <a:ln w="12700">
            <a:solidFill>
              <a:srgbClr val="1A1F2B"/>
            </a:solidFill>
            <a:prstDash val="solid"/>
          </a:ln>
        </p:spPr>
      </p:sp>
      <p:pic>
        <p:nvPicPr>
          <p:cNvPr id="26" name="Image 1" descr="preencoded.png">    </p:cNvPr>
          <p:cNvPicPr>
            <a:picLocks noChangeAspect="1"/>
          </p:cNvPicPr>
          <p:nvPr/>
        </p:nvPicPr>
        <p:blipFill>
          <a:blip r:embed="rId2"/>
          <a:stretch>
            <a:fillRect/>
          </a:stretch>
        </p:blipFill>
        <p:spPr>
          <a:xfrm>
            <a:off x="6670548" y="5527548"/>
            <a:ext cx="329184" cy="329184"/>
          </a:xfrm>
          <a:prstGeom prst="rect">
            <a:avLst/>
          </a:prstGeom>
        </p:spPr>
      </p:pic>
      <p:sp>
        <p:nvSpPr>
          <p:cNvPr id="27" name="Text 23"/>
          <p:cNvSpPr txBox="1"/>
          <p:nvPr/>
        </p:nvSpPr>
        <p:spPr>
          <a:xfrm>
            <a:off x="7420356" y="5074920"/>
            <a:ext cx="3945636" cy="1234440"/>
          </a:xfrm>
          <a:prstGeom prst="rect">
            <a:avLst/>
          </a:prstGeom>
          <a:noFill/>
          <a:ln/>
        </p:spPr>
        <p:txBody>
          <a:bodyPr wrap="square" lIns="0" tIns="0" rIns="0" bIns="0" rtlCol="0" anchor="ctr"/>
          <a:lstStyle/>
          <a:p>
            <a:pPr indent="0" marL="0">
              <a:buNone/>
            </a:pPr>
            <a:r>
              <a:rPr lang="en-US" sz="2400" b="1" dirty="0">
                <a:solidFill>
                  <a:srgbClr val="1A1F2B"/>
                </a:solidFill>
                <a:latin typeface="Calibri" pitchFamily="34" charset="0"/>
                <a:ea typeface="Calibri" pitchFamily="34" charset="-122"/>
                <a:cs typeface="Calibri" pitchFamily="34" charset="-120"/>
              </a:rPr>
              <a:t>Finn Eagen, graduate mentor</a:t>
            </a:r>
            <a:endParaRPr lang="en-US" sz="2400" dirty="0"/>
          </a:p>
        </p:txBody>
      </p:sp>
      <p:sp>
        <p:nvSpPr>
          <p:cNvPr id="28" name="Text 24"/>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200" dirty="0">
                <a:solidFill>
                  <a:srgbClr val="5B6472"/>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548640"/>
            <a:ext cx="11091672" cy="731520"/>
          </a:xfrm>
          <a:prstGeom prst="rect">
            <a:avLst/>
          </a:prstGeom>
          <a:noFill/>
          <a:ln/>
        </p:spPr>
        <p:txBody>
          <a:bodyPr wrap="square" lIns="0" tIns="0" rIns="0" bIns="0" rtlCol="0" anchor="t"/>
          <a:lstStyle/>
          <a:p>
            <a:pPr indent="0" marL="0">
              <a:buNone/>
            </a:pPr>
            <a:r>
              <a:rPr lang="en-US" sz="3800" b="1" dirty="0">
                <a:solidFill>
                  <a:srgbClr val="1A1F2B"/>
                </a:solidFill>
                <a:latin typeface="Arial" pitchFamily="34" charset="0"/>
                <a:ea typeface="Arial" pitchFamily="34" charset="-122"/>
                <a:cs typeface="Arial" pitchFamily="34" charset="-120"/>
              </a:rPr>
              <a:t>Can phones replace the lab's cameras?</a:t>
            </a:r>
            <a:endParaRPr lang="en-US" sz="3800" dirty="0"/>
          </a:p>
        </p:txBody>
      </p:sp>
      <p:sp>
        <p:nvSpPr>
          <p:cNvPr id="3" name="Shape 1"/>
          <p:cNvSpPr/>
          <p:nvPr/>
        </p:nvSpPr>
        <p:spPr>
          <a:xfrm>
            <a:off x="548640" y="1554480"/>
            <a:ext cx="3514344" cy="4069080"/>
          </a:xfrm>
          <a:prstGeom prst="roundRect">
            <a:avLst>
              <a:gd name="adj" fmla="val 2082"/>
            </a:avLst>
          </a:prstGeom>
          <a:solidFill>
            <a:srgbClr val="F1F3F6"/>
          </a:solidFill>
          <a:ln w="12700">
            <a:solidFill>
              <a:srgbClr val="F1F3F6"/>
            </a:solidFill>
            <a:prstDash val="solid"/>
          </a:ln>
        </p:spPr>
      </p:sp>
      <p:sp>
        <p:nvSpPr>
          <p:cNvPr id="4" name="Shape 2"/>
          <p:cNvSpPr/>
          <p:nvPr/>
        </p:nvSpPr>
        <p:spPr>
          <a:xfrm>
            <a:off x="822960" y="1828800"/>
            <a:ext cx="658368" cy="658368"/>
          </a:xfrm>
          <a:prstGeom prst="ellipse">
            <a:avLst/>
          </a:prstGeom>
          <a:solidFill>
            <a:srgbClr val="BF5700"/>
          </a:solidFill>
          <a:ln w="12700">
            <a:solidFill>
              <a:srgbClr val="BF5700"/>
            </a:solidFill>
            <a:prstDash val="solid"/>
          </a:ln>
        </p:spPr>
      </p:sp>
      <p:pic>
        <p:nvPicPr>
          <p:cNvPr id="5" name="Image 0" descr="preencoded.png">    </p:cNvPr>
          <p:cNvPicPr>
            <a:picLocks noChangeAspect="1"/>
          </p:cNvPicPr>
          <p:nvPr/>
        </p:nvPicPr>
        <p:blipFill>
          <a:blip r:embed="rId1"/>
          <a:stretch>
            <a:fillRect/>
          </a:stretch>
        </p:blipFill>
        <p:spPr>
          <a:xfrm>
            <a:off x="987552" y="1993392"/>
            <a:ext cx="329184" cy="329184"/>
          </a:xfrm>
          <a:prstGeom prst="rect">
            <a:avLst/>
          </a:prstGeom>
        </p:spPr>
      </p:pic>
      <p:sp>
        <p:nvSpPr>
          <p:cNvPr id="6" name="Text 3"/>
          <p:cNvSpPr txBox="1"/>
          <p:nvPr/>
        </p:nvSpPr>
        <p:spPr>
          <a:xfrm>
            <a:off x="1645920" y="1828800"/>
            <a:ext cx="2142744" cy="658368"/>
          </a:xfrm>
          <a:prstGeom prst="rect">
            <a:avLst/>
          </a:prstGeom>
          <a:noFill/>
          <a:ln/>
        </p:spPr>
        <p:txBody>
          <a:bodyPr wrap="square" lIns="0" tIns="0" rIns="0" bIns="0" rtlCol="0" anchor="ctr"/>
          <a:lstStyle/>
          <a:p>
            <a:pPr indent="0" marL="0">
              <a:buNone/>
            </a:pPr>
            <a:r>
              <a:rPr lang="en-US" sz="2400" b="1" dirty="0">
                <a:solidFill>
                  <a:srgbClr val="BF5700"/>
                </a:solidFill>
                <a:latin typeface="Calibri" pitchFamily="34" charset="0"/>
                <a:ea typeface="Calibri" pitchFamily="34" charset="-122"/>
                <a:cs typeface="Calibri" pitchFamily="34" charset="-120"/>
              </a:rPr>
              <a:t>Aim 1</a:t>
            </a:r>
            <a:endParaRPr lang="en-US" sz="2400" dirty="0"/>
          </a:p>
        </p:txBody>
      </p:sp>
      <p:sp>
        <p:nvSpPr>
          <p:cNvPr id="7" name="Text 4"/>
          <p:cNvSpPr txBox="1"/>
          <p:nvPr/>
        </p:nvSpPr>
        <p:spPr>
          <a:xfrm>
            <a:off x="822960" y="2743200"/>
            <a:ext cx="2965704" cy="502920"/>
          </a:xfrm>
          <a:prstGeom prst="rect">
            <a:avLst/>
          </a:prstGeom>
          <a:noFill/>
          <a:ln/>
        </p:spPr>
        <p:txBody>
          <a:bodyPr wrap="square" lIns="0" tIns="0" rIns="0" bIns="0" rtlCol="0" anchor="t"/>
          <a:lstStyle/>
          <a:p>
            <a:pPr indent="0" marL="0">
              <a:buNone/>
            </a:pPr>
            <a:r>
              <a:rPr lang="en-US" sz="2800" b="1" dirty="0">
                <a:solidFill>
                  <a:srgbClr val="1A1F2B"/>
                </a:solidFill>
                <a:latin typeface="Arial" pitchFamily="34" charset="0"/>
                <a:ea typeface="Arial" pitchFamily="34" charset="-122"/>
                <a:cs typeface="Arial" pitchFamily="34" charset="-120"/>
              </a:rPr>
              <a:t>Joint angles</a:t>
            </a:r>
            <a:endParaRPr lang="en-US" sz="2800" dirty="0"/>
          </a:p>
        </p:txBody>
      </p:sp>
      <p:sp>
        <p:nvSpPr>
          <p:cNvPr id="8" name="Text 5"/>
          <p:cNvSpPr txBox="1"/>
          <p:nvPr/>
        </p:nvSpPr>
        <p:spPr>
          <a:xfrm>
            <a:off x="822960" y="3337560"/>
            <a:ext cx="2965704" cy="1188720"/>
          </a:xfrm>
          <a:prstGeom prst="rect">
            <a:avLst/>
          </a:prstGeom>
          <a:noFill/>
          <a:ln/>
        </p:spPr>
        <p:txBody>
          <a:bodyPr wrap="square" lIns="0" tIns="0" rIns="0" bIns="0" rtlCol="0" anchor="t"/>
          <a:lstStyle/>
          <a:p>
            <a:pPr indent="0" marL="0">
              <a:buNone/>
            </a:pPr>
            <a:r>
              <a:rPr lang="en-US" sz="2400" dirty="0">
                <a:solidFill>
                  <a:srgbClr val="5B6472"/>
                </a:solidFill>
                <a:latin typeface="Calibri" pitchFamily="34" charset="0"/>
                <a:ea typeface="Calibri" pitchFamily="34" charset="-122"/>
                <a:cs typeface="Calibri" pitchFamily="34" charset="-120"/>
              </a:rPr>
              <a:t>Phones vs. Theia3D on the treadmill</a:t>
            </a:r>
            <a:endParaRPr lang="en-US" sz="2400" dirty="0"/>
          </a:p>
        </p:txBody>
      </p:sp>
      <p:sp>
        <p:nvSpPr>
          <p:cNvPr id="9" name="Shape 6"/>
          <p:cNvSpPr/>
          <p:nvPr/>
        </p:nvSpPr>
        <p:spPr>
          <a:xfrm>
            <a:off x="822960" y="4709160"/>
            <a:ext cx="2965704" cy="640080"/>
          </a:xfrm>
          <a:prstGeom prst="roundRect">
            <a:avLst>
              <a:gd name="adj" fmla="val 11429"/>
            </a:avLst>
          </a:prstGeom>
          <a:solidFill>
            <a:srgbClr val="FFFFFF"/>
          </a:solidFill>
          <a:ln w="15875">
            <a:solidFill>
              <a:srgbClr val="BF5700"/>
            </a:solidFill>
            <a:prstDash val="solid"/>
          </a:ln>
        </p:spPr>
      </p:sp>
      <p:sp>
        <p:nvSpPr>
          <p:cNvPr id="10" name="Text 7"/>
          <p:cNvSpPr txBox="1"/>
          <p:nvPr/>
        </p:nvSpPr>
        <p:spPr>
          <a:xfrm>
            <a:off x="822960" y="4709160"/>
            <a:ext cx="2965704" cy="640080"/>
          </a:xfrm>
          <a:prstGeom prst="rect">
            <a:avLst/>
          </a:prstGeom>
          <a:noFill/>
          <a:ln/>
        </p:spPr>
        <p:txBody>
          <a:bodyPr wrap="square" lIns="0" tIns="0" rIns="0" bIns="0" rtlCol="0" anchor="ctr"/>
          <a:lstStyle/>
          <a:p>
            <a:pPr algn="ctr" indent="0" marL="0">
              <a:buNone/>
            </a:pPr>
            <a:r>
              <a:rPr lang="en-US" sz="2400" b="1" dirty="0">
                <a:solidFill>
                  <a:srgbClr val="BF5700"/>
                </a:solidFill>
                <a:latin typeface="Calibri" pitchFamily="34" charset="0"/>
                <a:ea typeface="Calibri" pitchFamily="34" charset="-122"/>
                <a:cs typeface="Calibri" pitchFamily="34" charset="-120"/>
              </a:rPr>
              <a:t>Target: &lt; 5° error</a:t>
            </a:r>
            <a:endParaRPr lang="en-US" sz="2400" dirty="0"/>
          </a:p>
        </p:txBody>
      </p:sp>
      <p:sp>
        <p:nvSpPr>
          <p:cNvPr id="11" name="Shape 8"/>
          <p:cNvSpPr/>
          <p:nvPr/>
        </p:nvSpPr>
        <p:spPr>
          <a:xfrm>
            <a:off x="4337304" y="1554480"/>
            <a:ext cx="3514344" cy="4069080"/>
          </a:xfrm>
          <a:prstGeom prst="roundRect">
            <a:avLst>
              <a:gd name="adj" fmla="val 2082"/>
            </a:avLst>
          </a:prstGeom>
          <a:solidFill>
            <a:srgbClr val="F1F3F6"/>
          </a:solidFill>
          <a:ln w="12700">
            <a:solidFill>
              <a:srgbClr val="F1F3F6"/>
            </a:solidFill>
            <a:prstDash val="solid"/>
          </a:ln>
        </p:spPr>
      </p:sp>
      <p:sp>
        <p:nvSpPr>
          <p:cNvPr id="12" name="Shape 9"/>
          <p:cNvSpPr/>
          <p:nvPr/>
        </p:nvSpPr>
        <p:spPr>
          <a:xfrm>
            <a:off x="4611624" y="1828800"/>
            <a:ext cx="658368" cy="658368"/>
          </a:xfrm>
          <a:prstGeom prst="ellipse">
            <a:avLst/>
          </a:prstGeom>
          <a:solidFill>
            <a:srgbClr val="BF5700"/>
          </a:solidFill>
          <a:ln w="12700">
            <a:solidFill>
              <a:srgbClr val="BF5700"/>
            </a:solidFill>
            <a:prstDash val="solid"/>
          </a:ln>
        </p:spPr>
      </p:sp>
      <p:pic>
        <p:nvPicPr>
          <p:cNvPr id="13" name="Image 1" descr="preencoded.png">    </p:cNvPr>
          <p:cNvPicPr>
            <a:picLocks noChangeAspect="1"/>
          </p:cNvPicPr>
          <p:nvPr/>
        </p:nvPicPr>
        <p:blipFill>
          <a:blip r:embed="rId2"/>
          <a:stretch>
            <a:fillRect/>
          </a:stretch>
        </p:blipFill>
        <p:spPr>
          <a:xfrm>
            <a:off x="4776216" y="1993392"/>
            <a:ext cx="329184" cy="329184"/>
          </a:xfrm>
          <a:prstGeom prst="rect">
            <a:avLst/>
          </a:prstGeom>
        </p:spPr>
      </p:pic>
      <p:sp>
        <p:nvSpPr>
          <p:cNvPr id="14" name="Text 10"/>
          <p:cNvSpPr txBox="1"/>
          <p:nvPr/>
        </p:nvSpPr>
        <p:spPr>
          <a:xfrm>
            <a:off x="5434584" y="1828800"/>
            <a:ext cx="2142744" cy="658368"/>
          </a:xfrm>
          <a:prstGeom prst="rect">
            <a:avLst/>
          </a:prstGeom>
          <a:noFill/>
          <a:ln/>
        </p:spPr>
        <p:txBody>
          <a:bodyPr wrap="square" lIns="0" tIns="0" rIns="0" bIns="0" rtlCol="0" anchor="ctr"/>
          <a:lstStyle/>
          <a:p>
            <a:pPr indent="0" marL="0">
              <a:buNone/>
            </a:pPr>
            <a:r>
              <a:rPr lang="en-US" sz="2400" b="1" dirty="0">
                <a:solidFill>
                  <a:srgbClr val="BF5700"/>
                </a:solidFill>
                <a:latin typeface="Calibri" pitchFamily="34" charset="0"/>
                <a:ea typeface="Calibri" pitchFamily="34" charset="-122"/>
                <a:cs typeface="Calibri" pitchFamily="34" charset="-120"/>
              </a:rPr>
              <a:t>Aim 2</a:t>
            </a:r>
            <a:endParaRPr lang="en-US" sz="2400" dirty="0"/>
          </a:p>
        </p:txBody>
      </p:sp>
      <p:sp>
        <p:nvSpPr>
          <p:cNvPr id="15" name="Text 11"/>
          <p:cNvSpPr txBox="1"/>
          <p:nvPr/>
        </p:nvSpPr>
        <p:spPr>
          <a:xfrm>
            <a:off x="4611624" y="2743200"/>
            <a:ext cx="2965704" cy="502920"/>
          </a:xfrm>
          <a:prstGeom prst="rect">
            <a:avLst/>
          </a:prstGeom>
          <a:noFill/>
          <a:ln/>
        </p:spPr>
        <p:txBody>
          <a:bodyPr wrap="square" lIns="0" tIns="0" rIns="0" bIns="0" rtlCol="0" anchor="t"/>
          <a:lstStyle/>
          <a:p>
            <a:pPr indent="0" marL="0">
              <a:buNone/>
            </a:pPr>
            <a:r>
              <a:rPr lang="en-US" sz="2800" b="1" dirty="0">
                <a:solidFill>
                  <a:srgbClr val="1A1F2B"/>
                </a:solidFill>
                <a:latin typeface="Arial" pitchFamily="34" charset="0"/>
                <a:ea typeface="Arial" pitchFamily="34" charset="-122"/>
                <a:cs typeface="Arial" pitchFamily="34" charset="-120"/>
              </a:rPr>
              <a:t>Joint moments</a:t>
            </a:r>
            <a:endParaRPr lang="en-US" sz="2800" dirty="0"/>
          </a:p>
        </p:txBody>
      </p:sp>
      <p:sp>
        <p:nvSpPr>
          <p:cNvPr id="16" name="Text 12"/>
          <p:cNvSpPr txBox="1"/>
          <p:nvPr/>
        </p:nvSpPr>
        <p:spPr>
          <a:xfrm>
            <a:off x="4611624" y="3337560"/>
            <a:ext cx="2965704" cy="1188720"/>
          </a:xfrm>
          <a:prstGeom prst="rect">
            <a:avLst/>
          </a:prstGeom>
          <a:noFill/>
          <a:ln/>
        </p:spPr>
        <p:txBody>
          <a:bodyPr wrap="square" lIns="0" tIns="0" rIns="0" bIns="0" rtlCol="0" anchor="t"/>
          <a:lstStyle/>
          <a:p>
            <a:pPr indent="0" marL="0">
              <a:buNone/>
            </a:pPr>
            <a:r>
              <a:rPr lang="en-US" sz="2400" dirty="0">
                <a:solidFill>
                  <a:srgbClr val="5B6472"/>
                </a:solidFill>
                <a:latin typeface="Calibri" pitchFamily="34" charset="0"/>
                <a:ea typeface="Calibri" pitchFamily="34" charset="-122"/>
                <a:cs typeface="Calibri" pitchFamily="34" charset="-120"/>
              </a:rPr>
              <a:t>OpenSim with treadmill forces</a:t>
            </a:r>
            <a:endParaRPr lang="en-US" sz="2400" dirty="0"/>
          </a:p>
        </p:txBody>
      </p:sp>
      <p:sp>
        <p:nvSpPr>
          <p:cNvPr id="17" name="Shape 13"/>
          <p:cNvSpPr/>
          <p:nvPr/>
        </p:nvSpPr>
        <p:spPr>
          <a:xfrm>
            <a:off x="4611624" y="4709160"/>
            <a:ext cx="2965704" cy="640080"/>
          </a:xfrm>
          <a:prstGeom prst="roundRect">
            <a:avLst>
              <a:gd name="adj" fmla="val 11429"/>
            </a:avLst>
          </a:prstGeom>
          <a:solidFill>
            <a:srgbClr val="FFFFFF"/>
          </a:solidFill>
          <a:ln w="15875">
            <a:solidFill>
              <a:srgbClr val="BF5700"/>
            </a:solidFill>
            <a:prstDash val="solid"/>
          </a:ln>
        </p:spPr>
      </p:sp>
      <p:sp>
        <p:nvSpPr>
          <p:cNvPr id="18" name="Text 14"/>
          <p:cNvSpPr txBox="1"/>
          <p:nvPr/>
        </p:nvSpPr>
        <p:spPr>
          <a:xfrm>
            <a:off x="4611624" y="4709160"/>
            <a:ext cx="2965704" cy="640080"/>
          </a:xfrm>
          <a:prstGeom prst="rect">
            <a:avLst/>
          </a:prstGeom>
          <a:noFill/>
          <a:ln/>
        </p:spPr>
        <p:txBody>
          <a:bodyPr wrap="square" lIns="0" tIns="0" rIns="0" bIns="0" rtlCol="0" anchor="ctr"/>
          <a:lstStyle/>
          <a:p>
            <a:pPr algn="ctr" indent="0" marL="0">
              <a:buNone/>
            </a:pPr>
            <a:r>
              <a:rPr lang="en-US" sz="2400" b="1" dirty="0">
                <a:solidFill>
                  <a:srgbClr val="BF5700"/>
                </a:solidFill>
                <a:latin typeface="Calibri" pitchFamily="34" charset="0"/>
                <a:ea typeface="Calibri" pitchFamily="34" charset="-122"/>
                <a:cs typeface="Calibri" pitchFamily="34" charset="-120"/>
              </a:rPr>
              <a:t>Target: r &gt; 0.9</a:t>
            </a:r>
            <a:endParaRPr lang="en-US" sz="2400" dirty="0"/>
          </a:p>
        </p:txBody>
      </p:sp>
      <p:sp>
        <p:nvSpPr>
          <p:cNvPr id="19" name="Shape 15"/>
          <p:cNvSpPr/>
          <p:nvPr/>
        </p:nvSpPr>
        <p:spPr>
          <a:xfrm>
            <a:off x="8125968" y="1554480"/>
            <a:ext cx="3514344" cy="4069080"/>
          </a:xfrm>
          <a:prstGeom prst="roundRect">
            <a:avLst>
              <a:gd name="adj" fmla="val 2082"/>
            </a:avLst>
          </a:prstGeom>
          <a:solidFill>
            <a:srgbClr val="F1F3F6"/>
          </a:solidFill>
          <a:ln w="12700">
            <a:solidFill>
              <a:srgbClr val="F1F3F6"/>
            </a:solidFill>
            <a:prstDash val="solid"/>
          </a:ln>
        </p:spPr>
      </p:sp>
      <p:sp>
        <p:nvSpPr>
          <p:cNvPr id="20" name="Shape 16"/>
          <p:cNvSpPr/>
          <p:nvPr/>
        </p:nvSpPr>
        <p:spPr>
          <a:xfrm>
            <a:off x="8400288" y="1828800"/>
            <a:ext cx="658368" cy="658368"/>
          </a:xfrm>
          <a:prstGeom prst="ellipse">
            <a:avLst/>
          </a:prstGeom>
          <a:solidFill>
            <a:srgbClr val="BF5700"/>
          </a:solidFill>
          <a:ln w="12700">
            <a:solidFill>
              <a:srgbClr val="BF5700"/>
            </a:solidFill>
            <a:prstDash val="solid"/>
          </a:ln>
        </p:spPr>
      </p:sp>
      <p:pic>
        <p:nvPicPr>
          <p:cNvPr id="21" name="Image 2" descr="preencoded.png">    </p:cNvPr>
          <p:cNvPicPr>
            <a:picLocks noChangeAspect="1"/>
          </p:cNvPicPr>
          <p:nvPr/>
        </p:nvPicPr>
        <p:blipFill>
          <a:blip r:embed="rId3"/>
          <a:stretch>
            <a:fillRect/>
          </a:stretch>
        </p:blipFill>
        <p:spPr>
          <a:xfrm>
            <a:off x="8564880" y="1993392"/>
            <a:ext cx="329184" cy="329184"/>
          </a:xfrm>
          <a:prstGeom prst="rect">
            <a:avLst/>
          </a:prstGeom>
        </p:spPr>
      </p:pic>
      <p:sp>
        <p:nvSpPr>
          <p:cNvPr id="22" name="Text 17"/>
          <p:cNvSpPr txBox="1"/>
          <p:nvPr/>
        </p:nvSpPr>
        <p:spPr>
          <a:xfrm>
            <a:off x="9223248" y="1828800"/>
            <a:ext cx="2142744" cy="658368"/>
          </a:xfrm>
          <a:prstGeom prst="rect">
            <a:avLst/>
          </a:prstGeom>
          <a:noFill/>
          <a:ln/>
        </p:spPr>
        <p:txBody>
          <a:bodyPr wrap="square" lIns="0" tIns="0" rIns="0" bIns="0" rtlCol="0" anchor="ctr"/>
          <a:lstStyle/>
          <a:p>
            <a:pPr indent="0" marL="0">
              <a:buNone/>
            </a:pPr>
            <a:r>
              <a:rPr lang="en-US" sz="2400" b="1" dirty="0">
                <a:solidFill>
                  <a:srgbClr val="BF5700"/>
                </a:solidFill>
                <a:latin typeface="Calibri" pitchFamily="34" charset="0"/>
                <a:ea typeface="Calibri" pitchFamily="34" charset="-122"/>
                <a:cs typeface="Calibri" pitchFamily="34" charset="-120"/>
              </a:rPr>
              <a:t>Aim 3</a:t>
            </a:r>
            <a:endParaRPr lang="en-US" sz="2400" dirty="0"/>
          </a:p>
        </p:txBody>
      </p:sp>
      <p:sp>
        <p:nvSpPr>
          <p:cNvPr id="23" name="Text 18"/>
          <p:cNvSpPr txBox="1"/>
          <p:nvPr/>
        </p:nvSpPr>
        <p:spPr>
          <a:xfrm>
            <a:off x="8400288" y="2743200"/>
            <a:ext cx="2965704" cy="502920"/>
          </a:xfrm>
          <a:prstGeom prst="rect">
            <a:avLst/>
          </a:prstGeom>
          <a:noFill/>
          <a:ln/>
        </p:spPr>
        <p:txBody>
          <a:bodyPr wrap="square" lIns="0" tIns="0" rIns="0" bIns="0" rtlCol="0" anchor="t"/>
          <a:lstStyle/>
          <a:p>
            <a:pPr indent="0" marL="0">
              <a:buNone/>
            </a:pPr>
            <a:r>
              <a:rPr lang="en-US" sz="2800" b="1" dirty="0">
                <a:solidFill>
                  <a:srgbClr val="1A1F2B"/>
                </a:solidFill>
                <a:latin typeface="Arial" pitchFamily="34" charset="0"/>
                <a:ea typeface="Arial" pitchFamily="34" charset="-122"/>
                <a:cs typeface="Arial" pitchFamily="34" charset="-120"/>
              </a:rPr>
              <a:t>Leave the lab</a:t>
            </a:r>
            <a:endParaRPr lang="en-US" sz="2800" dirty="0"/>
          </a:p>
        </p:txBody>
      </p:sp>
      <p:sp>
        <p:nvSpPr>
          <p:cNvPr id="24" name="Text 19"/>
          <p:cNvSpPr txBox="1"/>
          <p:nvPr/>
        </p:nvSpPr>
        <p:spPr>
          <a:xfrm>
            <a:off x="8400288" y="3337560"/>
            <a:ext cx="2965704" cy="1188720"/>
          </a:xfrm>
          <a:prstGeom prst="rect">
            <a:avLst/>
          </a:prstGeom>
          <a:noFill/>
          <a:ln/>
        </p:spPr>
        <p:txBody>
          <a:bodyPr wrap="square" lIns="0" tIns="0" rIns="0" bIns="0" rtlCol="0" anchor="t"/>
          <a:lstStyle/>
          <a:p>
            <a:pPr indent="0" marL="0">
              <a:buNone/>
            </a:pPr>
            <a:r>
              <a:rPr lang="en-US" sz="2400" dirty="0">
                <a:solidFill>
                  <a:srgbClr val="5B6472"/>
                </a:solidFill>
                <a:latin typeface="Calibri" pitchFamily="34" charset="0"/>
                <a:ea typeface="Calibri" pitchFamily="34" charset="-122"/>
                <a:cs typeface="Calibri" pitchFamily="34" charset="-120"/>
              </a:rPr>
              <a:t>Ramps, stairs, and outdoors</a:t>
            </a:r>
            <a:endParaRPr lang="en-US" sz="2400" dirty="0"/>
          </a:p>
        </p:txBody>
      </p:sp>
      <p:sp>
        <p:nvSpPr>
          <p:cNvPr id="25" name="Shape 20"/>
          <p:cNvSpPr/>
          <p:nvPr/>
        </p:nvSpPr>
        <p:spPr>
          <a:xfrm>
            <a:off x="8400288" y="4709160"/>
            <a:ext cx="2965704" cy="640080"/>
          </a:xfrm>
          <a:prstGeom prst="roundRect">
            <a:avLst>
              <a:gd name="adj" fmla="val 11429"/>
            </a:avLst>
          </a:prstGeom>
          <a:solidFill>
            <a:srgbClr val="FFFFFF"/>
          </a:solidFill>
          <a:ln w="15875">
            <a:solidFill>
              <a:srgbClr val="BF5700"/>
            </a:solidFill>
            <a:prstDash val="solid"/>
          </a:ln>
        </p:spPr>
      </p:sp>
      <p:sp>
        <p:nvSpPr>
          <p:cNvPr id="26" name="Text 21"/>
          <p:cNvSpPr txBox="1"/>
          <p:nvPr/>
        </p:nvSpPr>
        <p:spPr>
          <a:xfrm>
            <a:off x="8400288" y="4709160"/>
            <a:ext cx="2965704" cy="640080"/>
          </a:xfrm>
          <a:prstGeom prst="rect">
            <a:avLst/>
          </a:prstGeom>
          <a:noFill/>
          <a:ln/>
        </p:spPr>
        <p:txBody>
          <a:bodyPr wrap="square" lIns="0" tIns="0" rIns="0" bIns="0" rtlCol="0" anchor="ctr"/>
          <a:lstStyle/>
          <a:p>
            <a:pPr algn="ctr" indent="0" marL="0">
              <a:buNone/>
            </a:pPr>
            <a:r>
              <a:rPr lang="en-US" sz="2400" b="1" dirty="0">
                <a:solidFill>
                  <a:srgbClr val="BF5700"/>
                </a:solidFill>
                <a:latin typeface="Calibri" pitchFamily="34" charset="0"/>
                <a:ea typeface="Calibri" pitchFamily="34" charset="-122"/>
                <a:cs typeface="Calibri" pitchFamily="34" charset="-120"/>
              </a:rPr>
              <a:t>Goal: setup guide</a:t>
            </a:r>
            <a:endParaRPr lang="en-US" sz="2400" dirty="0"/>
          </a:p>
        </p:txBody>
      </p:sp>
      <p:sp>
        <p:nvSpPr>
          <p:cNvPr id="27" name="Text 22"/>
          <p:cNvSpPr txBox="1"/>
          <p:nvPr/>
        </p:nvSpPr>
        <p:spPr>
          <a:xfrm>
            <a:off x="548640" y="5897880"/>
            <a:ext cx="7315200" cy="411480"/>
          </a:xfrm>
          <a:prstGeom prst="rect">
            <a:avLst/>
          </a:prstGeom>
          <a:noFill/>
          <a:ln/>
        </p:spPr>
        <p:txBody>
          <a:bodyPr wrap="square" lIns="0" tIns="0" rIns="0" bIns="0" rtlCol="0" anchor="b"/>
          <a:lstStyle/>
          <a:p>
            <a:pPr indent="0" marL="0">
              <a:buNone/>
            </a:pPr>
            <a:r>
              <a:rPr lang="en-US" sz="2400" b="1" dirty="0">
                <a:solidFill>
                  <a:srgbClr val="1A1F2B"/>
                </a:solidFill>
                <a:latin typeface="Calibri" pitchFamily="34" charset="0"/>
                <a:ea typeface="Calibri" pitchFamily="34" charset="-122"/>
                <a:cs typeface="Calibri" pitchFamily="34" charset="-120"/>
              </a:rPr>
              <a:t>If time: </a:t>
            </a:r>
            <a:pPr indent="0" marL="0">
              <a:buNone/>
            </a:pPr>
            <a:r>
              <a:rPr lang="en-US" sz="2400" dirty="0">
                <a:solidFill>
                  <a:srgbClr val="5B6472"/>
                </a:solidFill>
                <a:latin typeface="Calibri" pitchFamily="34" charset="0"/>
                <a:ea typeface="Calibri" pitchFamily="34" charset="-122"/>
                <a:cs typeface="Calibri" pitchFamily="34" charset="-120"/>
              </a:rPr>
              <a:t>ExoBoot pilot</a:t>
            </a:r>
            <a:endParaRPr lang="en-US" sz="2400" dirty="0"/>
          </a:p>
        </p:txBody>
      </p:sp>
      <p:sp>
        <p:nvSpPr>
          <p:cNvPr id="28" name="Text 23"/>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200" dirty="0">
                <a:solidFill>
                  <a:srgbClr val="5B6472"/>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548640"/>
            <a:ext cx="11091672" cy="731520"/>
          </a:xfrm>
          <a:prstGeom prst="rect">
            <a:avLst/>
          </a:prstGeom>
          <a:noFill/>
          <a:ln/>
        </p:spPr>
        <p:txBody>
          <a:bodyPr wrap="square" lIns="0" tIns="0" rIns="0" bIns="0" rtlCol="0" anchor="t"/>
          <a:lstStyle/>
          <a:p>
            <a:pPr indent="0" marL="0">
              <a:buNone/>
            </a:pPr>
            <a:r>
              <a:rPr lang="en-US" sz="3800" b="1" dirty="0">
                <a:solidFill>
                  <a:srgbClr val="1A1F2B"/>
                </a:solidFill>
                <a:latin typeface="Arial" pitchFamily="34" charset="0"/>
                <a:ea typeface="Arial" pitchFamily="34" charset="-122"/>
                <a:cs typeface="Arial" pitchFamily="34" charset="-120"/>
              </a:rPr>
              <a:t>One walk, recorded by every system</a:t>
            </a:r>
            <a:endParaRPr lang="en-US" sz="3800" dirty="0"/>
          </a:p>
        </p:txBody>
      </p:sp>
      <p:sp>
        <p:nvSpPr>
          <p:cNvPr id="3" name="Shape 1"/>
          <p:cNvSpPr/>
          <p:nvPr/>
        </p:nvSpPr>
        <p:spPr>
          <a:xfrm>
            <a:off x="548640" y="1554480"/>
            <a:ext cx="6885432" cy="4754880"/>
          </a:xfrm>
          <a:prstGeom prst="roundRect">
            <a:avLst>
              <a:gd name="adj" fmla="val 1538"/>
            </a:avLst>
          </a:prstGeom>
          <a:solidFill>
            <a:srgbClr val="F1F3F6"/>
          </a:solidFill>
          <a:ln w="12700">
            <a:solidFill>
              <a:srgbClr val="F1F3F6"/>
            </a:solidFill>
            <a:prstDash val="solid"/>
          </a:ln>
        </p:spPr>
      </p:sp>
      <p:sp>
        <p:nvSpPr>
          <p:cNvPr id="4" name="Shape 2"/>
          <p:cNvSpPr/>
          <p:nvPr/>
        </p:nvSpPr>
        <p:spPr>
          <a:xfrm>
            <a:off x="1371600" y="2148840"/>
            <a:ext cx="2619756" cy="1897380"/>
          </a:xfrm>
          <a:prstGeom prst="line">
            <a:avLst/>
          </a:prstGeom>
          <a:noFill/>
          <a:ln w="15875">
            <a:solidFill>
              <a:srgbClr val="BF5700"/>
            </a:solidFill>
            <a:prstDash val="dash"/>
          </a:ln>
        </p:spPr>
      </p:sp>
      <p:sp>
        <p:nvSpPr>
          <p:cNvPr id="5" name="Shape 3"/>
          <p:cNvSpPr/>
          <p:nvPr/>
        </p:nvSpPr>
        <p:spPr>
          <a:xfrm flipV="1">
            <a:off x="3991356" y="2148840"/>
            <a:ext cx="2619756" cy="1897380"/>
          </a:xfrm>
          <a:prstGeom prst="line">
            <a:avLst/>
          </a:prstGeom>
          <a:noFill/>
          <a:ln w="15875">
            <a:solidFill>
              <a:srgbClr val="BF5700"/>
            </a:solidFill>
            <a:prstDash val="dash"/>
          </a:ln>
        </p:spPr>
      </p:sp>
      <p:sp>
        <p:nvSpPr>
          <p:cNvPr id="6" name="Shape 4"/>
          <p:cNvSpPr/>
          <p:nvPr/>
        </p:nvSpPr>
        <p:spPr>
          <a:xfrm>
            <a:off x="1371600" y="4046220"/>
            <a:ext cx="2619756" cy="914"/>
          </a:xfrm>
          <a:prstGeom prst="line">
            <a:avLst/>
          </a:prstGeom>
          <a:noFill/>
          <a:ln w="15875">
            <a:solidFill>
              <a:srgbClr val="3C6E91"/>
            </a:solidFill>
            <a:prstDash val="dash"/>
          </a:ln>
        </p:spPr>
      </p:sp>
      <p:sp>
        <p:nvSpPr>
          <p:cNvPr id="7" name="Shape 5"/>
          <p:cNvSpPr/>
          <p:nvPr/>
        </p:nvSpPr>
        <p:spPr>
          <a:xfrm>
            <a:off x="3991356" y="4046220"/>
            <a:ext cx="2619756" cy="914"/>
          </a:xfrm>
          <a:prstGeom prst="line">
            <a:avLst/>
          </a:prstGeom>
          <a:noFill/>
          <a:ln w="15875">
            <a:solidFill>
              <a:srgbClr val="3C6E91"/>
            </a:solidFill>
            <a:prstDash val="dash"/>
          </a:ln>
        </p:spPr>
      </p:sp>
      <p:sp>
        <p:nvSpPr>
          <p:cNvPr id="8" name="Shape 6"/>
          <p:cNvSpPr/>
          <p:nvPr/>
        </p:nvSpPr>
        <p:spPr>
          <a:xfrm>
            <a:off x="3305556" y="3108960"/>
            <a:ext cx="1371600" cy="1874520"/>
          </a:xfrm>
          <a:prstGeom prst="roundRect">
            <a:avLst>
              <a:gd name="adj" fmla="val 6667"/>
            </a:avLst>
          </a:prstGeom>
          <a:solidFill>
            <a:srgbClr val="FFFFFF"/>
          </a:solidFill>
          <a:ln w="19050">
            <a:solidFill>
              <a:srgbClr val="5B6472"/>
            </a:solidFill>
            <a:prstDash val="solid"/>
          </a:ln>
        </p:spPr>
      </p:sp>
      <p:sp>
        <p:nvSpPr>
          <p:cNvPr id="9" name="Shape 7"/>
          <p:cNvSpPr/>
          <p:nvPr/>
        </p:nvSpPr>
        <p:spPr>
          <a:xfrm>
            <a:off x="3671316" y="3726180"/>
            <a:ext cx="640080" cy="640080"/>
          </a:xfrm>
          <a:prstGeom prst="ellipse">
            <a:avLst/>
          </a:prstGeom>
          <a:solidFill>
            <a:srgbClr val="1A1F2B"/>
          </a:solidFill>
          <a:ln w="12700">
            <a:solidFill>
              <a:srgbClr val="1A1F2B"/>
            </a:solidFill>
            <a:prstDash val="solid"/>
          </a:ln>
        </p:spPr>
      </p:sp>
      <p:pic>
        <p:nvPicPr>
          <p:cNvPr id="10" name="Image 0" descr="preencoded.png">    </p:cNvPr>
          <p:cNvPicPr>
            <a:picLocks noChangeAspect="1"/>
          </p:cNvPicPr>
          <p:nvPr/>
        </p:nvPicPr>
        <p:blipFill>
          <a:blip r:embed="rId1"/>
          <a:stretch>
            <a:fillRect/>
          </a:stretch>
        </p:blipFill>
        <p:spPr>
          <a:xfrm>
            <a:off x="3831336" y="3886200"/>
            <a:ext cx="320040" cy="320040"/>
          </a:xfrm>
          <a:prstGeom prst="rect">
            <a:avLst/>
          </a:prstGeom>
        </p:spPr>
      </p:pic>
      <p:sp>
        <p:nvSpPr>
          <p:cNvPr id="11" name="Text 8"/>
          <p:cNvSpPr txBox="1"/>
          <p:nvPr/>
        </p:nvSpPr>
        <p:spPr>
          <a:xfrm>
            <a:off x="2162556" y="5120640"/>
            <a:ext cx="3657600" cy="411480"/>
          </a:xfrm>
          <a:prstGeom prst="rect">
            <a:avLst/>
          </a:prstGeom>
          <a:noFill/>
          <a:ln/>
        </p:spPr>
        <p:txBody>
          <a:bodyPr wrap="square" lIns="0" tIns="0" rIns="0" bIns="0" rtlCol="0" anchor="t"/>
          <a:lstStyle/>
          <a:p>
            <a:pPr algn="ctr" indent="0" marL="0">
              <a:buNone/>
            </a:pPr>
            <a:r>
              <a:rPr lang="en-US" sz="2400" b="1" dirty="0">
                <a:solidFill>
                  <a:srgbClr val="1A1F2B"/>
                </a:solidFill>
                <a:latin typeface="Calibri" pitchFamily="34" charset="0"/>
                <a:ea typeface="Calibri" pitchFamily="34" charset="-122"/>
                <a:cs typeface="Calibri" pitchFamily="34" charset="-120"/>
              </a:rPr>
              <a:t>Bertec treadmill</a:t>
            </a:r>
            <a:endParaRPr lang="en-US" sz="2400" dirty="0"/>
          </a:p>
        </p:txBody>
      </p:sp>
      <p:sp>
        <p:nvSpPr>
          <p:cNvPr id="12" name="Text 9"/>
          <p:cNvSpPr txBox="1"/>
          <p:nvPr/>
        </p:nvSpPr>
        <p:spPr>
          <a:xfrm>
            <a:off x="2162556" y="5532120"/>
            <a:ext cx="3657600" cy="411480"/>
          </a:xfrm>
          <a:prstGeom prst="rect">
            <a:avLst/>
          </a:prstGeom>
          <a:noFill/>
          <a:ln/>
        </p:spPr>
        <p:txBody>
          <a:bodyPr wrap="square" lIns="0" tIns="0" rIns="0" bIns="0" rtlCol="0" anchor="t"/>
          <a:lstStyle/>
          <a:p>
            <a:pPr algn="ctr" indent="0" marL="0">
              <a:buNone/>
            </a:pPr>
            <a:r>
              <a:rPr lang="en-US" sz="2400" dirty="0">
                <a:solidFill>
                  <a:srgbClr val="5B6472"/>
                </a:solidFill>
                <a:latin typeface="Calibri" pitchFamily="34" charset="0"/>
                <a:ea typeface="Calibri" pitchFamily="34" charset="-122"/>
                <a:cs typeface="Calibri" pitchFamily="34" charset="-120"/>
              </a:rPr>
              <a:t>records forces</a:t>
            </a:r>
            <a:endParaRPr lang="en-US" sz="2400" dirty="0"/>
          </a:p>
        </p:txBody>
      </p:sp>
      <p:sp>
        <p:nvSpPr>
          <p:cNvPr id="13" name="Shape 10"/>
          <p:cNvSpPr/>
          <p:nvPr/>
        </p:nvSpPr>
        <p:spPr>
          <a:xfrm>
            <a:off x="1051560" y="1828800"/>
            <a:ext cx="640080" cy="640080"/>
          </a:xfrm>
          <a:prstGeom prst="ellipse">
            <a:avLst/>
          </a:prstGeom>
          <a:solidFill>
            <a:srgbClr val="BF5700"/>
          </a:solidFill>
          <a:ln w="12700">
            <a:solidFill>
              <a:srgbClr val="BF5700"/>
            </a:solidFill>
            <a:prstDash val="solid"/>
          </a:ln>
        </p:spPr>
      </p:sp>
      <p:pic>
        <p:nvPicPr>
          <p:cNvPr id="14" name="Image 1" descr="preencoded.png">    </p:cNvPr>
          <p:cNvPicPr>
            <a:picLocks noChangeAspect="1"/>
          </p:cNvPicPr>
          <p:nvPr/>
        </p:nvPicPr>
        <p:blipFill>
          <a:blip r:embed="rId2"/>
          <a:stretch>
            <a:fillRect/>
          </a:stretch>
        </p:blipFill>
        <p:spPr>
          <a:xfrm>
            <a:off x="1211580" y="1988820"/>
            <a:ext cx="320040" cy="320040"/>
          </a:xfrm>
          <a:prstGeom prst="rect">
            <a:avLst/>
          </a:prstGeom>
        </p:spPr>
      </p:pic>
      <p:sp>
        <p:nvSpPr>
          <p:cNvPr id="15" name="Text 11"/>
          <p:cNvSpPr txBox="1"/>
          <p:nvPr/>
        </p:nvSpPr>
        <p:spPr>
          <a:xfrm>
            <a:off x="685800" y="2560320"/>
            <a:ext cx="1371600" cy="411480"/>
          </a:xfrm>
          <a:prstGeom prst="rect">
            <a:avLst/>
          </a:prstGeom>
          <a:noFill/>
          <a:ln/>
        </p:spPr>
        <p:txBody>
          <a:bodyPr wrap="square" lIns="0" tIns="0" rIns="0" bIns="0" rtlCol="0" anchor="t"/>
          <a:lstStyle/>
          <a:p>
            <a:pPr algn="ctr" indent="0" marL="0">
              <a:buNone/>
            </a:pPr>
            <a:r>
              <a:rPr lang="en-US" sz="2400" b="1" dirty="0">
                <a:solidFill>
                  <a:srgbClr val="BF5700"/>
                </a:solidFill>
                <a:latin typeface="Calibri" pitchFamily="34" charset="0"/>
                <a:ea typeface="Calibri" pitchFamily="34" charset="-122"/>
                <a:cs typeface="Calibri" pitchFamily="34" charset="-120"/>
              </a:rPr>
              <a:t>iPhone</a:t>
            </a:r>
            <a:endParaRPr lang="en-US" sz="2400" dirty="0"/>
          </a:p>
        </p:txBody>
      </p:sp>
      <p:sp>
        <p:nvSpPr>
          <p:cNvPr id="16" name="Shape 12"/>
          <p:cNvSpPr/>
          <p:nvPr/>
        </p:nvSpPr>
        <p:spPr>
          <a:xfrm>
            <a:off x="6291072" y="1828800"/>
            <a:ext cx="640080" cy="640080"/>
          </a:xfrm>
          <a:prstGeom prst="ellipse">
            <a:avLst/>
          </a:prstGeom>
          <a:solidFill>
            <a:srgbClr val="BF5700"/>
          </a:solidFill>
          <a:ln w="12700">
            <a:solidFill>
              <a:srgbClr val="BF5700"/>
            </a:solidFill>
            <a:prstDash val="solid"/>
          </a:ln>
        </p:spPr>
      </p:sp>
      <p:pic>
        <p:nvPicPr>
          <p:cNvPr id="17" name="Image 2" descr="preencoded.png">    </p:cNvPr>
          <p:cNvPicPr>
            <a:picLocks noChangeAspect="1"/>
          </p:cNvPicPr>
          <p:nvPr/>
        </p:nvPicPr>
        <p:blipFill>
          <a:blip r:embed="rId3"/>
          <a:stretch>
            <a:fillRect/>
          </a:stretch>
        </p:blipFill>
        <p:spPr>
          <a:xfrm>
            <a:off x="6451092" y="1988820"/>
            <a:ext cx="320040" cy="320040"/>
          </a:xfrm>
          <a:prstGeom prst="rect">
            <a:avLst/>
          </a:prstGeom>
        </p:spPr>
      </p:pic>
      <p:sp>
        <p:nvSpPr>
          <p:cNvPr id="18" name="Text 13"/>
          <p:cNvSpPr txBox="1"/>
          <p:nvPr/>
        </p:nvSpPr>
        <p:spPr>
          <a:xfrm>
            <a:off x="5925312" y="2560320"/>
            <a:ext cx="1371600" cy="411480"/>
          </a:xfrm>
          <a:prstGeom prst="rect">
            <a:avLst/>
          </a:prstGeom>
          <a:noFill/>
          <a:ln/>
        </p:spPr>
        <p:txBody>
          <a:bodyPr wrap="square" lIns="0" tIns="0" rIns="0" bIns="0" rtlCol="0" anchor="t"/>
          <a:lstStyle/>
          <a:p>
            <a:pPr algn="ctr" indent="0" marL="0">
              <a:buNone/>
            </a:pPr>
            <a:r>
              <a:rPr lang="en-US" sz="2400" b="1" dirty="0">
                <a:solidFill>
                  <a:srgbClr val="BF5700"/>
                </a:solidFill>
                <a:latin typeface="Calibri" pitchFamily="34" charset="0"/>
                <a:ea typeface="Calibri" pitchFamily="34" charset="-122"/>
                <a:cs typeface="Calibri" pitchFamily="34" charset="-120"/>
              </a:rPr>
              <a:t>iPhone</a:t>
            </a:r>
            <a:endParaRPr lang="en-US" sz="2400" dirty="0"/>
          </a:p>
        </p:txBody>
      </p:sp>
      <p:sp>
        <p:nvSpPr>
          <p:cNvPr id="19" name="Shape 14"/>
          <p:cNvSpPr/>
          <p:nvPr/>
        </p:nvSpPr>
        <p:spPr>
          <a:xfrm>
            <a:off x="3671316" y="1828800"/>
            <a:ext cx="640080" cy="640080"/>
          </a:xfrm>
          <a:prstGeom prst="ellipse">
            <a:avLst/>
          </a:prstGeom>
          <a:solidFill>
            <a:srgbClr val="BF5700"/>
          </a:solidFill>
          <a:ln w="12700">
            <a:solidFill>
              <a:srgbClr val="BF5700"/>
            </a:solidFill>
            <a:prstDash val="solid"/>
          </a:ln>
        </p:spPr>
      </p:sp>
      <p:pic>
        <p:nvPicPr>
          <p:cNvPr id="20" name="Image 3" descr="preencoded.png">    </p:cNvPr>
          <p:cNvPicPr>
            <a:picLocks noChangeAspect="1"/>
          </p:cNvPicPr>
          <p:nvPr/>
        </p:nvPicPr>
        <p:blipFill>
          <a:blip r:embed="rId4"/>
          <a:stretch>
            <a:fillRect/>
          </a:stretch>
        </p:blipFill>
        <p:spPr>
          <a:xfrm>
            <a:off x="3831336" y="1988820"/>
            <a:ext cx="320040" cy="320040"/>
          </a:xfrm>
          <a:prstGeom prst="rect">
            <a:avLst/>
          </a:prstGeom>
        </p:spPr>
      </p:pic>
      <p:sp>
        <p:nvSpPr>
          <p:cNvPr id="21" name="Text 15"/>
          <p:cNvSpPr txBox="1"/>
          <p:nvPr/>
        </p:nvSpPr>
        <p:spPr>
          <a:xfrm>
            <a:off x="2802636" y="2560320"/>
            <a:ext cx="2377440" cy="411480"/>
          </a:xfrm>
          <a:prstGeom prst="rect">
            <a:avLst/>
          </a:prstGeom>
          <a:noFill/>
          <a:ln/>
        </p:spPr>
        <p:txBody>
          <a:bodyPr wrap="square" lIns="0" tIns="0" rIns="0" bIns="0" rtlCol="0" anchor="t"/>
          <a:lstStyle/>
          <a:p>
            <a:pPr algn="ctr" indent="0" marL="0">
              <a:buNone/>
            </a:pPr>
            <a:r>
              <a:rPr lang="en-US" sz="2400" b="1" dirty="0">
                <a:solidFill>
                  <a:srgbClr val="BF5700"/>
                </a:solidFill>
                <a:latin typeface="Calibri" pitchFamily="34" charset="0"/>
                <a:ea typeface="Calibri" pitchFamily="34" charset="-122"/>
                <a:cs typeface="Calibri" pitchFamily="34" charset="-120"/>
              </a:rPr>
              <a:t>Checkerboard</a:t>
            </a:r>
            <a:endParaRPr lang="en-US" sz="2400" dirty="0"/>
          </a:p>
        </p:txBody>
      </p:sp>
      <p:sp>
        <p:nvSpPr>
          <p:cNvPr id="22" name="Shape 16"/>
          <p:cNvSpPr/>
          <p:nvPr/>
        </p:nvSpPr>
        <p:spPr>
          <a:xfrm>
            <a:off x="1051560" y="3726180"/>
            <a:ext cx="640080" cy="640080"/>
          </a:xfrm>
          <a:prstGeom prst="ellipse">
            <a:avLst/>
          </a:prstGeom>
          <a:solidFill>
            <a:srgbClr val="3C6E91"/>
          </a:solidFill>
          <a:ln w="12700">
            <a:solidFill>
              <a:srgbClr val="3C6E91"/>
            </a:solidFill>
            <a:prstDash val="solid"/>
          </a:ln>
        </p:spPr>
      </p:sp>
      <p:pic>
        <p:nvPicPr>
          <p:cNvPr id="23" name="Image 4" descr="preencoded.png">    </p:cNvPr>
          <p:cNvPicPr>
            <a:picLocks noChangeAspect="1"/>
          </p:cNvPicPr>
          <p:nvPr/>
        </p:nvPicPr>
        <p:blipFill>
          <a:blip r:embed="rId5"/>
          <a:stretch>
            <a:fillRect/>
          </a:stretch>
        </p:blipFill>
        <p:spPr>
          <a:xfrm>
            <a:off x="1211580" y="3886200"/>
            <a:ext cx="320040" cy="320040"/>
          </a:xfrm>
          <a:prstGeom prst="rect">
            <a:avLst/>
          </a:prstGeom>
        </p:spPr>
      </p:pic>
      <p:sp>
        <p:nvSpPr>
          <p:cNvPr id="24" name="Text 17"/>
          <p:cNvSpPr txBox="1"/>
          <p:nvPr/>
        </p:nvSpPr>
        <p:spPr>
          <a:xfrm>
            <a:off x="685800" y="4457700"/>
            <a:ext cx="1371600" cy="411480"/>
          </a:xfrm>
          <a:prstGeom prst="rect">
            <a:avLst/>
          </a:prstGeom>
          <a:noFill/>
          <a:ln/>
        </p:spPr>
        <p:txBody>
          <a:bodyPr wrap="square" lIns="0" tIns="0" rIns="0" bIns="0" rtlCol="0" anchor="t"/>
          <a:lstStyle/>
          <a:p>
            <a:pPr algn="ctr" indent="0" marL="0">
              <a:buNone/>
            </a:pPr>
            <a:r>
              <a:rPr lang="en-US" sz="2400" b="1" dirty="0">
                <a:solidFill>
                  <a:srgbClr val="3C6E91"/>
                </a:solidFill>
                <a:latin typeface="Calibri" pitchFamily="34" charset="0"/>
                <a:ea typeface="Calibri" pitchFamily="34" charset="-122"/>
                <a:cs typeface="Calibri" pitchFamily="34" charset="-120"/>
              </a:rPr>
              <a:t>Theia3D</a:t>
            </a:r>
            <a:endParaRPr lang="en-US" sz="2400" dirty="0"/>
          </a:p>
        </p:txBody>
      </p:sp>
      <p:sp>
        <p:nvSpPr>
          <p:cNvPr id="25" name="Shape 18"/>
          <p:cNvSpPr/>
          <p:nvPr/>
        </p:nvSpPr>
        <p:spPr>
          <a:xfrm>
            <a:off x="6291072" y="3726180"/>
            <a:ext cx="640080" cy="640080"/>
          </a:xfrm>
          <a:prstGeom prst="ellipse">
            <a:avLst/>
          </a:prstGeom>
          <a:solidFill>
            <a:srgbClr val="3C6E91"/>
          </a:solidFill>
          <a:ln w="12700">
            <a:solidFill>
              <a:srgbClr val="3C6E91"/>
            </a:solidFill>
            <a:prstDash val="solid"/>
          </a:ln>
        </p:spPr>
      </p:sp>
      <p:pic>
        <p:nvPicPr>
          <p:cNvPr id="26" name="Image 5" descr="preencoded.png">    </p:cNvPr>
          <p:cNvPicPr>
            <a:picLocks noChangeAspect="1"/>
          </p:cNvPicPr>
          <p:nvPr/>
        </p:nvPicPr>
        <p:blipFill>
          <a:blip r:embed="rId6"/>
          <a:stretch>
            <a:fillRect/>
          </a:stretch>
        </p:blipFill>
        <p:spPr>
          <a:xfrm>
            <a:off x="6451092" y="3886200"/>
            <a:ext cx="320040" cy="320040"/>
          </a:xfrm>
          <a:prstGeom prst="rect">
            <a:avLst/>
          </a:prstGeom>
        </p:spPr>
      </p:pic>
      <p:sp>
        <p:nvSpPr>
          <p:cNvPr id="27" name="Text 19"/>
          <p:cNvSpPr txBox="1"/>
          <p:nvPr/>
        </p:nvSpPr>
        <p:spPr>
          <a:xfrm>
            <a:off x="5925312" y="4457700"/>
            <a:ext cx="1371600" cy="411480"/>
          </a:xfrm>
          <a:prstGeom prst="rect">
            <a:avLst/>
          </a:prstGeom>
          <a:noFill/>
          <a:ln/>
        </p:spPr>
        <p:txBody>
          <a:bodyPr wrap="square" lIns="0" tIns="0" rIns="0" bIns="0" rtlCol="0" anchor="t"/>
          <a:lstStyle/>
          <a:p>
            <a:pPr algn="ctr" indent="0" marL="0">
              <a:buNone/>
            </a:pPr>
            <a:r>
              <a:rPr lang="en-US" sz="2400" b="1" dirty="0">
                <a:solidFill>
                  <a:srgbClr val="3C6E91"/>
                </a:solidFill>
                <a:latin typeface="Calibri" pitchFamily="34" charset="0"/>
                <a:ea typeface="Calibri" pitchFamily="34" charset="-122"/>
                <a:cs typeface="Calibri" pitchFamily="34" charset="-120"/>
              </a:rPr>
              <a:t>Theia3D</a:t>
            </a:r>
            <a:endParaRPr lang="en-US" sz="2400" dirty="0"/>
          </a:p>
        </p:txBody>
      </p:sp>
      <p:sp>
        <p:nvSpPr>
          <p:cNvPr id="28" name="Shape 20"/>
          <p:cNvSpPr/>
          <p:nvPr/>
        </p:nvSpPr>
        <p:spPr>
          <a:xfrm>
            <a:off x="7708392" y="1554480"/>
            <a:ext cx="3931920" cy="4754880"/>
          </a:xfrm>
          <a:prstGeom prst="roundRect">
            <a:avLst>
              <a:gd name="adj" fmla="val 1860"/>
            </a:avLst>
          </a:prstGeom>
          <a:solidFill>
            <a:srgbClr val="1A1F2B"/>
          </a:solidFill>
          <a:ln w="12700">
            <a:solidFill>
              <a:srgbClr val="1A1F2B"/>
            </a:solidFill>
            <a:prstDash val="solid"/>
          </a:ln>
        </p:spPr>
      </p:sp>
      <p:sp>
        <p:nvSpPr>
          <p:cNvPr id="29" name="Text 21"/>
          <p:cNvSpPr txBox="1"/>
          <p:nvPr/>
        </p:nvSpPr>
        <p:spPr>
          <a:xfrm>
            <a:off x="7982712" y="1828800"/>
            <a:ext cx="3383280" cy="365760"/>
          </a:xfrm>
          <a:prstGeom prst="rect">
            <a:avLst/>
          </a:prstGeom>
          <a:noFill/>
          <a:ln/>
        </p:spPr>
        <p:txBody>
          <a:bodyPr wrap="square" lIns="0" tIns="0" rIns="0" bIns="0" rtlCol="0" anchor="t"/>
          <a:lstStyle/>
          <a:p>
            <a:pPr indent="0" marL="0">
              <a:buNone/>
            </a:pPr>
            <a:r>
              <a:rPr lang="en-US" sz="1800" b="1" spc="200" kern="0" dirty="0">
                <a:solidFill>
                  <a:srgbClr val="BF5700"/>
                </a:solidFill>
                <a:latin typeface="Calibri" pitchFamily="34" charset="0"/>
                <a:ea typeface="Calibri" pitchFamily="34" charset="-122"/>
                <a:cs typeface="Calibri" pitchFamily="34" charset="-120"/>
              </a:rPr>
              <a:t>WE COMPARE</a:t>
            </a:r>
            <a:endParaRPr lang="en-US" sz="1800" dirty="0"/>
          </a:p>
        </p:txBody>
      </p:sp>
      <p:sp>
        <p:nvSpPr>
          <p:cNvPr id="30" name="Text 22"/>
          <p:cNvSpPr txBox="1"/>
          <p:nvPr/>
        </p:nvSpPr>
        <p:spPr>
          <a:xfrm>
            <a:off x="7982712" y="2377440"/>
            <a:ext cx="3383280" cy="3657600"/>
          </a:xfrm>
          <a:prstGeom prst="rect">
            <a:avLst/>
          </a:prstGeom>
          <a:noFill/>
          <a:ln/>
        </p:spPr>
        <p:txBody>
          <a:bodyPr wrap="square" lIns="0" tIns="0" rIns="0" bIns="0" rtlCol="0" anchor="t"/>
          <a:lstStyle/>
          <a:p>
            <a:pPr marL="203200" indent="-203200">
              <a:spcAft>
                <a:spcPts val="1400"/>
              </a:spcAft>
              <a:buSzPct val="100000"/>
              <a:buChar char="•"/>
            </a:pPr>
            <a:r>
              <a:rPr lang="en-US" sz="2400" dirty="0">
                <a:solidFill>
                  <a:srgbClr val="FFFFFF"/>
                </a:solidFill>
                <a:latin typeface="Calibri" pitchFamily="34" charset="0"/>
                <a:ea typeface="Calibri" pitchFamily="34" charset="-122"/>
                <a:cs typeface="Calibri" pitchFamily="34" charset="-120"/>
              </a:rPr>
              <a:t>Joint angles (Aim 1)</a:t>
            </a:r>
            <a:endParaRPr lang="en-US" sz="2400" dirty="0"/>
          </a:p>
          <a:p>
            <a:pPr marL="203200" indent="-203200">
              <a:spcAft>
                <a:spcPts val="1400"/>
              </a:spcAft>
              <a:buSzPct val="100000"/>
              <a:buChar char="•"/>
            </a:pPr>
            <a:r>
              <a:rPr lang="en-US" sz="2400" dirty="0">
                <a:solidFill>
                  <a:srgbClr val="FFFFFF"/>
                </a:solidFill>
                <a:latin typeface="Calibri" pitchFamily="34" charset="0"/>
                <a:ea typeface="Calibri" pitchFamily="34" charset="-122"/>
                <a:cs typeface="Calibri" pitchFamily="34" charset="-120"/>
              </a:rPr>
              <a:t>Joint moments (Aim 2)</a:t>
            </a:r>
            <a:endParaRPr lang="en-US" sz="2400" dirty="0"/>
          </a:p>
          <a:p>
            <a:pPr marL="203200" indent="-203200">
              <a:spcAft>
                <a:spcPts val="1400"/>
              </a:spcAft>
              <a:buSzPct val="100000"/>
              <a:buChar char="•"/>
            </a:pPr>
            <a:r>
              <a:rPr lang="en-US" sz="2400" dirty="0">
                <a:solidFill>
                  <a:srgbClr val="FFFFFF"/>
                </a:solidFill>
                <a:latin typeface="Calibri" pitchFamily="34" charset="0"/>
                <a:ea typeface="Calibri" pitchFamily="34" charset="-122"/>
                <a:cs typeface="Calibri" pitchFamily="34" charset="-120"/>
              </a:rPr>
              <a:t>Synced by a stomp</a:t>
            </a:r>
            <a:endParaRPr lang="en-US" sz="2400" dirty="0"/>
          </a:p>
          <a:p>
            <a:pPr marL="203200" indent="-203200">
              <a:spcAft>
                <a:spcPts val="1400"/>
              </a:spcAft>
              <a:buSzPct val="100000"/>
              <a:buChar char="•"/>
            </a:pPr>
            <a:r>
              <a:rPr lang="en-US" sz="2400" dirty="0">
                <a:solidFill>
                  <a:srgbClr val="FFFFFF"/>
                </a:solidFill>
                <a:latin typeface="Calibri" pitchFamily="34" charset="0"/>
                <a:ea typeface="Calibri" pitchFamily="34" charset="-122"/>
                <a:cs typeface="Calibri" pitchFamily="34" charset="-120"/>
              </a:rPr>
              <a:t>OpenCap vs. Theia3D, plus PBL if it runs</a:t>
            </a:r>
            <a:endParaRPr lang="en-US" sz="2400" dirty="0"/>
          </a:p>
        </p:txBody>
      </p:sp>
      <p:sp>
        <p:nvSpPr>
          <p:cNvPr id="31" name="Text 23"/>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200" dirty="0">
                <a:solidFill>
                  <a:srgbClr val="5B6472"/>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548640"/>
            <a:ext cx="11091672" cy="731520"/>
          </a:xfrm>
          <a:prstGeom prst="rect">
            <a:avLst/>
          </a:prstGeom>
          <a:noFill/>
          <a:ln/>
        </p:spPr>
        <p:txBody>
          <a:bodyPr wrap="square" lIns="0" tIns="0" rIns="0" bIns="0" rtlCol="0" anchor="t"/>
          <a:lstStyle/>
          <a:p>
            <a:pPr indent="0" marL="0">
              <a:buNone/>
            </a:pPr>
            <a:r>
              <a:rPr lang="en-US" sz="3800" b="1" dirty="0">
                <a:solidFill>
                  <a:srgbClr val="1A1F2B"/>
                </a:solidFill>
                <a:latin typeface="Arial" pitchFamily="34" charset="0"/>
                <a:ea typeface="Arial" pitchFamily="34" charset="-122"/>
                <a:cs typeface="Arial" pitchFamily="34" charset="-120"/>
              </a:rPr>
              <a:t>OpenCap works; OpenSim is next</a:t>
            </a:r>
            <a:endParaRPr lang="en-US" sz="3800" dirty="0"/>
          </a:p>
        </p:txBody>
      </p:sp>
      <p:sp>
        <p:nvSpPr>
          <p:cNvPr id="3" name="Shape 1"/>
          <p:cNvSpPr/>
          <p:nvPr/>
        </p:nvSpPr>
        <p:spPr>
          <a:xfrm>
            <a:off x="548640" y="1554480"/>
            <a:ext cx="3514344" cy="2560320"/>
          </a:xfrm>
          <a:prstGeom prst="roundRect">
            <a:avLst>
              <a:gd name="adj" fmla="val 2857"/>
            </a:avLst>
          </a:prstGeom>
          <a:solidFill>
            <a:srgbClr val="F1F3F6"/>
          </a:solidFill>
          <a:ln w="12700">
            <a:solidFill>
              <a:srgbClr val="5B6472"/>
            </a:solidFill>
            <a:prstDash val="dash"/>
          </a:ln>
        </p:spPr>
      </p:sp>
      <p:sp>
        <p:nvSpPr>
          <p:cNvPr id="4" name="Text 2"/>
          <p:cNvSpPr txBox="1"/>
          <p:nvPr/>
        </p:nvSpPr>
        <p:spPr>
          <a:xfrm>
            <a:off x="822960" y="1554480"/>
            <a:ext cx="2965704" cy="2560320"/>
          </a:xfrm>
          <a:prstGeom prst="rect">
            <a:avLst/>
          </a:prstGeom>
          <a:noFill/>
          <a:ln/>
        </p:spPr>
        <p:txBody>
          <a:bodyPr wrap="square" lIns="0" tIns="0" rIns="0" bIns="0" rtlCol="0" anchor="ctr"/>
          <a:lstStyle/>
          <a:p>
            <a:pPr algn="ctr" indent="0" marL="0">
              <a:buNone/>
            </a:pPr>
            <a:r>
              <a:rPr lang="en-US" sz="2400" dirty="0">
                <a:solidFill>
                  <a:srgbClr val="5B6472"/>
                </a:solidFill>
                <a:latin typeface="Calibri" pitchFamily="34" charset="0"/>
                <a:ea typeface="Calibri" pitchFamily="34" charset="-122"/>
                <a:cs typeface="Calibri" pitchFamily="34" charset="-120"/>
              </a:rPr>
              <a:t>Add OpenCap video</a:t>
            </a:r>
            <a:endParaRPr lang="en-US" sz="2400" dirty="0"/>
          </a:p>
        </p:txBody>
      </p:sp>
      <p:sp>
        <p:nvSpPr>
          <p:cNvPr id="5" name="Shape 3"/>
          <p:cNvSpPr/>
          <p:nvPr/>
        </p:nvSpPr>
        <p:spPr>
          <a:xfrm>
            <a:off x="548640" y="4389120"/>
            <a:ext cx="502920" cy="502920"/>
          </a:xfrm>
          <a:prstGeom prst="ellipse">
            <a:avLst/>
          </a:prstGeom>
          <a:solidFill>
            <a:srgbClr val="3B7D4F"/>
          </a:solidFill>
          <a:ln w="12700">
            <a:solidFill>
              <a:srgbClr val="3B7D4F"/>
            </a:solidFill>
            <a:prstDash val="solid"/>
          </a:ln>
        </p:spPr>
      </p:sp>
      <p:pic>
        <p:nvPicPr>
          <p:cNvPr id="6" name="Image 0" descr="preencoded.png">    </p:cNvPr>
          <p:cNvPicPr>
            <a:picLocks noChangeAspect="1"/>
          </p:cNvPicPr>
          <p:nvPr/>
        </p:nvPicPr>
        <p:blipFill>
          <a:blip r:embed="rId1"/>
          <a:stretch>
            <a:fillRect/>
          </a:stretch>
        </p:blipFill>
        <p:spPr>
          <a:xfrm>
            <a:off x="676656" y="4517136"/>
            <a:ext cx="246888" cy="246888"/>
          </a:xfrm>
          <a:prstGeom prst="rect">
            <a:avLst/>
          </a:prstGeom>
        </p:spPr>
      </p:pic>
      <p:sp>
        <p:nvSpPr>
          <p:cNvPr id="7" name="Text 4"/>
          <p:cNvSpPr txBox="1"/>
          <p:nvPr/>
        </p:nvSpPr>
        <p:spPr>
          <a:xfrm>
            <a:off x="1234440" y="4389120"/>
            <a:ext cx="2828544" cy="502920"/>
          </a:xfrm>
          <a:prstGeom prst="rect">
            <a:avLst/>
          </a:prstGeom>
          <a:noFill/>
          <a:ln/>
        </p:spPr>
        <p:txBody>
          <a:bodyPr wrap="square" lIns="0" tIns="0" rIns="0" bIns="0" rtlCol="0" anchor="ctr"/>
          <a:lstStyle/>
          <a:p>
            <a:pPr indent="0" marL="0">
              <a:buNone/>
            </a:pPr>
            <a:r>
              <a:rPr lang="en-US" sz="2600" b="1" dirty="0">
                <a:solidFill>
                  <a:srgbClr val="1A1F2B"/>
                </a:solidFill>
                <a:latin typeface="Arial" pitchFamily="34" charset="0"/>
                <a:ea typeface="Arial" pitchFamily="34" charset="-122"/>
                <a:cs typeface="Arial" pitchFamily="34" charset="-120"/>
              </a:rPr>
              <a:t>OpenCap</a:t>
            </a:r>
            <a:endParaRPr lang="en-US" sz="2600" dirty="0"/>
          </a:p>
        </p:txBody>
      </p:sp>
      <p:sp>
        <p:nvSpPr>
          <p:cNvPr id="8" name="Text 5"/>
          <p:cNvSpPr txBox="1"/>
          <p:nvPr/>
        </p:nvSpPr>
        <p:spPr>
          <a:xfrm>
            <a:off x="548640" y="4983480"/>
            <a:ext cx="3514344" cy="457200"/>
          </a:xfrm>
          <a:prstGeom prst="rect">
            <a:avLst/>
          </a:prstGeom>
          <a:noFill/>
          <a:ln/>
        </p:spPr>
        <p:txBody>
          <a:bodyPr wrap="square" lIns="0" tIns="0" rIns="0" bIns="0" rtlCol="0" anchor="t"/>
          <a:lstStyle/>
          <a:p>
            <a:pPr indent="0" marL="0">
              <a:buNone/>
            </a:pPr>
            <a:r>
              <a:rPr lang="en-US" sz="2400" dirty="0">
                <a:solidFill>
                  <a:srgbClr val="5B6472"/>
                </a:solidFill>
                <a:latin typeface="Calibri" pitchFamily="34" charset="0"/>
                <a:ea typeface="Calibri" pitchFamily="34" charset="-122"/>
                <a:cs typeface="Calibri" pitchFamily="34" charset="-120"/>
              </a:rPr>
              <a:t>Tested with 2+ phones</a:t>
            </a:r>
            <a:endParaRPr lang="en-US" sz="2400" dirty="0"/>
          </a:p>
        </p:txBody>
      </p:sp>
      <p:sp>
        <p:nvSpPr>
          <p:cNvPr id="9" name="Shape 6"/>
          <p:cNvSpPr/>
          <p:nvPr/>
        </p:nvSpPr>
        <p:spPr>
          <a:xfrm>
            <a:off x="4337304" y="1554480"/>
            <a:ext cx="3514344" cy="2560320"/>
          </a:xfrm>
          <a:prstGeom prst="roundRect">
            <a:avLst>
              <a:gd name="adj" fmla="val 2857"/>
            </a:avLst>
          </a:prstGeom>
          <a:solidFill>
            <a:srgbClr val="F1F3F6"/>
          </a:solidFill>
          <a:ln w="12700">
            <a:solidFill>
              <a:srgbClr val="5B6472"/>
            </a:solidFill>
            <a:prstDash val="dash"/>
          </a:ln>
        </p:spPr>
      </p:sp>
      <p:sp>
        <p:nvSpPr>
          <p:cNvPr id="10" name="Text 7"/>
          <p:cNvSpPr txBox="1"/>
          <p:nvPr/>
        </p:nvSpPr>
        <p:spPr>
          <a:xfrm>
            <a:off x="4611624" y="1554480"/>
            <a:ext cx="2965704" cy="2560320"/>
          </a:xfrm>
          <a:prstGeom prst="rect">
            <a:avLst/>
          </a:prstGeom>
          <a:noFill/>
          <a:ln/>
        </p:spPr>
        <p:txBody>
          <a:bodyPr wrap="square" lIns="0" tIns="0" rIns="0" bIns="0" rtlCol="0" anchor="ctr"/>
          <a:lstStyle/>
          <a:p>
            <a:pPr algn="ctr" indent="0" marL="0">
              <a:buNone/>
            </a:pPr>
            <a:r>
              <a:rPr lang="en-US" sz="2400" dirty="0">
                <a:solidFill>
                  <a:srgbClr val="5B6472"/>
                </a:solidFill>
                <a:latin typeface="Calibri" pitchFamily="34" charset="0"/>
                <a:ea typeface="Calibri" pitchFamily="34" charset="-122"/>
                <a:cs typeface="Calibri" pitchFamily="34" charset="-120"/>
              </a:rPr>
              <a:t>Add OpenSim screenshot</a:t>
            </a:r>
            <a:endParaRPr lang="en-US" sz="2400" dirty="0"/>
          </a:p>
        </p:txBody>
      </p:sp>
      <p:sp>
        <p:nvSpPr>
          <p:cNvPr id="11" name="Shape 8"/>
          <p:cNvSpPr/>
          <p:nvPr/>
        </p:nvSpPr>
        <p:spPr>
          <a:xfrm>
            <a:off x="4337304" y="4389120"/>
            <a:ext cx="502920" cy="502920"/>
          </a:xfrm>
          <a:prstGeom prst="ellipse">
            <a:avLst/>
          </a:prstGeom>
          <a:solidFill>
            <a:srgbClr val="3B7D4F"/>
          </a:solidFill>
          <a:ln w="12700">
            <a:solidFill>
              <a:srgbClr val="3B7D4F"/>
            </a:solidFill>
            <a:prstDash val="solid"/>
          </a:ln>
        </p:spPr>
      </p:sp>
      <p:pic>
        <p:nvPicPr>
          <p:cNvPr id="12" name="Image 1" descr="preencoded.png">    </p:cNvPr>
          <p:cNvPicPr>
            <a:picLocks noChangeAspect="1"/>
          </p:cNvPicPr>
          <p:nvPr/>
        </p:nvPicPr>
        <p:blipFill>
          <a:blip r:embed="rId2"/>
          <a:stretch>
            <a:fillRect/>
          </a:stretch>
        </p:blipFill>
        <p:spPr>
          <a:xfrm>
            <a:off x="4465320" y="4517136"/>
            <a:ext cx="246888" cy="246888"/>
          </a:xfrm>
          <a:prstGeom prst="rect">
            <a:avLst/>
          </a:prstGeom>
        </p:spPr>
      </p:pic>
      <p:sp>
        <p:nvSpPr>
          <p:cNvPr id="13" name="Text 9"/>
          <p:cNvSpPr txBox="1"/>
          <p:nvPr/>
        </p:nvSpPr>
        <p:spPr>
          <a:xfrm>
            <a:off x="5023104" y="4389120"/>
            <a:ext cx="2828544" cy="502920"/>
          </a:xfrm>
          <a:prstGeom prst="rect">
            <a:avLst/>
          </a:prstGeom>
          <a:noFill/>
          <a:ln/>
        </p:spPr>
        <p:txBody>
          <a:bodyPr wrap="square" lIns="0" tIns="0" rIns="0" bIns="0" rtlCol="0" anchor="ctr"/>
          <a:lstStyle/>
          <a:p>
            <a:pPr indent="0" marL="0">
              <a:buNone/>
            </a:pPr>
            <a:r>
              <a:rPr lang="en-US" sz="2600" b="1" dirty="0">
                <a:solidFill>
                  <a:srgbClr val="1A1F2B"/>
                </a:solidFill>
                <a:latin typeface="Arial" pitchFamily="34" charset="0"/>
                <a:ea typeface="Arial" pitchFamily="34" charset="-122"/>
                <a:cs typeface="Arial" pitchFamily="34" charset="-120"/>
              </a:rPr>
              <a:t>OpenSim</a:t>
            </a:r>
            <a:endParaRPr lang="en-US" sz="2600" dirty="0"/>
          </a:p>
        </p:txBody>
      </p:sp>
      <p:sp>
        <p:nvSpPr>
          <p:cNvPr id="14" name="Text 10"/>
          <p:cNvSpPr txBox="1"/>
          <p:nvPr/>
        </p:nvSpPr>
        <p:spPr>
          <a:xfrm>
            <a:off x="4337304" y="4983480"/>
            <a:ext cx="3514344" cy="457200"/>
          </a:xfrm>
          <a:prstGeom prst="rect">
            <a:avLst/>
          </a:prstGeom>
          <a:noFill/>
          <a:ln/>
        </p:spPr>
        <p:txBody>
          <a:bodyPr wrap="square" lIns="0" tIns="0" rIns="0" bIns="0" rtlCol="0" anchor="t"/>
          <a:lstStyle/>
          <a:p>
            <a:pPr indent="0" marL="0">
              <a:buNone/>
            </a:pPr>
            <a:r>
              <a:rPr lang="en-US" sz="2400" dirty="0">
                <a:solidFill>
                  <a:srgbClr val="5B6472"/>
                </a:solidFill>
                <a:latin typeface="Calibri" pitchFamily="34" charset="0"/>
                <a:ea typeface="Calibri" pitchFamily="34" charset="-122"/>
                <a:cs typeface="Calibri" pitchFamily="34" charset="-120"/>
              </a:rPr>
              <a:t>Learning inverse dynamics</a:t>
            </a:r>
            <a:endParaRPr lang="en-US" sz="2400" dirty="0"/>
          </a:p>
        </p:txBody>
      </p:sp>
      <p:sp>
        <p:nvSpPr>
          <p:cNvPr id="15" name="Shape 11"/>
          <p:cNvSpPr/>
          <p:nvPr/>
        </p:nvSpPr>
        <p:spPr>
          <a:xfrm>
            <a:off x="8125968" y="1554480"/>
            <a:ext cx="3514344" cy="2560320"/>
          </a:xfrm>
          <a:prstGeom prst="roundRect">
            <a:avLst>
              <a:gd name="adj" fmla="val 2857"/>
            </a:avLst>
          </a:prstGeom>
          <a:solidFill>
            <a:srgbClr val="1A1F2B"/>
          </a:solidFill>
          <a:ln w="12700">
            <a:solidFill>
              <a:srgbClr val="1A1F2B"/>
            </a:solidFill>
            <a:prstDash val="solid"/>
          </a:ln>
        </p:spPr>
      </p:sp>
      <p:pic>
        <p:nvPicPr>
          <p:cNvPr id="16" name="Image 2" descr="holder.png">    </p:cNvPr>
          <p:cNvPicPr>
            <a:picLocks noChangeAspect="1"/>
          </p:cNvPicPr>
          <p:nvPr/>
        </p:nvPicPr>
        <p:blipFill>
          <a:blip r:embed="rId3"/>
          <a:stretch>
            <a:fillRect/>
          </a:stretch>
        </p:blipFill>
        <p:spPr>
          <a:xfrm>
            <a:off x="8542020" y="1965960"/>
            <a:ext cx="2682240" cy="2011680"/>
          </a:xfrm>
          <a:prstGeom prst="rect">
            <a:avLst/>
          </a:prstGeom>
        </p:spPr>
      </p:pic>
      <p:sp>
        <p:nvSpPr>
          <p:cNvPr id="17" name="Text 12"/>
          <p:cNvSpPr txBox="1"/>
          <p:nvPr/>
        </p:nvSpPr>
        <p:spPr>
          <a:xfrm>
            <a:off x="8400288" y="1828800"/>
            <a:ext cx="1280160" cy="3200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board slot</a:t>
            </a:r>
            <a:endParaRPr lang="en-US" sz="2000" dirty="0"/>
          </a:p>
        </p:txBody>
      </p:sp>
      <p:sp>
        <p:nvSpPr>
          <p:cNvPr id="18" name="Shape 13"/>
          <p:cNvSpPr/>
          <p:nvPr/>
        </p:nvSpPr>
        <p:spPr>
          <a:xfrm>
            <a:off x="9497568" y="2075688"/>
            <a:ext cx="305105" cy="413309"/>
          </a:xfrm>
          <a:prstGeom prst="line">
            <a:avLst/>
          </a:prstGeom>
          <a:noFill/>
          <a:ln w="19050">
            <a:solidFill>
              <a:srgbClr val="FFFFFF"/>
            </a:solidFill>
            <a:prstDash val="solid"/>
          </a:ln>
        </p:spPr>
      </p:sp>
      <p:sp>
        <p:nvSpPr>
          <p:cNvPr id="19" name="Shape 14"/>
          <p:cNvSpPr/>
          <p:nvPr/>
        </p:nvSpPr>
        <p:spPr>
          <a:xfrm>
            <a:off x="8125968" y="4389120"/>
            <a:ext cx="502920" cy="502920"/>
          </a:xfrm>
          <a:prstGeom prst="ellipse">
            <a:avLst/>
          </a:prstGeom>
          <a:solidFill>
            <a:srgbClr val="3B7D4F"/>
          </a:solidFill>
          <a:ln w="12700">
            <a:solidFill>
              <a:srgbClr val="3B7D4F"/>
            </a:solidFill>
            <a:prstDash val="solid"/>
          </a:ln>
        </p:spPr>
      </p:sp>
      <p:pic>
        <p:nvPicPr>
          <p:cNvPr id="20" name="Image 3" descr="preencoded.png">    </p:cNvPr>
          <p:cNvPicPr>
            <a:picLocks noChangeAspect="1"/>
          </p:cNvPicPr>
          <p:nvPr/>
        </p:nvPicPr>
        <p:blipFill>
          <a:blip r:embed="rId4"/>
          <a:stretch>
            <a:fillRect/>
          </a:stretch>
        </p:blipFill>
        <p:spPr>
          <a:xfrm>
            <a:off x="8253984" y="4517136"/>
            <a:ext cx="246888" cy="246888"/>
          </a:xfrm>
          <a:prstGeom prst="rect">
            <a:avLst/>
          </a:prstGeom>
        </p:spPr>
      </p:pic>
      <p:sp>
        <p:nvSpPr>
          <p:cNvPr id="21" name="Text 15"/>
          <p:cNvSpPr txBox="1"/>
          <p:nvPr/>
        </p:nvSpPr>
        <p:spPr>
          <a:xfrm>
            <a:off x="8811768" y="4389120"/>
            <a:ext cx="2828544" cy="502920"/>
          </a:xfrm>
          <a:prstGeom prst="rect">
            <a:avLst/>
          </a:prstGeom>
          <a:noFill/>
          <a:ln/>
        </p:spPr>
        <p:txBody>
          <a:bodyPr wrap="square" lIns="0" tIns="0" rIns="0" bIns="0" rtlCol="0" anchor="ctr"/>
          <a:lstStyle/>
          <a:p>
            <a:pPr indent="0" marL="0">
              <a:buNone/>
            </a:pPr>
            <a:r>
              <a:rPr lang="en-US" sz="2600" b="1" dirty="0">
                <a:solidFill>
                  <a:srgbClr val="1A1F2B"/>
                </a:solidFill>
                <a:latin typeface="Arial" pitchFamily="34" charset="0"/>
                <a:ea typeface="Arial" pitchFamily="34" charset="-122"/>
                <a:cs typeface="Arial" pitchFamily="34" charset="-120"/>
              </a:rPr>
              <a:t>CAD</a:t>
            </a:r>
            <a:endParaRPr lang="en-US" sz="2600" dirty="0"/>
          </a:p>
        </p:txBody>
      </p:sp>
      <p:sp>
        <p:nvSpPr>
          <p:cNvPr id="22" name="Text 16"/>
          <p:cNvSpPr txBox="1"/>
          <p:nvPr/>
        </p:nvSpPr>
        <p:spPr>
          <a:xfrm>
            <a:off x="8125968" y="4983480"/>
            <a:ext cx="3514344" cy="457200"/>
          </a:xfrm>
          <a:prstGeom prst="rect">
            <a:avLst/>
          </a:prstGeom>
          <a:noFill/>
          <a:ln/>
        </p:spPr>
        <p:txBody>
          <a:bodyPr wrap="square" lIns="0" tIns="0" rIns="0" bIns="0" rtlCol="0" anchor="t"/>
          <a:lstStyle/>
          <a:p>
            <a:pPr indent="0" marL="0">
              <a:buNone/>
            </a:pPr>
            <a:r>
              <a:rPr lang="en-US" sz="2400" dirty="0">
                <a:solidFill>
                  <a:srgbClr val="5B6472"/>
                </a:solidFill>
                <a:latin typeface="Calibri" pitchFamily="34" charset="0"/>
                <a:ea typeface="Calibri" pitchFamily="34" charset="-122"/>
                <a:cs typeface="Calibri" pitchFamily="34" charset="-120"/>
              </a:rPr>
              <a:t>Board holder designed</a:t>
            </a:r>
            <a:endParaRPr lang="en-US" sz="2400" dirty="0"/>
          </a:p>
        </p:txBody>
      </p:sp>
      <p:sp>
        <p:nvSpPr>
          <p:cNvPr id="23" name="Text 17"/>
          <p:cNvSpPr txBox="1"/>
          <p:nvPr/>
        </p:nvSpPr>
        <p:spPr>
          <a:xfrm>
            <a:off x="548640" y="5897880"/>
            <a:ext cx="11091672" cy="411480"/>
          </a:xfrm>
          <a:prstGeom prst="rect">
            <a:avLst/>
          </a:prstGeom>
          <a:noFill/>
          <a:ln/>
        </p:spPr>
        <p:txBody>
          <a:bodyPr wrap="square" lIns="0" tIns="0" rIns="0" bIns="0" rtlCol="0" anchor="b"/>
          <a:lstStyle/>
          <a:p>
            <a:pPr indent="0" marL="0">
              <a:buNone/>
            </a:pPr>
            <a:r>
              <a:rPr lang="en-US" sz="2400" b="1" dirty="0">
                <a:solidFill>
                  <a:srgbClr val="BF5700"/>
                </a:solidFill>
                <a:latin typeface="Calibri" pitchFamily="34" charset="0"/>
                <a:ea typeface="Calibri" pitchFamily="34" charset="-122"/>
                <a:cs typeface="Calibri" pitchFamily="34" charset="-120"/>
              </a:rPr>
              <a:t>Next: </a:t>
            </a:r>
            <a:pPr indent="0" marL="0">
              <a:buNone/>
            </a:pPr>
            <a:r>
              <a:rPr lang="en-US" sz="2400" dirty="0">
                <a:solidFill>
                  <a:srgbClr val="1A1F2B"/>
                </a:solidFill>
                <a:latin typeface="Calibri" pitchFamily="34" charset="0"/>
                <a:ea typeface="Calibri" pitchFamily="34" charset="-122"/>
                <a:cs typeface="Calibri" pitchFamily="34" charset="-120"/>
              </a:rPr>
              <a:t>laser-guide phone holder, Theia3D training</a:t>
            </a:r>
            <a:endParaRPr lang="en-US" sz="2400" dirty="0"/>
          </a:p>
        </p:txBody>
      </p:sp>
      <p:sp>
        <p:nvSpPr>
          <p:cNvPr id="24" name="Text 18"/>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200" dirty="0">
                <a:solidFill>
                  <a:srgbClr val="5B6472"/>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548640"/>
            <a:ext cx="11091672" cy="731520"/>
          </a:xfrm>
          <a:prstGeom prst="rect">
            <a:avLst/>
          </a:prstGeom>
          <a:noFill/>
          <a:ln/>
        </p:spPr>
        <p:txBody>
          <a:bodyPr wrap="square" lIns="0" tIns="0" rIns="0" bIns="0" rtlCol="0" anchor="t"/>
          <a:lstStyle/>
          <a:p>
            <a:pPr indent="0" marL="0">
              <a:buNone/>
            </a:pPr>
            <a:r>
              <a:rPr lang="en-US" sz="3800" b="1" dirty="0">
                <a:solidFill>
                  <a:srgbClr val="1A1F2B"/>
                </a:solidFill>
                <a:latin typeface="Arial" pitchFamily="34" charset="0"/>
                <a:ea typeface="Arial" pitchFamily="34" charset="-122"/>
                <a:cs typeface="Arial" pitchFamily="34" charset="-120"/>
              </a:rPr>
              <a:t>Timeline</a:t>
            </a:r>
            <a:endParaRPr lang="en-US" sz="3800" dirty="0"/>
          </a:p>
        </p:txBody>
      </p:sp>
      <p:sp>
        <p:nvSpPr>
          <p:cNvPr id="3" name="Shape 1"/>
          <p:cNvSpPr/>
          <p:nvPr/>
        </p:nvSpPr>
        <p:spPr>
          <a:xfrm>
            <a:off x="3566160" y="1554480"/>
            <a:ext cx="2306901" cy="411480"/>
          </a:xfrm>
          <a:prstGeom prst="rect">
            <a:avLst/>
          </a:prstGeom>
          <a:solidFill>
            <a:srgbClr val="1A1F2B"/>
          </a:solidFill>
          <a:ln w="6350">
            <a:solidFill>
              <a:srgbClr val="FFFFFF"/>
            </a:solidFill>
            <a:prstDash val="solid"/>
          </a:ln>
        </p:spPr>
      </p:sp>
      <p:sp>
        <p:nvSpPr>
          <p:cNvPr id="4" name="Text 2"/>
          <p:cNvSpPr txBox="1"/>
          <p:nvPr/>
        </p:nvSpPr>
        <p:spPr>
          <a:xfrm>
            <a:off x="3566160" y="1554480"/>
            <a:ext cx="2306901"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SEP</a:t>
            </a:r>
            <a:endParaRPr lang="en-US" sz="2000" dirty="0"/>
          </a:p>
        </p:txBody>
      </p:sp>
      <p:sp>
        <p:nvSpPr>
          <p:cNvPr id="5" name="Shape 3"/>
          <p:cNvSpPr/>
          <p:nvPr/>
        </p:nvSpPr>
        <p:spPr>
          <a:xfrm>
            <a:off x="5873061" y="1554480"/>
            <a:ext cx="2306901" cy="411480"/>
          </a:xfrm>
          <a:prstGeom prst="rect">
            <a:avLst/>
          </a:prstGeom>
          <a:solidFill>
            <a:srgbClr val="2A3140"/>
          </a:solidFill>
          <a:ln w="6350">
            <a:solidFill>
              <a:srgbClr val="FFFFFF"/>
            </a:solidFill>
            <a:prstDash val="solid"/>
          </a:ln>
        </p:spPr>
      </p:sp>
      <p:sp>
        <p:nvSpPr>
          <p:cNvPr id="6" name="Text 4"/>
          <p:cNvSpPr txBox="1"/>
          <p:nvPr/>
        </p:nvSpPr>
        <p:spPr>
          <a:xfrm>
            <a:off x="5873061" y="1554480"/>
            <a:ext cx="2306901"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OCT</a:t>
            </a:r>
            <a:endParaRPr lang="en-US" sz="2000" dirty="0"/>
          </a:p>
        </p:txBody>
      </p:sp>
      <p:sp>
        <p:nvSpPr>
          <p:cNvPr id="7" name="Shape 5"/>
          <p:cNvSpPr/>
          <p:nvPr/>
        </p:nvSpPr>
        <p:spPr>
          <a:xfrm>
            <a:off x="8179961" y="1554480"/>
            <a:ext cx="2883626" cy="411480"/>
          </a:xfrm>
          <a:prstGeom prst="rect">
            <a:avLst/>
          </a:prstGeom>
          <a:solidFill>
            <a:srgbClr val="1A1F2B"/>
          </a:solidFill>
          <a:ln w="6350">
            <a:solidFill>
              <a:srgbClr val="FFFFFF"/>
            </a:solidFill>
            <a:prstDash val="solid"/>
          </a:ln>
        </p:spPr>
      </p:sp>
      <p:sp>
        <p:nvSpPr>
          <p:cNvPr id="8" name="Text 6"/>
          <p:cNvSpPr txBox="1"/>
          <p:nvPr/>
        </p:nvSpPr>
        <p:spPr>
          <a:xfrm>
            <a:off x="8179961" y="1554480"/>
            <a:ext cx="2883626"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NOV</a:t>
            </a:r>
            <a:endParaRPr lang="en-US" sz="2000" dirty="0"/>
          </a:p>
        </p:txBody>
      </p:sp>
      <p:sp>
        <p:nvSpPr>
          <p:cNvPr id="9" name="Shape 7"/>
          <p:cNvSpPr/>
          <p:nvPr/>
        </p:nvSpPr>
        <p:spPr>
          <a:xfrm>
            <a:off x="11063587" y="1554480"/>
            <a:ext cx="576725" cy="411480"/>
          </a:xfrm>
          <a:prstGeom prst="rect">
            <a:avLst/>
          </a:prstGeom>
          <a:solidFill>
            <a:srgbClr val="2A3140"/>
          </a:solidFill>
          <a:ln w="6350">
            <a:solidFill>
              <a:srgbClr val="FFFFFF"/>
            </a:solidFill>
            <a:prstDash val="solid"/>
          </a:ln>
        </p:spPr>
      </p:sp>
      <p:sp>
        <p:nvSpPr>
          <p:cNvPr id="10" name="Text 8"/>
          <p:cNvSpPr txBox="1"/>
          <p:nvPr/>
        </p:nvSpPr>
        <p:spPr>
          <a:xfrm>
            <a:off x="11063587" y="1554480"/>
            <a:ext cx="576725"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DEC</a:t>
            </a:r>
            <a:endParaRPr lang="en-US" sz="2000" dirty="0"/>
          </a:p>
        </p:txBody>
      </p:sp>
      <p:sp>
        <p:nvSpPr>
          <p:cNvPr id="11" name="Shape 9"/>
          <p:cNvSpPr/>
          <p:nvPr/>
        </p:nvSpPr>
        <p:spPr>
          <a:xfrm>
            <a:off x="548640" y="1965960"/>
            <a:ext cx="11091672" cy="420624"/>
          </a:xfrm>
          <a:prstGeom prst="rect">
            <a:avLst/>
          </a:prstGeom>
          <a:solidFill>
            <a:srgbClr val="F1F3F6"/>
          </a:solidFill>
          <a:ln w="12700">
            <a:solidFill>
              <a:srgbClr val="F1F3F6"/>
            </a:solidFill>
            <a:prstDash val="solid"/>
          </a:ln>
        </p:spPr>
      </p:sp>
      <p:sp>
        <p:nvSpPr>
          <p:cNvPr id="12" name="Text 10"/>
          <p:cNvSpPr txBox="1"/>
          <p:nvPr/>
        </p:nvSpPr>
        <p:spPr>
          <a:xfrm>
            <a:off x="822960" y="1965960"/>
            <a:ext cx="2560320" cy="420624"/>
          </a:xfrm>
          <a:prstGeom prst="rect">
            <a:avLst/>
          </a:prstGeom>
          <a:noFill/>
          <a:ln/>
        </p:spPr>
        <p:txBody>
          <a:bodyPr wrap="square" lIns="0" tIns="0" rIns="0" bIns="0" rtlCol="0" anchor="ctr"/>
          <a:lstStyle/>
          <a:p>
            <a:pPr indent="0" marL="0">
              <a:buNone/>
            </a:pPr>
            <a:r>
              <a:rPr lang="en-US" sz="2400" dirty="0">
                <a:solidFill>
                  <a:srgbClr val="5B6472"/>
                </a:solidFill>
                <a:latin typeface="Calibri" pitchFamily="34" charset="0"/>
                <a:ea typeface="Calibri" pitchFamily="34" charset="-122"/>
                <a:cs typeface="Calibri" pitchFamily="34" charset="-120"/>
              </a:rPr>
              <a:t>OpenCap + holder</a:t>
            </a:r>
            <a:endParaRPr lang="en-US" sz="2400" dirty="0"/>
          </a:p>
        </p:txBody>
      </p:sp>
      <p:sp>
        <p:nvSpPr>
          <p:cNvPr id="13" name="Shape 11"/>
          <p:cNvSpPr/>
          <p:nvPr/>
        </p:nvSpPr>
        <p:spPr>
          <a:xfrm>
            <a:off x="3602736" y="2048256"/>
            <a:ext cx="1080298" cy="256032"/>
          </a:xfrm>
          <a:prstGeom prst="roundRect">
            <a:avLst>
              <a:gd name="adj" fmla="val 35714"/>
            </a:avLst>
          </a:prstGeom>
          <a:solidFill>
            <a:srgbClr val="9AA3B0"/>
          </a:solidFill>
          <a:ln w="12700">
            <a:solidFill>
              <a:srgbClr val="9AA3B0"/>
            </a:solidFill>
            <a:prstDash val="solid"/>
          </a:ln>
        </p:spPr>
      </p:sp>
      <p:sp>
        <p:nvSpPr>
          <p:cNvPr id="14" name="Shape 12"/>
          <p:cNvSpPr/>
          <p:nvPr/>
        </p:nvSpPr>
        <p:spPr>
          <a:xfrm>
            <a:off x="4335562" y="2020824"/>
            <a:ext cx="310896" cy="310896"/>
          </a:xfrm>
          <a:prstGeom prst="ellipse">
            <a:avLst/>
          </a:prstGeom>
          <a:solidFill>
            <a:srgbClr val="3B7D4F"/>
          </a:solidFill>
          <a:ln w="19050">
            <a:solidFill>
              <a:srgbClr val="FFFFFF"/>
            </a:solidFill>
            <a:prstDash val="solid"/>
          </a:ln>
        </p:spPr>
      </p:sp>
      <p:pic>
        <p:nvPicPr>
          <p:cNvPr id="15" name="Image 0" descr="preencoded.png">    </p:cNvPr>
          <p:cNvPicPr>
            <a:picLocks noChangeAspect="1"/>
          </p:cNvPicPr>
          <p:nvPr/>
        </p:nvPicPr>
        <p:blipFill>
          <a:blip r:embed="rId1"/>
          <a:stretch>
            <a:fillRect/>
          </a:stretch>
        </p:blipFill>
        <p:spPr>
          <a:xfrm>
            <a:off x="4419504" y="2104766"/>
            <a:ext cx="143012" cy="143012"/>
          </a:xfrm>
          <a:prstGeom prst="rect">
            <a:avLst/>
          </a:prstGeom>
        </p:spPr>
      </p:pic>
      <p:sp>
        <p:nvSpPr>
          <p:cNvPr id="16" name="Text 13"/>
          <p:cNvSpPr txBox="1"/>
          <p:nvPr/>
        </p:nvSpPr>
        <p:spPr>
          <a:xfrm>
            <a:off x="822960" y="2386584"/>
            <a:ext cx="2560320" cy="420624"/>
          </a:xfrm>
          <a:prstGeom prst="rect">
            <a:avLst/>
          </a:prstGeom>
          <a:noFill/>
          <a:ln/>
        </p:spPr>
        <p:txBody>
          <a:bodyPr wrap="square" lIns="0" tIns="0" rIns="0" bIns="0" rtlCol="0" anchor="ctr"/>
          <a:lstStyle/>
          <a:p>
            <a:pPr indent="0" marL="0">
              <a:buNone/>
            </a:pPr>
            <a:r>
              <a:rPr lang="en-US" sz="2400" dirty="0">
                <a:solidFill>
                  <a:srgbClr val="1A1F2B"/>
                </a:solidFill>
                <a:latin typeface="Calibri" pitchFamily="34" charset="0"/>
                <a:ea typeface="Calibri" pitchFamily="34" charset="-122"/>
                <a:cs typeface="Calibri" pitchFamily="34" charset="-120"/>
              </a:rPr>
              <a:t>Proposal</a:t>
            </a:r>
            <a:endParaRPr lang="en-US" sz="2400" dirty="0"/>
          </a:p>
        </p:txBody>
      </p:sp>
      <p:sp>
        <p:nvSpPr>
          <p:cNvPr id="17" name="Shape 14"/>
          <p:cNvSpPr/>
          <p:nvPr/>
        </p:nvSpPr>
        <p:spPr>
          <a:xfrm>
            <a:off x="4756186" y="2468880"/>
            <a:ext cx="1080298" cy="256032"/>
          </a:xfrm>
          <a:prstGeom prst="roundRect">
            <a:avLst>
              <a:gd name="adj" fmla="val 35714"/>
            </a:avLst>
          </a:prstGeom>
          <a:solidFill>
            <a:srgbClr val="1A1F2B"/>
          </a:solidFill>
          <a:ln w="12700">
            <a:solidFill>
              <a:srgbClr val="1A1F2B"/>
            </a:solidFill>
            <a:prstDash val="solid"/>
          </a:ln>
        </p:spPr>
      </p:sp>
      <p:sp>
        <p:nvSpPr>
          <p:cNvPr id="18" name="Shape 15"/>
          <p:cNvSpPr/>
          <p:nvPr/>
        </p:nvSpPr>
        <p:spPr>
          <a:xfrm>
            <a:off x="5690181" y="2414016"/>
            <a:ext cx="365760" cy="365760"/>
          </a:xfrm>
          <a:prstGeom prst="diamond">
            <a:avLst/>
          </a:prstGeom>
          <a:solidFill>
            <a:srgbClr val="FFFFFF"/>
          </a:solidFill>
          <a:ln w="22225">
            <a:solidFill>
              <a:srgbClr val="1A1F2B"/>
            </a:solidFill>
            <a:prstDash val="solid"/>
          </a:ln>
        </p:spPr>
      </p:sp>
      <p:sp>
        <p:nvSpPr>
          <p:cNvPr id="19" name="Shape 16"/>
          <p:cNvSpPr/>
          <p:nvPr/>
        </p:nvSpPr>
        <p:spPr>
          <a:xfrm>
            <a:off x="548640" y="2807208"/>
            <a:ext cx="11091672" cy="420624"/>
          </a:xfrm>
          <a:prstGeom prst="rect">
            <a:avLst/>
          </a:prstGeom>
          <a:solidFill>
            <a:srgbClr val="F1F3F6"/>
          </a:solidFill>
          <a:ln w="12700">
            <a:solidFill>
              <a:srgbClr val="F1F3F6"/>
            </a:solidFill>
            <a:prstDash val="solid"/>
          </a:ln>
        </p:spPr>
      </p:sp>
      <p:sp>
        <p:nvSpPr>
          <p:cNvPr id="20" name="Text 17"/>
          <p:cNvSpPr txBox="1"/>
          <p:nvPr/>
        </p:nvSpPr>
        <p:spPr>
          <a:xfrm>
            <a:off x="822960" y="2807208"/>
            <a:ext cx="2560320" cy="420624"/>
          </a:xfrm>
          <a:prstGeom prst="rect">
            <a:avLst/>
          </a:prstGeom>
          <a:noFill/>
          <a:ln/>
        </p:spPr>
        <p:txBody>
          <a:bodyPr wrap="square" lIns="0" tIns="0" rIns="0" bIns="0" rtlCol="0" anchor="ctr"/>
          <a:lstStyle/>
          <a:p>
            <a:pPr indent="0" marL="0">
              <a:buNone/>
            </a:pPr>
            <a:r>
              <a:rPr lang="en-US" sz="2400" dirty="0">
                <a:solidFill>
                  <a:srgbClr val="1A1F2B"/>
                </a:solidFill>
                <a:latin typeface="Calibri" pitchFamily="34" charset="0"/>
                <a:ea typeface="Calibri" pitchFamily="34" charset="-122"/>
                <a:cs typeface="Calibri" pitchFamily="34" charset="-120"/>
              </a:rPr>
              <a:t>Training</a:t>
            </a:r>
            <a:endParaRPr lang="en-US" sz="2400" dirty="0"/>
          </a:p>
        </p:txBody>
      </p:sp>
      <p:sp>
        <p:nvSpPr>
          <p:cNvPr id="21" name="Shape 18"/>
          <p:cNvSpPr/>
          <p:nvPr/>
        </p:nvSpPr>
        <p:spPr>
          <a:xfrm>
            <a:off x="4756186" y="2889504"/>
            <a:ext cx="2233749" cy="256032"/>
          </a:xfrm>
          <a:prstGeom prst="roundRect">
            <a:avLst>
              <a:gd name="adj" fmla="val 35714"/>
            </a:avLst>
          </a:prstGeom>
          <a:solidFill>
            <a:srgbClr val="BF5700"/>
          </a:solidFill>
          <a:ln w="12700">
            <a:solidFill>
              <a:srgbClr val="BF5700"/>
            </a:solidFill>
            <a:prstDash val="solid"/>
          </a:ln>
        </p:spPr>
      </p:sp>
      <p:sp>
        <p:nvSpPr>
          <p:cNvPr id="22" name="Text 19"/>
          <p:cNvSpPr txBox="1"/>
          <p:nvPr/>
        </p:nvSpPr>
        <p:spPr>
          <a:xfrm>
            <a:off x="822960" y="3227832"/>
            <a:ext cx="2560320" cy="420624"/>
          </a:xfrm>
          <a:prstGeom prst="rect">
            <a:avLst/>
          </a:prstGeom>
          <a:noFill/>
          <a:ln/>
        </p:spPr>
        <p:txBody>
          <a:bodyPr wrap="square" lIns="0" tIns="0" rIns="0" bIns="0" rtlCol="0" anchor="ctr"/>
          <a:lstStyle/>
          <a:p>
            <a:pPr indent="0" marL="0">
              <a:buNone/>
            </a:pPr>
            <a:r>
              <a:rPr lang="en-US" sz="2400" dirty="0">
                <a:solidFill>
                  <a:srgbClr val="1A1F2B"/>
                </a:solidFill>
                <a:latin typeface="Calibri" pitchFamily="34" charset="0"/>
                <a:ea typeface="Calibri" pitchFamily="34" charset="-122"/>
                <a:cs typeface="Calibri" pitchFamily="34" charset="-120"/>
              </a:rPr>
              <a:t>Phone holder</a:t>
            </a:r>
            <a:endParaRPr lang="en-US" sz="2400" dirty="0"/>
          </a:p>
        </p:txBody>
      </p:sp>
      <p:sp>
        <p:nvSpPr>
          <p:cNvPr id="23" name="Shape 20"/>
          <p:cNvSpPr/>
          <p:nvPr/>
        </p:nvSpPr>
        <p:spPr>
          <a:xfrm>
            <a:off x="5332911" y="3310128"/>
            <a:ext cx="2233749" cy="256032"/>
          </a:xfrm>
          <a:prstGeom prst="roundRect">
            <a:avLst>
              <a:gd name="adj" fmla="val 35714"/>
            </a:avLst>
          </a:prstGeom>
          <a:solidFill>
            <a:srgbClr val="BF5700"/>
          </a:solidFill>
          <a:ln w="12700">
            <a:solidFill>
              <a:srgbClr val="BF5700"/>
            </a:solidFill>
            <a:prstDash val="solid"/>
          </a:ln>
        </p:spPr>
      </p:sp>
      <p:sp>
        <p:nvSpPr>
          <p:cNvPr id="24" name="Shape 21"/>
          <p:cNvSpPr/>
          <p:nvPr/>
        </p:nvSpPr>
        <p:spPr>
          <a:xfrm>
            <a:off x="7420356" y="3255264"/>
            <a:ext cx="365760" cy="365760"/>
          </a:xfrm>
          <a:prstGeom prst="diamond">
            <a:avLst/>
          </a:prstGeom>
          <a:solidFill>
            <a:srgbClr val="FFFFFF"/>
          </a:solidFill>
          <a:ln w="22225">
            <a:solidFill>
              <a:srgbClr val="1A1F2B"/>
            </a:solidFill>
            <a:prstDash val="solid"/>
          </a:ln>
        </p:spPr>
      </p:sp>
      <p:sp>
        <p:nvSpPr>
          <p:cNvPr id="25" name="Shape 22"/>
          <p:cNvSpPr/>
          <p:nvPr/>
        </p:nvSpPr>
        <p:spPr>
          <a:xfrm>
            <a:off x="548640" y="3648456"/>
            <a:ext cx="11091672" cy="420624"/>
          </a:xfrm>
          <a:prstGeom prst="rect">
            <a:avLst/>
          </a:prstGeom>
          <a:solidFill>
            <a:srgbClr val="F1F3F6"/>
          </a:solidFill>
          <a:ln w="12700">
            <a:solidFill>
              <a:srgbClr val="F1F3F6"/>
            </a:solidFill>
            <a:prstDash val="solid"/>
          </a:ln>
        </p:spPr>
      </p:sp>
      <p:sp>
        <p:nvSpPr>
          <p:cNvPr id="26" name="Text 23"/>
          <p:cNvSpPr txBox="1"/>
          <p:nvPr/>
        </p:nvSpPr>
        <p:spPr>
          <a:xfrm>
            <a:off x="822960" y="3648456"/>
            <a:ext cx="2560320" cy="420624"/>
          </a:xfrm>
          <a:prstGeom prst="rect">
            <a:avLst/>
          </a:prstGeom>
          <a:noFill/>
          <a:ln/>
        </p:spPr>
        <p:txBody>
          <a:bodyPr wrap="square" lIns="0" tIns="0" rIns="0" bIns="0" rtlCol="0" anchor="ctr"/>
          <a:lstStyle/>
          <a:p>
            <a:pPr indent="0" marL="0">
              <a:buNone/>
            </a:pPr>
            <a:r>
              <a:rPr lang="en-US" sz="2400" dirty="0">
                <a:solidFill>
                  <a:srgbClr val="1A1F2B"/>
                </a:solidFill>
                <a:latin typeface="Calibri" pitchFamily="34" charset="0"/>
                <a:ea typeface="Calibri" pitchFamily="34" charset="-122"/>
                <a:cs typeface="Calibri" pitchFamily="34" charset="-120"/>
              </a:rPr>
              <a:t>Aim 1: treadmill</a:t>
            </a:r>
            <a:endParaRPr lang="en-US" sz="2400" dirty="0"/>
          </a:p>
        </p:txBody>
      </p:sp>
      <p:sp>
        <p:nvSpPr>
          <p:cNvPr id="27" name="Shape 24"/>
          <p:cNvSpPr/>
          <p:nvPr/>
        </p:nvSpPr>
        <p:spPr>
          <a:xfrm>
            <a:off x="6486362" y="3730752"/>
            <a:ext cx="1657023" cy="256032"/>
          </a:xfrm>
          <a:prstGeom prst="roundRect">
            <a:avLst>
              <a:gd name="adj" fmla="val 35714"/>
            </a:avLst>
          </a:prstGeom>
          <a:solidFill>
            <a:srgbClr val="BF5700"/>
          </a:solidFill>
          <a:ln w="12700">
            <a:solidFill>
              <a:srgbClr val="BF5700"/>
            </a:solidFill>
            <a:prstDash val="solid"/>
          </a:ln>
        </p:spPr>
      </p:sp>
      <p:sp>
        <p:nvSpPr>
          <p:cNvPr id="28" name="Text 25"/>
          <p:cNvSpPr txBox="1"/>
          <p:nvPr/>
        </p:nvSpPr>
        <p:spPr>
          <a:xfrm>
            <a:off x="822960" y="4069080"/>
            <a:ext cx="2560320" cy="420624"/>
          </a:xfrm>
          <a:prstGeom prst="rect">
            <a:avLst/>
          </a:prstGeom>
          <a:noFill/>
          <a:ln/>
        </p:spPr>
        <p:txBody>
          <a:bodyPr wrap="square" lIns="0" tIns="0" rIns="0" bIns="0" rtlCol="0" anchor="ctr"/>
          <a:lstStyle/>
          <a:p>
            <a:pPr indent="0" marL="0">
              <a:buNone/>
            </a:pPr>
            <a:r>
              <a:rPr lang="en-US" sz="2400" dirty="0">
                <a:solidFill>
                  <a:srgbClr val="1A1F2B"/>
                </a:solidFill>
                <a:latin typeface="Calibri" pitchFamily="34" charset="0"/>
                <a:ea typeface="Calibri" pitchFamily="34" charset="-122"/>
                <a:cs typeface="Calibri" pitchFamily="34" charset="-120"/>
              </a:rPr>
              <a:t>Aim 2: OpenSim</a:t>
            </a:r>
            <a:endParaRPr lang="en-US" sz="2400" dirty="0"/>
          </a:p>
        </p:txBody>
      </p:sp>
      <p:sp>
        <p:nvSpPr>
          <p:cNvPr id="29" name="Shape 26"/>
          <p:cNvSpPr/>
          <p:nvPr/>
        </p:nvSpPr>
        <p:spPr>
          <a:xfrm>
            <a:off x="7063087" y="4151376"/>
            <a:ext cx="2233749" cy="256032"/>
          </a:xfrm>
          <a:prstGeom prst="roundRect">
            <a:avLst>
              <a:gd name="adj" fmla="val 35714"/>
            </a:avLst>
          </a:prstGeom>
          <a:solidFill>
            <a:srgbClr val="BF5700"/>
          </a:solidFill>
          <a:ln w="12700">
            <a:solidFill>
              <a:srgbClr val="BF5700"/>
            </a:solidFill>
            <a:prstDash val="solid"/>
          </a:ln>
        </p:spPr>
      </p:sp>
      <p:sp>
        <p:nvSpPr>
          <p:cNvPr id="30" name="Shape 27"/>
          <p:cNvSpPr/>
          <p:nvPr/>
        </p:nvSpPr>
        <p:spPr>
          <a:xfrm>
            <a:off x="548640" y="4489704"/>
            <a:ext cx="11091672" cy="420624"/>
          </a:xfrm>
          <a:prstGeom prst="rect">
            <a:avLst/>
          </a:prstGeom>
          <a:solidFill>
            <a:srgbClr val="F1F3F6"/>
          </a:solidFill>
          <a:ln w="12700">
            <a:solidFill>
              <a:srgbClr val="F1F3F6"/>
            </a:solidFill>
            <a:prstDash val="solid"/>
          </a:ln>
        </p:spPr>
      </p:sp>
      <p:sp>
        <p:nvSpPr>
          <p:cNvPr id="31" name="Text 28"/>
          <p:cNvSpPr txBox="1"/>
          <p:nvPr/>
        </p:nvSpPr>
        <p:spPr>
          <a:xfrm>
            <a:off x="822960" y="4489704"/>
            <a:ext cx="2560320" cy="420624"/>
          </a:xfrm>
          <a:prstGeom prst="rect">
            <a:avLst/>
          </a:prstGeom>
          <a:noFill/>
          <a:ln/>
        </p:spPr>
        <p:txBody>
          <a:bodyPr wrap="square" lIns="0" tIns="0" rIns="0" bIns="0" rtlCol="0" anchor="ctr"/>
          <a:lstStyle/>
          <a:p>
            <a:pPr indent="0" marL="0">
              <a:buNone/>
            </a:pPr>
            <a:r>
              <a:rPr lang="en-US" sz="2400" dirty="0">
                <a:solidFill>
                  <a:srgbClr val="1A1F2B"/>
                </a:solidFill>
                <a:latin typeface="Calibri" pitchFamily="34" charset="0"/>
                <a:ea typeface="Calibri" pitchFamily="34" charset="-122"/>
                <a:cs typeface="Calibri" pitchFamily="34" charset="-120"/>
              </a:rPr>
              <a:t>Aim 3: outdoors</a:t>
            </a:r>
            <a:endParaRPr lang="en-US" sz="2400" dirty="0"/>
          </a:p>
        </p:txBody>
      </p:sp>
      <p:sp>
        <p:nvSpPr>
          <p:cNvPr id="32" name="Shape 29"/>
          <p:cNvSpPr/>
          <p:nvPr/>
        </p:nvSpPr>
        <p:spPr>
          <a:xfrm>
            <a:off x="8216537" y="4572000"/>
            <a:ext cx="1657023" cy="256032"/>
          </a:xfrm>
          <a:prstGeom prst="roundRect">
            <a:avLst>
              <a:gd name="adj" fmla="val 35714"/>
            </a:avLst>
          </a:prstGeom>
          <a:solidFill>
            <a:srgbClr val="BF5700"/>
          </a:solidFill>
          <a:ln w="12700">
            <a:solidFill>
              <a:srgbClr val="BF5700"/>
            </a:solidFill>
            <a:prstDash val="solid"/>
          </a:ln>
        </p:spPr>
      </p:sp>
      <p:sp>
        <p:nvSpPr>
          <p:cNvPr id="33" name="Shape 30"/>
          <p:cNvSpPr/>
          <p:nvPr/>
        </p:nvSpPr>
        <p:spPr>
          <a:xfrm>
            <a:off x="9727257" y="4517136"/>
            <a:ext cx="365760" cy="365760"/>
          </a:xfrm>
          <a:prstGeom prst="diamond">
            <a:avLst/>
          </a:prstGeom>
          <a:solidFill>
            <a:srgbClr val="FFFFFF"/>
          </a:solidFill>
          <a:ln w="22225">
            <a:solidFill>
              <a:srgbClr val="1A1F2B"/>
            </a:solidFill>
            <a:prstDash val="solid"/>
          </a:ln>
        </p:spPr>
      </p:sp>
      <p:sp>
        <p:nvSpPr>
          <p:cNvPr id="34" name="Text 31"/>
          <p:cNvSpPr txBox="1"/>
          <p:nvPr/>
        </p:nvSpPr>
        <p:spPr>
          <a:xfrm>
            <a:off x="822960" y="4910328"/>
            <a:ext cx="2560320" cy="420624"/>
          </a:xfrm>
          <a:prstGeom prst="rect">
            <a:avLst/>
          </a:prstGeom>
          <a:noFill/>
          <a:ln/>
        </p:spPr>
        <p:txBody>
          <a:bodyPr wrap="square" lIns="0" tIns="0" rIns="0" bIns="0" rtlCol="0" anchor="ctr"/>
          <a:lstStyle/>
          <a:p>
            <a:pPr indent="0" marL="0">
              <a:buNone/>
            </a:pPr>
            <a:r>
              <a:rPr lang="en-US" sz="2400" dirty="0">
                <a:solidFill>
                  <a:srgbClr val="1A1F2B"/>
                </a:solidFill>
                <a:latin typeface="Calibri" pitchFamily="34" charset="0"/>
                <a:ea typeface="Calibri" pitchFamily="34" charset="-122"/>
                <a:cs typeface="Calibri" pitchFamily="34" charset="-120"/>
              </a:rPr>
              <a:t>Analysis</a:t>
            </a:r>
            <a:endParaRPr lang="en-US" sz="2400" dirty="0"/>
          </a:p>
        </p:txBody>
      </p:sp>
      <p:sp>
        <p:nvSpPr>
          <p:cNvPr id="35" name="Shape 32"/>
          <p:cNvSpPr/>
          <p:nvPr/>
        </p:nvSpPr>
        <p:spPr>
          <a:xfrm>
            <a:off x="8793262" y="4992624"/>
            <a:ext cx="2233749" cy="256032"/>
          </a:xfrm>
          <a:prstGeom prst="roundRect">
            <a:avLst>
              <a:gd name="adj" fmla="val 35714"/>
            </a:avLst>
          </a:prstGeom>
          <a:solidFill>
            <a:srgbClr val="BF5700"/>
          </a:solidFill>
          <a:ln w="12700">
            <a:solidFill>
              <a:srgbClr val="BF5700"/>
            </a:solidFill>
            <a:prstDash val="solid"/>
          </a:ln>
        </p:spPr>
      </p:sp>
      <p:sp>
        <p:nvSpPr>
          <p:cNvPr id="36" name="Shape 33"/>
          <p:cNvSpPr/>
          <p:nvPr/>
        </p:nvSpPr>
        <p:spPr>
          <a:xfrm>
            <a:off x="10880707" y="4937760"/>
            <a:ext cx="365760" cy="365760"/>
          </a:xfrm>
          <a:prstGeom prst="diamond">
            <a:avLst/>
          </a:prstGeom>
          <a:solidFill>
            <a:srgbClr val="FFFFFF"/>
          </a:solidFill>
          <a:ln w="22225">
            <a:solidFill>
              <a:srgbClr val="1A1F2B"/>
            </a:solidFill>
            <a:prstDash val="solid"/>
          </a:ln>
        </p:spPr>
      </p:sp>
      <p:sp>
        <p:nvSpPr>
          <p:cNvPr id="37" name="Shape 34"/>
          <p:cNvSpPr/>
          <p:nvPr/>
        </p:nvSpPr>
        <p:spPr>
          <a:xfrm>
            <a:off x="548640" y="5330952"/>
            <a:ext cx="11091672" cy="420624"/>
          </a:xfrm>
          <a:prstGeom prst="rect">
            <a:avLst/>
          </a:prstGeom>
          <a:solidFill>
            <a:srgbClr val="F1F3F6"/>
          </a:solidFill>
          <a:ln w="12700">
            <a:solidFill>
              <a:srgbClr val="F1F3F6"/>
            </a:solidFill>
            <a:prstDash val="solid"/>
          </a:ln>
        </p:spPr>
      </p:sp>
      <p:sp>
        <p:nvSpPr>
          <p:cNvPr id="38" name="Text 35"/>
          <p:cNvSpPr txBox="1"/>
          <p:nvPr/>
        </p:nvSpPr>
        <p:spPr>
          <a:xfrm>
            <a:off x="822960" y="5330952"/>
            <a:ext cx="2560320" cy="420624"/>
          </a:xfrm>
          <a:prstGeom prst="rect">
            <a:avLst/>
          </a:prstGeom>
          <a:noFill/>
          <a:ln/>
        </p:spPr>
        <p:txBody>
          <a:bodyPr wrap="square" lIns="0" tIns="0" rIns="0" bIns="0" rtlCol="0" anchor="ctr"/>
          <a:lstStyle/>
          <a:p>
            <a:pPr indent="0" marL="0">
              <a:buNone/>
            </a:pPr>
            <a:r>
              <a:rPr lang="en-US" sz="2400" dirty="0">
                <a:solidFill>
                  <a:srgbClr val="1A1F2B"/>
                </a:solidFill>
                <a:latin typeface="Calibri" pitchFamily="34" charset="0"/>
                <a:ea typeface="Calibri" pitchFamily="34" charset="-122"/>
                <a:cs typeface="Calibri" pitchFamily="34" charset="-120"/>
              </a:rPr>
              <a:t>Poster + report</a:t>
            </a:r>
            <a:endParaRPr lang="en-US" sz="2400" dirty="0"/>
          </a:p>
        </p:txBody>
      </p:sp>
      <p:sp>
        <p:nvSpPr>
          <p:cNvPr id="39" name="Shape 36"/>
          <p:cNvSpPr/>
          <p:nvPr/>
        </p:nvSpPr>
        <p:spPr>
          <a:xfrm>
            <a:off x="9946713" y="5413248"/>
            <a:ext cx="1657023" cy="256032"/>
          </a:xfrm>
          <a:prstGeom prst="roundRect">
            <a:avLst>
              <a:gd name="adj" fmla="val 35714"/>
            </a:avLst>
          </a:prstGeom>
          <a:solidFill>
            <a:srgbClr val="1A1F2B"/>
          </a:solidFill>
          <a:ln w="12700">
            <a:solidFill>
              <a:srgbClr val="1A1F2B"/>
            </a:solidFill>
            <a:prstDash val="solid"/>
          </a:ln>
        </p:spPr>
      </p:sp>
      <p:sp>
        <p:nvSpPr>
          <p:cNvPr id="40" name="Shape 37"/>
          <p:cNvSpPr/>
          <p:nvPr/>
        </p:nvSpPr>
        <p:spPr>
          <a:xfrm>
            <a:off x="11256264" y="5358384"/>
            <a:ext cx="365760" cy="365760"/>
          </a:xfrm>
          <a:prstGeom prst="diamond">
            <a:avLst/>
          </a:prstGeom>
          <a:solidFill>
            <a:srgbClr val="FFFFFF"/>
          </a:solidFill>
          <a:ln w="22225">
            <a:solidFill>
              <a:srgbClr val="1A1F2B"/>
            </a:solidFill>
            <a:prstDash val="solid"/>
          </a:ln>
        </p:spPr>
      </p:sp>
      <p:sp>
        <p:nvSpPr>
          <p:cNvPr id="41" name="Shape 38"/>
          <p:cNvSpPr/>
          <p:nvPr/>
        </p:nvSpPr>
        <p:spPr>
          <a:xfrm>
            <a:off x="4884389" y="1965960"/>
            <a:ext cx="914" cy="3785616"/>
          </a:xfrm>
          <a:prstGeom prst="line">
            <a:avLst/>
          </a:prstGeom>
          <a:noFill/>
          <a:ln w="22225">
            <a:solidFill>
              <a:srgbClr val="C0392B"/>
            </a:solidFill>
            <a:prstDash val="dash"/>
          </a:ln>
        </p:spPr>
      </p:sp>
      <p:sp>
        <p:nvSpPr>
          <p:cNvPr id="42" name="Text 39"/>
          <p:cNvSpPr txBox="1"/>
          <p:nvPr/>
        </p:nvSpPr>
        <p:spPr>
          <a:xfrm>
            <a:off x="4335749" y="5797296"/>
            <a:ext cx="1097280" cy="365760"/>
          </a:xfrm>
          <a:prstGeom prst="rect">
            <a:avLst/>
          </a:prstGeom>
          <a:noFill/>
          <a:ln/>
        </p:spPr>
        <p:txBody>
          <a:bodyPr wrap="square" lIns="0" tIns="0" rIns="0" bIns="0" rtlCol="0" anchor="t"/>
          <a:lstStyle/>
          <a:p>
            <a:pPr algn="ctr" indent="0" marL="0">
              <a:buNone/>
            </a:pPr>
            <a:r>
              <a:rPr lang="en-US" sz="2000" b="1" dirty="0">
                <a:solidFill>
                  <a:srgbClr val="C0392B"/>
                </a:solidFill>
                <a:latin typeface="Calibri" pitchFamily="34" charset="0"/>
                <a:ea typeface="Calibri" pitchFamily="34" charset="-122"/>
                <a:cs typeface="Calibri" pitchFamily="34" charset="-120"/>
              </a:rPr>
              <a:t>today</a:t>
            </a:r>
            <a:endParaRPr lang="en-US" sz="2000" dirty="0"/>
          </a:p>
        </p:txBody>
      </p:sp>
      <p:sp>
        <p:nvSpPr>
          <p:cNvPr id="43" name="Shape 40"/>
          <p:cNvSpPr/>
          <p:nvPr/>
        </p:nvSpPr>
        <p:spPr>
          <a:xfrm>
            <a:off x="822960" y="5925312"/>
            <a:ext cx="347472" cy="347472"/>
          </a:xfrm>
          <a:prstGeom prst="diamond">
            <a:avLst/>
          </a:prstGeom>
          <a:solidFill>
            <a:srgbClr val="FFFFFF"/>
          </a:solidFill>
          <a:ln w="22225">
            <a:solidFill>
              <a:srgbClr val="1A1F2B"/>
            </a:solidFill>
            <a:prstDash val="solid"/>
          </a:ln>
        </p:spPr>
      </p:sp>
      <p:sp>
        <p:nvSpPr>
          <p:cNvPr id="44" name="Text 41"/>
          <p:cNvSpPr txBox="1"/>
          <p:nvPr/>
        </p:nvSpPr>
        <p:spPr>
          <a:xfrm>
            <a:off x="1280160" y="5897880"/>
            <a:ext cx="2194560" cy="411480"/>
          </a:xfrm>
          <a:prstGeom prst="rect">
            <a:avLst/>
          </a:prstGeom>
          <a:noFill/>
          <a:ln/>
        </p:spPr>
        <p:txBody>
          <a:bodyPr wrap="square" lIns="0" tIns="0" rIns="0" bIns="0" rtlCol="0" anchor="ctr"/>
          <a:lstStyle/>
          <a:p>
            <a:pPr indent="0" marL="0">
              <a:buNone/>
            </a:pPr>
            <a:r>
              <a:rPr lang="en-US" sz="2400" dirty="0">
                <a:solidFill>
                  <a:srgbClr val="1A1F2B"/>
                </a:solidFill>
                <a:latin typeface="Calibri" pitchFamily="34" charset="0"/>
                <a:ea typeface="Calibri" pitchFamily="34" charset="-122"/>
                <a:cs typeface="Calibri" pitchFamily="34" charset="-120"/>
              </a:rPr>
              <a:t>= deliverable</a:t>
            </a:r>
            <a:endParaRPr lang="en-US" sz="2400" dirty="0"/>
          </a:p>
        </p:txBody>
      </p:sp>
      <p:sp>
        <p:nvSpPr>
          <p:cNvPr id="45" name="Text 4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200" dirty="0">
                <a:solidFill>
                  <a:srgbClr val="5B6472"/>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548640"/>
            <a:ext cx="11091672" cy="731520"/>
          </a:xfrm>
          <a:prstGeom prst="rect">
            <a:avLst/>
          </a:prstGeom>
          <a:noFill/>
          <a:ln/>
        </p:spPr>
        <p:txBody>
          <a:bodyPr wrap="square" lIns="0" tIns="0" rIns="0" bIns="0" rtlCol="0" anchor="t"/>
          <a:lstStyle/>
          <a:p>
            <a:pPr indent="0" marL="0">
              <a:buNone/>
            </a:pPr>
            <a:r>
              <a:rPr lang="en-US" sz="3800" b="1" dirty="0">
                <a:solidFill>
                  <a:srgbClr val="1A1F2B"/>
                </a:solidFill>
                <a:latin typeface="Arial" pitchFamily="34" charset="0"/>
                <a:ea typeface="Arial" pitchFamily="34" charset="-122"/>
                <a:cs typeface="Arial" pitchFamily="34" charset="-120"/>
              </a:rPr>
              <a:t>Three workstreams, low cost</a:t>
            </a:r>
            <a:endParaRPr lang="en-US" sz="3800" dirty="0"/>
          </a:p>
        </p:txBody>
      </p:sp>
      <p:sp>
        <p:nvSpPr>
          <p:cNvPr id="3" name="Shape 1"/>
          <p:cNvSpPr/>
          <p:nvPr/>
        </p:nvSpPr>
        <p:spPr>
          <a:xfrm>
            <a:off x="548640" y="1554480"/>
            <a:ext cx="6766560" cy="982980"/>
          </a:xfrm>
          <a:prstGeom prst="roundRect">
            <a:avLst>
              <a:gd name="adj" fmla="val 7442"/>
            </a:avLst>
          </a:prstGeom>
          <a:solidFill>
            <a:srgbClr val="F1F3F6"/>
          </a:solidFill>
          <a:ln w="12700">
            <a:solidFill>
              <a:srgbClr val="F1F3F6"/>
            </a:solidFill>
            <a:prstDash val="solid"/>
          </a:ln>
        </p:spPr>
      </p:sp>
      <p:sp>
        <p:nvSpPr>
          <p:cNvPr id="4" name="Shape 2"/>
          <p:cNvSpPr/>
          <p:nvPr/>
        </p:nvSpPr>
        <p:spPr>
          <a:xfrm>
            <a:off x="822960" y="1725930"/>
            <a:ext cx="640080" cy="640080"/>
          </a:xfrm>
          <a:prstGeom prst="ellipse">
            <a:avLst/>
          </a:prstGeom>
          <a:solidFill>
            <a:srgbClr val="BF5700"/>
          </a:solidFill>
          <a:ln w="12700">
            <a:solidFill>
              <a:srgbClr val="BF5700"/>
            </a:solidFill>
            <a:prstDash val="solid"/>
          </a:ln>
        </p:spPr>
      </p:sp>
      <p:pic>
        <p:nvPicPr>
          <p:cNvPr id="5" name="Image 0" descr="preencoded.png">    </p:cNvPr>
          <p:cNvPicPr>
            <a:picLocks noChangeAspect="1"/>
          </p:cNvPicPr>
          <p:nvPr/>
        </p:nvPicPr>
        <p:blipFill>
          <a:blip r:embed="rId1"/>
          <a:stretch>
            <a:fillRect/>
          </a:stretch>
        </p:blipFill>
        <p:spPr>
          <a:xfrm>
            <a:off x="982980" y="1885950"/>
            <a:ext cx="320040" cy="320040"/>
          </a:xfrm>
          <a:prstGeom prst="rect">
            <a:avLst/>
          </a:prstGeom>
        </p:spPr>
      </p:pic>
      <p:sp>
        <p:nvSpPr>
          <p:cNvPr id="6" name="Text 3"/>
          <p:cNvSpPr txBox="1"/>
          <p:nvPr/>
        </p:nvSpPr>
        <p:spPr>
          <a:xfrm>
            <a:off x="1737360" y="1554480"/>
            <a:ext cx="5303520" cy="982980"/>
          </a:xfrm>
          <a:prstGeom prst="rect">
            <a:avLst/>
          </a:prstGeom>
          <a:noFill/>
          <a:ln/>
        </p:spPr>
        <p:txBody>
          <a:bodyPr wrap="square" lIns="0" tIns="0" rIns="0" bIns="0" rtlCol="0" anchor="ctr"/>
          <a:lstStyle/>
          <a:p>
            <a:pPr indent="0" marL="0">
              <a:buNone/>
            </a:pPr>
            <a:r>
              <a:rPr lang="en-US" sz="2600" b="1" dirty="0">
                <a:solidFill>
                  <a:srgbClr val="1A1F2B"/>
                </a:solidFill>
                <a:latin typeface="Arial" pitchFamily="34" charset="0"/>
                <a:ea typeface="Arial" pitchFamily="34" charset="-122"/>
                <a:cs typeface="Arial" pitchFamily="34" charset="-120"/>
              </a:rPr>
              <a:t>MoCap  </a:t>
            </a:r>
            <a:pPr indent="0" marL="0">
              <a:buNone/>
            </a:pPr>
            <a:r>
              <a:rPr lang="en-US" sz="2400" dirty="0">
                <a:solidFill>
                  <a:srgbClr val="5B6472"/>
                </a:solidFill>
                <a:latin typeface="Calibri" pitchFamily="34" charset="0"/>
                <a:ea typeface="Calibri" pitchFamily="34" charset="-122"/>
                <a:cs typeface="Calibri" pitchFamily="34" charset="-120"/>
              </a:rPr>
              <a:t>OpenCap, Theia3D, PBL</a:t>
            </a:r>
            <a:endParaRPr lang="en-US" sz="2400" dirty="0"/>
          </a:p>
        </p:txBody>
      </p:sp>
      <p:sp>
        <p:nvSpPr>
          <p:cNvPr id="7" name="Shape 4"/>
          <p:cNvSpPr/>
          <p:nvPr/>
        </p:nvSpPr>
        <p:spPr>
          <a:xfrm>
            <a:off x="548640" y="2811780"/>
            <a:ext cx="6766560" cy="982980"/>
          </a:xfrm>
          <a:prstGeom prst="roundRect">
            <a:avLst>
              <a:gd name="adj" fmla="val 7442"/>
            </a:avLst>
          </a:prstGeom>
          <a:solidFill>
            <a:srgbClr val="F1F3F6"/>
          </a:solidFill>
          <a:ln w="12700">
            <a:solidFill>
              <a:srgbClr val="F1F3F6"/>
            </a:solidFill>
            <a:prstDash val="solid"/>
          </a:ln>
        </p:spPr>
      </p:sp>
      <p:sp>
        <p:nvSpPr>
          <p:cNvPr id="8" name="Shape 5"/>
          <p:cNvSpPr/>
          <p:nvPr/>
        </p:nvSpPr>
        <p:spPr>
          <a:xfrm>
            <a:off x="822960" y="2983230"/>
            <a:ext cx="640080" cy="640080"/>
          </a:xfrm>
          <a:prstGeom prst="ellipse">
            <a:avLst/>
          </a:prstGeom>
          <a:solidFill>
            <a:srgbClr val="BF5700"/>
          </a:solidFill>
          <a:ln w="12700">
            <a:solidFill>
              <a:srgbClr val="BF5700"/>
            </a:solidFill>
            <a:prstDash val="solid"/>
          </a:ln>
        </p:spPr>
      </p:sp>
      <p:pic>
        <p:nvPicPr>
          <p:cNvPr id="9" name="Image 1" descr="preencoded.png">    </p:cNvPr>
          <p:cNvPicPr>
            <a:picLocks noChangeAspect="1"/>
          </p:cNvPicPr>
          <p:nvPr/>
        </p:nvPicPr>
        <p:blipFill>
          <a:blip r:embed="rId2"/>
          <a:stretch>
            <a:fillRect/>
          </a:stretch>
        </p:blipFill>
        <p:spPr>
          <a:xfrm>
            <a:off x="982980" y="3143250"/>
            <a:ext cx="320040" cy="320040"/>
          </a:xfrm>
          <a:prstGeom prst="rect">
            <a:avLst/>
          </a:prstGeom>
        </p:spPr>
      </p:pic>
      <p:sp>
        <p:nvSpPr>
          <p:cNvPr id="10" name="Text 6"/>
          <p:cNvSpPr txBox="1"/>
          <p:nvPr/>
        </p:nvSpPr>
        <p:spPr>
          <a:xfrm>
            <a:off x="1737360" y="2811780"/>
            <a:ext cx="5303520" cy="982980"/>
          </a:xfrm>
          <a:prstGeom prst="rect">
            <a:avLst/>
          </a:prstGeom>
          <a:noFill/>
          <a:ln/>
        </p:spPr>
        <p:txBody>
          <a:bodyPr wrap="square" lIns="0" tIns="0" rIns="0" bIns="0" rtlCol="0" anchor="ctr"/>
          <a:lstStyle/>
          <a:p>
            <a:pPr indent="0" marL="0">
              <a:buNone/>
            </a:pPr>
            <a:r>
              <a:rPr lang="en-US" sz="2600" b="1" dirty="0">
                <a:solidFill>
                  <a:srgbClr val="1A1F2B"/>
                </a:solidFill>
                <a:latin typeface="Arial" pitchFamily="34" charset="0"/>
                <a:ea typeface="Arial" pitchFamily="34" charset="-122"/>
                <a:cs typeface="Arial" pitchFamily="34" charset="-120"/>
              </a:rPr>
              <a:t>CAD  </a:t>
            </a:r>
            <a:pPr indent="0" marL="0">
              <a:buNone/>
            </a:pPr>
            <a:r>
              <a:rPr lang="en-US" sz="2400" dirty="0">
                <a:solidFill>
                  <a:srgbClr val="5B6472"/>
                </a:solidFill>
                <a:latin typeface="Calibri" pitchFamily="34" charset="0"/>
                <a:ea typeface="Calibri" pitchFamily="34" charset="-122"/>
                <a:cs typeface="Calibri" pitchFamily="34" charset="-120"/>
              </a:rPr>
              <a:t>phone and board holders</a:t>
            </a:r>
            <a:endParaRPr lang="en-US" sz="2400" dirty="0"/>
          </a:p>
        </p:txBody>
      </p:sp>
      <p:sp>
        <p:nvSpPr>
          <p:cNvPr id="11" name="Shape 7"/>
          <p:cNvSpPr/>
          <p:nvPr/>
        </p:nvSpPr>
        <p:spPr>
          <a:xfrm>
            <a:off x="548640" y="4069080"/>
            <a:ext cx="6766560" cy="982980"/>
          </a:xfrm>
          <a:prstGeom prst="roundRect">
            <a:avLst>
              <a:gd name="adj" fmla="val 7442"/>
            </a:avLst>
          </a:prstGeom>
          <a:solidFill>
            <a:srgbClr val="F1F3F6"/>
          </a:solidFill>
          <a:ln w="12700">
            <a:solidFill>
              <a:srgbClr val="F1F3F6"/>
            </a:solidFill>
            <a:prstDash val="solid"/>
          </a:ln>
        </p:spPr>
      </p:sp>
      <p:sp>
        <p:nvSpPr>
          <p:cNvPr id="12" name="Shape 8"/>
          <p:cNvSpPr/>
          <p:nvPr/>
        </p:nvSpPr>
        <p:spPr>
          <a:xfrm>
            <a:off x="822960" y="4240530"/>
            <a:ext cx="640080" cy="640080"/>
          </a:xfrm>
          <a:prstGeom prst="ellipse">
            <a:avLst/>
          </a:prstGeom>
          <a:solidFill>
            <a:srgbClr val="BF5700"/>
          </a:solidFill>
          <a:ln w="12700">
            <a:solidFill>
              <a:srgbClr val="BF5700"/>
            </a:solidFill>
            <a:prstDash val="solid"/>
          </a:ln>
        </p:spPr>
      </p:sp>
      <p:pic>
        <p:nvPicPr>
          <p:cNvPr id="13" name="Image 2" descr="preencoded.png">    </p:cNvPr>
          <p:cNvPicPr>
            <a:picLocks noChangeAspect="1"/>
          </p:cNvPicPr>
          <p:nvPr/>
        </p:nvPicPr>
        <p:blipFill>
          <a:blip r:embed="rId3"/>
          <a:stretch>
            <a:fillRect/>
          </a:stretch>
        </p:blipFill>
        <p:spPr>
          <a:xfrm>
            <a:off x="982980" y="4400550"/>
            <a:ext cx="320040" cy="320040"/>
          </a:xfrm>
          <a:prstGeom prst="rect">
            <a:avLst/>
          </a:prstGeom>
        </p:spPr>
      </p:pic>
      <p:sp>
        <p:nvSpPr>
          <p:cNvPr id="14" name="Text 9"/>
          <p:cNvSpPr txBox="1"/>
          <p:nvPr/>
        </p:nvSpPr>
        <p:spPr>
          <a:xfrm>
            <a:off x="1737360" y="4069080"/>
            <a:ext cx="5303520" cy="982980"/>
          </a:xfrm>
          <a:prstGeom prst="rect">
            <a:avLst/>
          </a:prstGeom>
          <a:noFill/>
          <a:ln/>
        </p:spPr>
        <p:txBody>
          <a:bodyPr wrap="square" lIns="0" tIns="0" rIns="0" bIns="0" rtlCol="0" anchor="ctr"/>
          <a:lstStyle/>
          <a:p>
            <a:pPr indent="0" marL="0">
              <a:buNone/>
            </a:pPr>
            <a:r>
              <a:rPr lang="en-US" sz="2600" b="1" dirty="0">
                <a:solidFill>
                  <a:srgbClr val="1A1F2B"/>
                </a:solidFill>
                <a:latin typeface="Arial" pitchFamily="34" charset="0"/>
                <a:ea typeface="Arial" pitchFamily="34" charset="-122"/>
                <a:cs typeface="Arial" pitchFamily="34" charset="-120"/>
              </a:rPr>
              <a:t>Sim  </a:t>
            </a:r>
            <a:pPr indent="0" marL="0">
              <a:buNone/>
            </a:pPr>
            <a:r>
              <a:rPr lang="en-US" sz="2400" dirty="0">
                <a:solidFill>
                  <a:srgbClr val="5B6472"/>
                </a:solidFill>
                <a:latin typeface="Calibri" pitchFamily="34" charset="0"/>
                <a:ea typeface="Calibri" pitchFamily="34" charset="-122"/>
                <a:cs typeface="Calibri" pitchFamily="34" charset="-120"/>
              </a:rPr>
              <a:t>OpenSim inverse dynamics</a:t>
            </a:r>
            <a:endParaRPr lang="en-US" sz="2400" dirty="0"/>
          </a:p>
        </p:txBody>
      </p:sp>
      <p:sp>
        <p:nvSpPr>
          <p:cNvPr id="15" name="Shape 10"/>
          <p:cNvSpPr/>
          <p:nvPr/>
        </p:nvSpPr>
        <p:spPr>
          <a:xfrm>
            <a:off x="548640" y="5326380"/>
            <a:ext cx="6766560" cy="982980"/>
          </a:xfrm>
          <a:prstGeom prst="roundRect">
            <a:avLst>
              <a:gd name="adj" fmla="val 7442"/>
            </a:avLst>
          </a:prstGeom>
          <a:solidFill>
            <a:srgbClr val="F6E3D6"/>
          </a:solidFill>
          <a:ln w="12700">
            <a:solidFill>
              <a:srgbClr val="F6E3D6"/>
            </a:solidFill>
            <a:prstDash val="solid"/>
          </a:ln>
        </p:spPr>
      </p:sp>
      <p:sp>
        <p:nvSpPr>
          <p:cNvPr id="16" name="Shape 11"/>
          <p:cNvSpPr/>
          <p:nvPr/>
        </p:nvSpPr>
        <p:spPr>
          <a:xfrm>
            <a:off x="822960" y="5497830"/>
            <a:ext cx="640080" cy="640080"/>
          </a:xfrm>
          <a:prstGeom prst="ellipse">
            <a:avLst/>
          </a:prstGeom>
          <a:solidFill>
            <a:srgbClr val="1A1F2B"/>
          </a:solidFill>
          <a:ln w="12700">
            <a:solidFill>
              <a:srgbClr val="1A1F2B"/>
            </a:solidFill>
            <a:prstDash val="solid"/>
          </a:ln>
        </p:spPr>
      </p:sp>
      <p:pic>
        <p:nvPicPr>
          <p:cNvPr id="17" name="Image 3" descr="preencoded.png">    </p:cNvPr>
          <p:cNvPicPr>
            <a:picLocks noChangeAspect="1"/>
          </p:cNvPicPr>
          <p:nvPr/>
        </p:nvPicPr>
        <p:blipFill>
          <a:blip r:embed="rId4"/>
          <a:stretch>
            <a:fillRect/>
          </a:stretch>
        </p:blipFill>
        <p:spPr>
          <a:xfrm>
            <a:off x="982980" y="5657850"/>
            <a:ext cx="320040" cy="320040"/>
          </a:xfrm>
          <a:prstGeom prst="rect">
            <a:avLst/>
          </a:prstGeom>
        </p:spPr>
      </p:pic>
      <p:sp>
        <p:nvSpPr>
          <p:cNvPr id="18" name="Text 12"/>
          <p:cNvSpPr txBox="1"/>
          <p:nvPr/>
        </p:nvSpPr>
        <p:spPr>
          <a:xfrm>
            <a:off x="1737360" y="5326380"/>
            <a:ext cx="5303520" cy="982980"/>
          </a:xfrm>
          <a:prstGeom prst="rect">
            <a:avLst/>
          </a:prstGeom>
          <a:noFill/>
          <a:ln/>
        </p:spPr>
        <p:txBody>
          <a:bodyPr wrap="square" lIns="0" tIns="0" rIns="0" bIns="0" rtlCol="0" anchor="ctr"/>
          <a:lstStyle/>
          <a:p>
            <a:pPr indent="0" marL="0">
              <a:buNone/>
            </a:pPr>
            <a:r>
              <a:rPr lang="en-US" sz="2600" b="1" dirty="0">
                <a:solidFill>
                  <a:srgbClr val="BF5700"/>
                </a:solidFill>
                <a:latin typeface="Arial" pitchFamily="34" charset="0"/>
                <a:ea typeface="Arial" pitchFamily="34" charset="-122"/>
                <a:cs typeface="Arial" pitchFamily="34" charset="-120"/>
              </a:rPr>
              <a:t>Weekly  </a:t>
            </a:r>
            <a:pPr indent="0" marL="0">
              <a:buNone/>
            </a:pPr>
            <a:r>
              <a:rPr lang="en-US" sz="2400" dirty="0">
                <a:solidFill>
                  <a:srgbClr val="1A1F2B"/>
                </a:solidFill>
                <a:latin typeface="Calibri" pitchFamily="34" charset="0"/>
                <a:ea typeface="Calibri" pitchFamily="34" charset="-122"/>
                <a:cs typeface="Calibri" pitchFamily="34" charset="-120"/>
              </a:rPr>
              <a:t>check-ins with Finn and Dr. Fey</a:t>
            </a:r>
            <a:endParaRPr lang="en-US" sz="2400" dirty="0"/>
          </a:p>
        </p:txBody>
      </p:sp>
      <p:sp>
        <p:nvSpPr>
          <p:cNvPr id="19" name="Shape 13"/>
          <p:cNvSpPr/>
          <p:nvPr/>
        </p:nvSpPr>
        <p:spPr>
          <a:xfrm>
            <a:off x="7589520" y="1554480"/>
            <a:ext cx="4050792" cy="4754880"/>
          </a:xfrm>
          <a:prstGeom prst="roundRect">
            <a:avLst>
              <a:gd name="adj" fmla="val 1806"/>
            </a:avLst>
          </a:prstGeom>
          <a:solidFill>
            <a:srgbClr val="1A1F2B"/>
          </a:solidFill>
          <a:ln w="12700">
            <a:solidFill>
              <a:srgbClr val="1A1F2B"/>
            </a:solidFill>
            <a:prstDash val="solid"/>
          </a:ln>
        </p:spPr>
      </p:sp>
      <p:sp>
        <p:nvSpPr>
          <p:cNvPr id="20" name="Text 14"/>
          <p:cNvSpPr txBox="1"/>
          <p:nvPr/>
        </p:nvSpPr>
        <p:spPr>
          <a:xfrm>
            <a:off x="7863840" y="1828800"/>
            <a:ext cx="3502152" cy="1097280"/>
          </a:xfrm>
          <a:prstGeom prst="rect">
            <a:avLst/>
          </a:prstGeom>
          <a:noFill/>
          <a:ln/>
        </p:spPr>
        <p:txBody>
          <a:bodyPr wrap="square" lIns="0" tIns="0" rIns="0" bIns="0" rtlCol="0" anchor="t"/>
          <a:lstStyle/>
          <a:p>
            <a:pPr indent="0" marL="0">
              <a:buNone/>
            </a:pPr>
            <a:r>
              <a:rPr lang="en-US" sz="6600" b="1" dirty="0">
                <a:solidFill>
                  <a:srgbClr val="BF5700"/>
                </a:solidFill>
                <a:latin typeface="Arial" pitchFamily="34" charset="0"/>
                <a:ea typeface="Arial" pitchFamily="34" charset="-122"/>
                <a:cs typeface="Arial" pitchFamily="34" charset="-120"/>
              </a:rPr>
              <a:t>~$130</a:t>
            </a:r>
            <a:endParaRPr lang="en-US" sz="6600" dirty="0"/>
          </a:p>
        </p:txBody>
      </p:sp>
      <p:sp>
        <p:nvSpPr>
          <p:cNvPr id="21" name="Text 15"/>
          <p:cNvSpPr txBox="1"/>
          <p:nvPr/>
        </p:nvSpPr>
        <p:spPr>
          <a:xfrm>
            <a:off x="7863840" y="2926080"/>
            <a:ext cx="3502152" cy="45720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in materials</a:t>
            </a:r>
            <a:endParaRPr lang="en-US" sz="2400" dirty="0"/>
          </a:p>
        </p:txBody>
      </p:sp>
      <p:sp>
        <p:nvSpPr>
          <p:cNvPr id="22" name="Shape 16"/>
          <p:cNvSpPr/>
          <p:nvPr/>
        </p:nvSpPr>
        <p:spPr>
          <a:xfrm>
            <a:off x="7863840" y="3657600"/>
            <a:ext cx="3502152" cy="914"/>
          </a:xfrm>
          <a:prstGeom prst="line">
            <a:avLst/>
          </a:prstGeom>
          <a:noFill/>
          <a:ln w="12700">
            <a:solidFill>
              <a:srgbClr val="3E4758"/>
            </a:solidFill>
            <a:prstDash val="solid"/>
          </a:ln>
        </p:spPr>
      </p:sp>
      <p:sp>
        <p:nvSpPr>
          <p:cNvPr id="23" name="Text 17"/>
          <p:cNvSpPr txBox="1"/>
          <p:nvPr/>
        </p:nvSpPr>
        <p:spPr>
          <a:xfrm>
            <a:off x="7863840" y="3931920"/>
            <a:ext cx="3502152" cy="2103120"/>
          </a:xfrm>
          <a:prstGeom prst="rect">
            <a:avLst/>
          </a:prstGeom>
          <a:noFill/>
          <a:ln/>
        </p:spPr>
        <p:txBody>
          <a:bodyPr wrap="square" lIns="0" tIns="0" rIns="0" bIns="0" rtlCol="0" anchor="t"/>
          <a:lstStyle/>
          <a:p>
            <a:pPr indent="0" marL="0">
              <a:buNone/>
            </a:pPr>
            <a:r>
              <a:rPr lang="en-US" sz="2400" dirty="0">
                <a:solidFill>
                  <a:srgbClr val="C9CFD9"/>
                </a:solidFill>
                <a:latin typeface="Calibri" pitchFamily="34" charset="0"/>
                <a:ea typeface="Calibri" pitchFamily="34" charset="-122"/>
                <a:cs typeface="Calibri" pitchFamily="34" charset="-120"/>
              </a:rPr>
              <a:t>The lab already owns the expensive equipment. The software is free.</a:t>
            </a:r>
            <a:endParaRPr lang="en-US" sz="2400" dirty="0"/>
          </a:p>
        </p:txBody>
      </p:sp>
      <p:sp>
        <p:nvSpPr>
          <p:cNvPr id="24" name="Text 18"/>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200" dirty="0">
                <a:solidFill>
                  <a:srgbClr val="5B6472"/>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F2B"/>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731520"/>
          </a:xfrm>
          <a:prstGeom prst="rect">
            <a:avLst/>
          </a:prstGeom>
          <a:noFill/>
          <a:ln/>
        </p:spPr>
        <p:txBody>
          <a:bodyPr wrap="square" lIns="0" tIns="0" rIns="0" bIns="0" rtlCol="0" anchor="t"/>
          <a:lstStyle/>
          <a:p>
            <a:pPr indent="0" marL="0">
              <a:buNone/>
            </a:pPr>
            <a:r>
              <a:rPr lang="en-US" sz="3800" b="1" dirty="0">
                <a:solidFill>
                  <a:srgbClr val="FFFFFF"/>
                </a:solidFill>
                <a:latin typeface="Arial" pitchFamily="34" charset="0"/>
                <a:ea typeface="Arial" pitchFamily="34" charset="-122"/>
                <a:cs typeface="Arial" pitchFamily="34" charset="-120"/>
              </a:rPr>
              <a:t>Risks and what we need</a:t>
            </a:r>
            <a:endParaRPr lang="en-US" sz="3800" dirty="0"/>
          </a:p>
        </p:txBody>
      </p:sp>
      <p:sp>
        <p:nvSpPr>
          <p:cNvPr id="3" name="Shape 1"/>
          <p:cNvSpPr/>
          <p:nvPr/>
        </p:nvSpPr>
        <p:spPr>
          <a:xfrm>
            <a:off x="548640" y="1554480"/>
            <a:ext cx="6766560" cy="1402080"/>
          </a:xfrm>
          <a:prstGeom prst="roundRect">
            <a:avLst>
              <a:gd name="adj" fmla="val 5217"/>
            </a:avLst>
          </a:prstGeom>
          <a:solidFill>
            <a:srgbClr val="2A3140"/>
          </a:solidFill>
          <a:ln w="12700">
            <a:solidFill>
              <a:srgbClr val="2A3140"/>
            </a:solidFill>
            <a:prstDash val="solid"/>
          </a:ln>
        </p:spPr>
      </p:sp>
      <p:sp>
        <p:nvSpPr>
          <p:cNvPr id="4" name="Shape 2"/>
          <p:cNvSpPr/>
          <p:nvPr/>
        </p:nvSpPr>
        <p:spPr>
          <a:xfrm>
            <a:off x="822960" y="1926336"/>
            <a:ext cx="658368" cy="658368"/>
          </a:xfrm>
          <a:prstGeom prst="ellipse">
            <a:avLst/>
          </a:prstGeom>
          <a:solidFill>
            <a:srgbClr val="1A1F2B"/>
          </a:solidFill>
          <a:ln w="12700">
            <a:solidFill>
              <a:srgbClr val="1A1F2B"/>
            </a:solidFill>
            <a:prstDash val="solid"/>
          </a:ln>
        </p:spPr>
      </p:sp>
      <p:pic>
        <p:nvPicPr>
          <p:cNvPr id="5" name="Image 0" descr="preencoded.png">    </p:cNvPr>
          <p:cNvPicPr>
            <a:picLocks noChangeAspect="1"/>
          </p:cNvPicPr>
          <p:nvPr/>
        </p:nvPicPr>
        <p:blipFill>
          <a:blip r:embed="rId1"/>
          <a:stretch>
            <a:fillRect/>
          </a:stretch>
        </p:blipFill>
        <p:spPr>
          <a:xfrm>
            <a:off x="987552" y="2090928"/>
            <a:ext cx="329184" cy="329184"/>
          </a:xfrm>
          <a:prstGeom prst="rect">
            <a:avLst/>
          </a:prstGeom>
        </p:spPr>
      </p:pic>
      <p:sp>
        <p:nvSpPr>
          <p:cNvPr id="6" name="Text 3"/>
          <p:cNvSpPr txBox="1"/>
          <p:nvPr/>
        </p:nvSpPr>
        <p:spPr>
          <a:xfrm>
            <a:off x="1783080" y="1554480"/>
            <a:ext cx="5257800" cy="1402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Systems aren't synced</a:t>
            </a:r>
            <a:endParaRPr lang="en-US" sz="2400" dirty="0"/>
          </a:p>
          <a:p>
            <a:pPr indent="0" marL="0">
              <a:buNone/>
            </a:pPr>
            <a:r>
              <a:rPr lang="en-US" sz="2400" dirty="0">
                <a:solidFill>
                  <a:srgbClr val="F2B98F"/>
                </a:solidFill>
                <a:latin typeface="Calibri" pitchFamily="34" charset="0"/>
                <a:ea typeface="Calibri" pitchFamily="34" charset="-122"/>
                <a:cs typeface="Calibri" pitchFamily="34" charset="-120"/>
              </a:rPr>
              <a:t>→ Stomp to sync</a:t>
            </a:r>
            <a:endParaRPr lang="en-US" sz="2400" dirty="0"/>
          </a:p>
        </p:txBody>
      </p:sp>
      <p:sp>
        <p:nvSpPr>
          <p:cNvPr id="7" name="Shape 4"/>
          <p:cNvSpPr/>
          <p:nvPr/>
        </p:nvSpPr>
        <p:spPr>
          <a:xfrm>
            <a:off x="548640" y="3230880"/>
            <a:ext cx="6766560" cy="1402080"/>
          </a:xfrm>
          <a:prstGeom prst="roundRect">
            <a:avLst>
              <a:gd name="adj" fmla="val 5217"/>
            </a:avLst>
          </a:prstGeom>
          <a:solidFill>
            <a:srgbClr val="2A3140"/>
          </a:solidFill>
          <a:ln w="12700">
            <a:solidFill>
              <a:srgbClr val="2A3140"/>
            </a:solidFill>
            <a:prstDash val="solid"/>
          </a:ln>
        </p:spPr>
      </p:sp>
      <p:sp>
        <p:nvSpPr>
          <p:cNvPr id="8" name="Shape 5"/>
          <p:cNvSpPr/>
          <p:nvPr/>
        </p:nvSpPr>
        <p:spPr>
          <a:xfrm>
            <a:off x="822960" y="3602736"/>
            <a:ext cx="658368" cy="658368"/>
          </a:xfrm>
          <a:prstGeom prst="ellipse">
            <a:avLst/>
          </a:prstGeom>
          <a:solidFill>
            <a:srgbClr val="1A1F2B"/>
          </a:solidFill>
          <a:ln w="12700">
            <a:solidFill>
              <a:srgbClr val="1A1F2B"/>
            </a:solidFill>
            <a:prstDash val="solid"/>
          </a:ln>
        </p:spPr>
      </p:sp>
      <p:pic>
        <p:nvPicPr>
          <p:cNvPr id="9" name="Image 1" descr="preencoded.png">    </p:cNvPr>
          <p:cNvPicPr>
            <a:picLocks noChangeAspect="1"/>
          </p:cNvPicPr>
          <p:nvPr/>
        </p:nvPicPr>
        <p:blipFill>
          <a:blip r:embed="rId2"/>
          <a:stretch>
            <a:fillRect/>
          </a:stretch>
        </p:blipFill>
        <p:spPr>
          <a:xfrm>
            <a:off x="987552" y="3767328"/>
            <a:ext cx="329184" cy="329184"/>
          </a:xfrm>
          <a:prstGeom prst="rect">
            <a:avLst/>
          </a:prstGeom>
        </p:spPr>
      </p:pic>
      <p:sp>
        <p:nvSpPr>
          <p:cNvPr id="10" name="Text 6"/>
          <p:cNvSpPr txBox="1"/>
          <p:nvPr/>
        </p:nvSpPr>
        <p:spPr>
          <a:xfrm>
            <a:off x="1783080" y="3230880"/>
            <a:ext cx="5257800" cy="1402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Phones get blocked</a:t>
            </a:r>
            <a:endParaRPr lang="en-US" sz="2400" dirty="0"/>
          </a:p>
          <a:p>
            <a:pPr indent="0" marL="0">
              <a:buNone/>
            </a:pPr>
            <a:r>
              <a:rPr lang="en-US" sz="2400" dirty="0">
                <a:solidFill>
                  <a:srgbClr val="F2B98F"/>
                </a:solidFill>
                <a:latin typeface="Calibri" pitchFamily="34" charset="0"/>
                <a:ea typeface="Calibri" pitchFamily="34" charset="-122"/>
                <a:cs typeface="Calibri" pitchFamily="34" charset="-120"/>
              </a:rPr>
              <a:t>→ Test angles early</a:t>
            </a:r>
            <a:endParaRPr lang="en-US" sz="2400" dirty="0"/>
          </a:p>
        </p:txBody>
      </p:sp>
      <p:sp>
        <p:nvSpPr>
          <p:cNvPr id="11" name="Shape 7"/>
          <p:cNvSpPr/>
          <p:nvPr/>
        </p:nvSpPr>
        <p:spPr>
          <a:xfrm>
            <a:off x="548640" y="4907280"/>
            <a:ext cx="6766560" cy="1402080"/>
          </a:xfrm>
          <a:prstGeom prst="roundRect">
            <a:avLst>
              <a:gd name="adj" fmla="val 5217"/>
            </a:avLst>
          </a:prstGeom>
          <a:solidFill>
            <a:srgbClr val="2A3140"/>
          </a:solidFill>
          <a:ln w="12700">
            <a:solidFill>
              <a:srgbClr val="2A3140"/>
            </a:solidFill>
            <a:prstDash val="solid"/>
          </a:ln>
        </p:spPr>
      </p:sp>
      <p:sp>
        <p:nvSpPr>
          <p:cNvPr id="12" name="Shape 8"/>
          <p:cNvSpPr/>
          <p:nvPr/>
        </p:nvSpPr>
        <p:spPr>
          <a:xfrm>
            <a:off x="822960" y="5279136"/>
            <a:ext cx="658368" cy="658368"/>
          </a:xfrm>
          <a:prstGeom prst="ellipse">
            <a:avLst/>
          </a:prstGeom>
          <a:solidFill>
            <a:srgbClr val="1A1F2B"/>
          </a:solidFill>
          <a:ln w="12700">
            <a:solidFill>
              <a:srgbClr val="1A1F2B"/>
            </a:solidFill>
            <a:prstDash val="solid"/>
          </a:ln>
        </p:spPr>
      </p:sp>
      <p:pic>
        <p:nvPicPr>
          <p:cNvPr id="13" name="Image 2" descr="preencoded.png">    </p:cNvPr>
          <p:cNvPicPr>
            <a:picLocks noChangeAspect="1"/>
          </p:cNvPicPr>
          <p:nvPr/>
        </p:nvPicPr>
        <p:blipFill>
          <a:blip r:embed="rId3"/>
          <a:stretch>
            <a:fillRect/>
          </a:stretch>
        </p:blipFill>
        <p:spPr>
          <a:xfrm>
            <a:off x="987552" y="5443728"/>
            <a:ext cx="329184" cy="329184"/>
          </a:xfrm>
          <a:prstGeom prst="rect">
            <a:avLst/>
          </a:prstGeom>
        </p:spPr>
      </p:pic>
      <p:sp>
        <p:nvSpPr>
          <p:cNvPr id="14" name="Text 9"/>
          <p:cNvSpPr txBox="1"/>
          <p:nvPr/>
        </p:nvSpPr>
        <p:spPr>
          <a:xfrm>
            <a:off x="1783080" y="4907280"/>
            <a:ext cx="5257800" cy="1402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Theia3D isn't ground truth</a:t>
            </a:r>
            <a:endParaRPr lang="en-US" sz="2400" dirty="0"/>
          </a:p>
          <a:p>
            <a:pPr indent="0" marL="0">
              <a:buNone/>
            </a:pPr>
            <a:r>
              <a:rPr lang="en-US" sz="2400" dirty="0">
                <a:solidFill>
                  <a:srgbClr val="F2B98F"/>
                </a:solidFill>
                <a:latin typeface="Calibri" pitchFamily="34" charset="0"/>
                <a:ea typeface="Calibri" pitchFamily="34" charset="-122"/>
                <a:cs typeface="Calibri" pitchFamily="34" charset="-120"/>
              </a:rPr>
              <a:t>→ Report agreement</a:t>
            </a:r>
            <a:endParaRPr lang="en-US" sz="2400" dirty="0"/>
          </a:p>
        </p:txBody>
      </p:sp>
      <p:sp>
        <p:nvSpPr>
          <p:cNvPr id="15" name="Shape 10"/>
          <p:cNvSpPr/>
          <p:nvPr/>
        </p:nvSpPr>
        <p:spPr>
          <a:xfrm>
            <a:off x="7589520" y="1554480"/>
            <a:ext cx="4050792" cy="4754880"/>
          </a:xfrm>
          <a:prstGeom prst="roundRect">
            <a:avLst>
              <a:gd name="adj" fmla="val 1806"/>
            </a:avLst>
          </a:prstGeom>
          <a:solidFill>
            <a:srgbClr val="2A3140"/>
          </a:solidFill>
          <a:ln w="12700">
            <a:solidFill>
              <a:srgbClr val="2A3140"/>
            </a:solidFill>
            <a:prstDash val="solid"/>
          </a:ln>
        </p:spPr>
      </p:sp>
      <p:sp>
        <p:nvSpPr>
          <p:cNvPr id="16" name="Text 11"/>
          <p:cNvSpPr txBox="1"/>
          <p:nvPr/>
        </p:nvSpPr>
        <p:spPr>
          <a:xfrm>
            <a:off x="7863840" y="1828800"/>
            <a:ext cx="3502152" cy="457200"/>
          </a:xfrm>
          <a:prstGeom prst="rect">
            <a:avLst/>
          </a:prstGeom>
          <a:noFill/>
          <a:ln/>
        </p:spPr>
        <p:txBody>
          <a:bodyPr wrap="square" lIns="0" tIns="0" rIns="0" bIns="0" rtlCol="0" anchor="t"/>
          <a:lstStyle/>
          <a:p>
            <a:pPr indent="0" marL="0">
              <a:buNone/>
            </a:pPr>
            <a:r>
              <a:rPr lang="en-US" sz="2400" b="1" dirty="0">
                <a:solidFill>
                  <a:srgbClr val="BF5700"/>
                </a:solidFill>
                <a:latin typeface="Calibri" pitchFamily="34" charset="0"/>
                <a:ea typeface="Calibri" pitchFamily="34" charset="-122"/>
                <a:cs typeface="Calibri" pitchFamily="34" charset="-120"/>
              </a:rPr>
              <a:t>We need</a:t>
            </a:r>
            <a:endParaRPr lang="en-US" sz="2400" dirty="0"/>
          </a:p>
        </p:txBody>
      </p:sp>
      <p:sp>
        <p:nvSpPr>
          <p:cNvPr id="17" name="Shape 12"/>
          <p:cNvSpPr/>
          <p:nvPr/>
        </p:nvSpPr>
        <p:spPr>
          <a:xfrm>
            <a:off x="7863840" y="2377440"/>
            <a:ext cx="548640" cy="548640"/>
          </a:xfrm>
          <a:prstGeom prst="ellipse">
            <a:avLst/>
          </a:prstGeom>
          <a:solidFill>
            <a:srgbClr val="BF5700"/>
          </a:solidFill>
          <a:ln w="12700">
            <a:solidFill>
              <a:srgbClr val="BF5700"/>
            </a:solidFill>
            <a:prstDash val="solid"/>
          </a:ln>
        </p:spPr>
      </p:sp>
      <p:pic>
        <p:nvPicPr>
          <p:cNvPr id="18" name="Image 3" descr="preencoded.png">    </p:cNvPr>
          <p:cNvPicPr>
            <a:picLocks noChangeAspect="1"/>
          </p:cNvPicPr>
          <p:nvPr/>
        </p:nvPicPr>
        <p:blipFill>
          <a:blip r:embed="rId4"/>
          <a:stretch>
            <a:fillRect/>
          </a:stretch>
        </p:blipFill>
        <p:spPr>
          <a:xfrm>
            <a:off x="8001000" y="2514600"/>
            <a:ext cx="274320" cy="274320"/>
          </a:xfrm>
          <a:prstGeom prst="rect">
            <a:avLst/>
          </a:prstGeom>
        </p:spPr>
      </p:pic>
      <p:sp>
        <p:nvSpPr>
          <p:cNvPr id="19" name="Text 13"/>
          <p:cNvSpPr txBox="1"/>
          <p:nvPr/>
        </p:nvSpPr>
        <p:spPr>
          <a:xfrm>
            <a:off x="8595360" y="2377440"/>
            <a:ext cx="2770632"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Theia3D + Bertec time</a:t>
            </a:r>
            <a:endParaRPr lang="en-US" sz="2400" dirty="0"/>
          </a:p>
        </p:txBody>
      </p:sp>
      <p:sp>
        <p:nvSpPr>
          <p:cNvPr id="20" name="Shape 14"/>
          <p:cNvSpPr/>
          <p:nvPr/>
        </p:nvSpPr>
        <p:spPr>
          <a:xfrm>
            <a:off x="7863840" y="3108960"/>
            <a:ext cx="548640" cy="548640"/>
          </a:xfrm>
          <a:prstGeom prst="ellipse">
            <a:avLst/>
          </a:prstGeom>
          <a:solidFill>
            <a:srgbClr val="BF5700"/>
          </a:solidFill>
          <a:ln w="12700">
            <a:solidFill>
              <a:srgbClr val="BF5700"/>
            </a:solidFill>
            <a:prstDash val="solid"/>
          </a:ln>
        </p:spPr>
      </p:sp>
      <p:pic>
        <p:nvPicPr>
          <p:cNvPr id="21" name="Image 4" descr="preencoded.png">    </p:cNvPr>
          <p:cNvPicPr>
            <a:picLocks noChangeAspect="1"/>
          </p:cNvPicPr>
          <p:nvPr/>
        </p:nvPicPr>
        <p:blipFill>
          <a:blip r:embed="rId5"/>
          <a:stretch>
            <a:fillRect/>
          </a:stretch>
        </p:blipFill>
        <p:spPr>
          <a:xfrm>
            <a:off x="8001000" y="3246120"/>
            <a:ext cx="274320" cy="274320"/>
          </a:xfrm>
          <a:prstGeom prst="rect">
            <a:avLst/>
          </a:prstGeom>
        </p:spPr>
      </p:pic>
      <p:sp>
        <p:nvSpPr>
          <p:cNvPr id="22" name="Text 15"/>
          <p:cNvSpPr txBox="1"/>
          <p:nvPr/>
        </p:nvSpPr>
        <p:spPr>
          <a:xfrm>
            <a:off x="8595360" y="3108960"/>
            <a:ext cx="2770632"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Terrain park access</a:t>
            </a:r>
            <a:endParaRPr lang="en-US" sz="2400" dirty="0"/>
          </a:p>
        </p:txBody>
      </p:sp>
      <p:sp>
        <p:nvSpPr>
          <p:cNvPr id="23" name="Shape 16"/>
          <p:cNvSpPr/>
          <p:nvPr/>
        </p:nvSpPr>
        <p:spPr>
          <a:xfrm>
            <a:off x="7863840" y="3840480"/>
            <a:ext cx="548640" cy="548640"/>
          </a:xfrm>
          <a:prstGeom prst="ellipse">
            <a:avLst/>
          </a:prstGeom>
          <a:solidFill>
            <a:srgbClr val="BF5700"/>
          </a:solidFill>
          <a:ln w="12700">
            <a:solidFill>
              <a:srgbClr val="BF5700"/>
            </a:solidFill>
            <a:prstDash val="solid"/>
          </a:ln>
        </p:spPr>
      </p:sp>
      <p:pic>
        <p:nvPicPr>
          <p:cNvPr id="24" name="Image 5" descr="preencoded.png">    </p:cNvPr>
          <p:cNvPicPr>
            <a:picLocks noChangeAspect="1"/>
          </p:cNvPicPr>
          <p:nvPr/>
        </p:nvPicPr>
        <p:blipFill>
          <a:blip r:embed="rId6"/>
          <a:stretch>
            <a:fillRect/>
          </a:stretch>
        </p:blipFill>
        <p:spPr>
          <a:xfrm>
            <a:off x="8001000" y="3977640"/>
            <a:ext cx="274320" cy="274320"/>
          </a:xfrm>
          <a:prstGeom prst="rect">
            <a:avLst/>
          </a:prstGeom>
        </p:spPr>
      </p:pic>
      <p:sp>
        <p:nvSpPr>
          <p:cNvPr id="25" name="Text 17"/>
          <p:cNvSpPr txBox="1"/>
          <p:nvPr/>
        </p:nvSpPr>
        <p:spPr>
          <a:xfrm>
            <a:off x="8595360" y="3840480"/>
            <a:ext cx="2770632"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~$130 in materials</a:t>
            </a:r>
            <a:endParaRPr lang="en-US" sz="2400" dirty="0"/>
          </a:p>
        </p:txBody>
      </p:sp>
      <p:sp>
        <p:nvSpPr>
          <p:cNvPr id="26" name="Shape 18"/>
          <p:cNvSpPr/>
          <p:nvPr/>
        </p:nvSpPr>
        <p:spPr>
          <a:xfrm>
            <a:off x="7863840" y="4572000"/>
            <a:ext cx="548640" cy="548640"/>
          </a:xfrm>
          <a:prstGeom prst="ellipse">
            <a:avLst/>
          </a:prstGeom>
          <a:solidFill>
            <a:srgbClr val="BF5700"/>
          </a:solidFill>
          <a:ln w="12700">
            <a:solidFill>
              <a:srgbClr val="BF5700"/>
            </a:solidFill>
            <a:prstDash val="solid"/>
          </a:ln>
        </p:spPr>
      </p:sp>
      <p:pic>
        <p:nvPicPr>
          <p:cNvPr id="27" name="Image 6" descr="preencoded.png">    </p:cNvPr>
          <p:cNvPicPr>
            <a:picLocks noChangeAspect="1"/>
          </p:cNvPicPr>
          <p:nvPr/>
        </p:nvPicPr>
        <p:blipFill>
          <a:blip r:embed="rId7"/>
          <a:stretch>
            <a:fillRect/>
          </a:stretch>
        </p:blipFill>
        <p:spPr>
          <a:xfrm>
            <a:off x="8001000" y="4709160"/>
            <a:ext cx="274320" cy="274320"/>
          </a:xfrm>
          <a:prstGeom prst="rect">
            <a:avLst/>
          </a:prstGeom>
        </p:spPr>
      </p:pic>
      <p:sp>
        <p:nvSpPr>
          <p:cNvPr id="28" name="Text 19"/>
          <p:cNvSpPr txBox="1"/>
          <p:nvPr/>
        </p:nvSpPr>
        <p:spPr>
          <a:xfrm>
            <a:off x="8595360" y="4572000"/>
            <a:ext cx="2770632" cy="54864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Your feedback</a:t>
            </a:r>
            <a:endParaRPr lang="en-US" sz="2400" dirty="0"/>
          </a:p>
        </p:txBody>
      </p:sp>
      <p:sp>
        <p:nvSpPr>
          <p:cNvPr id="29" name="Text 20"/>
          <p:cNvSpPr txBox="1"/>
          <p:nvPr/>
        </p:nvSpPr>
        <p:spPr>
          <a:xfrm>
            <a:off x="7863840" y="5394960"/>
            <a:ext cx="3502152" cy="640080"/>
          </a:xfrm>
          <a:prstGeom prst="rect">
            <a:avLst/>
          </a:prstGeom>
          <a:noFill/>
          <a:ln/>
        </p:spPr>
        <p:txBody>
          <a:bodyPr wrap="square" lIns="0" tIns="0" rIns="0" bIns="0" rtlCol="0" anchor="b"/>
          <a:lstStyle/>
          <a:p>
            <a:pPr indent="0" marL="0">
              <a:buNone/>
            </a:pPr>
            <a:r>
              <a:rPr lang="en-US" sz="4000" b="1" dirty="0">
                <a:solidFill>
                  <a:srgbClr val="BF5700"/>
                </a:solidFill>
                <a:latin typeface="Arial" pitchFamily="34" charset="0"/>
                <a:ea typeface="Arial" pitchFamily="34" charset="-122"/>
                <a:cs typeface="Arial" pitchFamily="34" charset="-120"/>
              </a:rPr>
              <a:t>Questions?</a:t>
            </a:r>
            <a:endParaRPr lang="en-US" sz="4000" dirty="0"/>
          </a:p>
        </p:txBody>
      </p:sp>
      <p:sp>
        <p:nvSpPr>
          <p:cNvPr id="30" name="Text 21"/>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200" dirty="0">
                <a:solidFill>
                  <a:srgbClr val="8A93A3"/>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548640"/>
            <a:ext cx="11091672" cy="731520"/>
          </a:xfrm>
          <a:prstGeom prst="rect">
            <a:avLst/>
          </a:prstGeom>
          <a:noFill/>
          <a:ln/>
        </p:spPr>
        <p:txBody>
          <a:bodyPr wrap="square" lIns="0" tIns="0" rIns="0" bIns="0" rtlCol="0" anchor="t"/>
          <a:lstStyle/>
          <a:p>
            <a:pPr indent="0" marL="0">
              <a:buNone/>
            </a:pPr>
            <a:r>
              <a:rPr lang="en-US" sz="3800" b="1" dirty="0">
                <a:solidFill>
                  <a:srgbClr val="1A1F2B"/>
                </a:solidFill>
                <a:latin typeface="Arial" pitchFamily="34" charset="0"/>
                <a:ea typeface="Arial" pitchFamily="34" charset="-122"/>
                <a:cs typeface="Arial" pitchFamily="34" charset="-120"/>
              </a:rPr>
              <a:t>Sources</a:t>
            </a:r>
            <a:endParaRPr lang="en-US" sz="3800" dirty="0"/>
          </a:p>
        </p:txBody>
      </p:sp>
      <p:sp>
        <p:nvSpPr>
          <p:cNvPr id="3" name="Text 1"/>
          <p:cNvSpPr txBox="1"/>
          <p:nvPr/>
        </p:nvSpPr>
        <p:spPr>
          <a:xfrm>
            <a:off x="548640" y="1554480"/>
            <a:ext cx="11091672" cy="4754880"/>
          </a:xfrm>
          <a:prstGeom prst="rect">
            <a:avLst/>
          </a:prstGeom>
          <a:noFill/>
          <a:ln/>
        </p:spPr>
        <p:txBody>
          <a:bodyPr wrap="square" lIns="0" tIns="0" rIns="0" bIns="0" rtlCol="0" anchor="t"/>
          <a:lstStyle/>
          <a:p>
            <a:pPr indent="0" marL="0">
              <a:spcAft>
                <a:spcPts val="800"/>
              </a:spcAft>
              <a:buNone/>
            </a:pPr>
            <a:r>
              <a:rPr lang="en-US" sz="2000" dirty="0">
                <a:solidFill>
                  <a:srgbClr val="1A1F2B"/>
                </a:solidFill>
                <a:latin typeface="Calibri" pitchFamily="34" charset="0"/>
                <a:ea typeface="Calibri" pitchFamily="34" charset="-122"/>
                <a:cs typeface="Calibri" pitchFamily="34" charset="-120"/>
              </a:rPr>
              <a:t>[1] Uhlrich SD et al. OpenCap: Human movement dynamics from smartphone videos. PLOS Comput Biol. 2023.</a:t>
            </a:r>
            <a:endParaRPr lang="en-US" sz="2000" dirty="0"/>
          </a:p>
          <a:p>
            <a:pPr indent="0" marL="0">
              <a:spcAft>
                <a:spcPts val="800"/>
              </a:spcAft>
              <a:buNone/>
            </a:pPr>
            <a:r>
              <a:rPr lang="en-US" sz="2000" dirty="0">
                <a:solidFill>
                  <a:srgbClr val="1A1F2B"/>
                </a:solidFill>
                <a:latin typeface="Calibri" pitchFamily="34" charset="0"/>
                <a:ea typeface="Calibri" pitchFamily="34" charset="-122"/>
                <a:cs typeface="Calibri" pitchFamily="34" charset="-120"/>
              </a:rPr>
              <a:t>[2] Kanko RM et al. Concurrent assessment of gait kinematics using marker-based and markerless motion capture. J Biomech. 2021.</a:t>
            </a:r>
            <a:endParaRPr lang="en-US" sz="2000" dirty="0"/>
          </a:p>
          <a:p>
            <a:pPr indent="0" marL="0">
              <a:spcAft>
                <a:spcPts val="800"/>
              </a:spcAft>
              <a:buNone/>
            </a:pPr>
            <a:r>
              <a:rPr lang="en-US" sz="2000" dirty="0">
                <a:solidFill>
                  <a:srgbClr val="1A1F2B"/>
                </a:solidFill>
                <a:latin typeface="Calibri" pitchFamily="34" charset="0"/>
                <a:ea typeface="Calibri" pitchFamily="34" charset="-122"/>
                <a:cs typeface="Calibri" pitchFamily="34" charset="-120"/>
              </a:rPr>
              <a:t>[3] Delp SL et al. OpenSim: open-source software to create and analyze dynamic simulations of movement. IEEE TBME. 2007.</a:t>
            </a:r>
            <a:endParaRPr lang="en-US" sz="2000" dirty="0"/>
          </a:p>
          <a:p>
            <a:pPr indent="0" marL="0">
              <a:spcAft>
                <a:spcPts val="800"/>
              </a:spcAft>
              <a:buNone/>
            </a:pPr>
            <a:r>
              <a:rPr lang="en-US" sz="2000" dirty="0">
                <a:solidFill>
                  <a:srgbClr val="1A1F2B"/>
                </a:solidFill>
                <a:latin typeface="Calibri" pitchFamily="34" charset="0"/>
                <a:ea typeface="Calibri" pitchFamily="34" charset="-122"/>
                <a:cs typeface="Calibri" pitchFamily="34" charset="-120"/>
              </a:rPr>
              <a:t>[4] Seth A et al. OpenSim: simulating musculoskeletal dynamics and neuromuscular control. PLOS Comput Biol. 2018.</a:t>
            </a:r>
            <a:endParaRPr lang="en-US" sz="2000" dirty="0"/>
          </a:p>
          <a:p>
            <a:pPr indent="0" marL="0">
              <a:spcAft>
                <a:spcPts val="800"/>
              </a:spcAft>
              <a:buNone/>
            </a:pPr>
            <a:r>
              <a:rPr lang="en-US" sz="2000" dirty="0">
                <a:solidFill>
                  <a:srgbClr val="1A1F2B"/>
                </a:solidFill>
                <a:latin typeface="Calibri" pitchFamily="34" charset="0"/>
                <a:ea typeface="Calibri" pitchFamily="34" charset="-122"/>
                <a:cs typeface="Calibri" pitchFamily="34" charset="-120"/>
              </a:rPr>
              <a:t>[5] Cotton RJ et al. Portable biomechanics laboratory: movement analysis from a handheld smartphone. 2025.</a:t>
            </a:r>
            <a:endParaRPr lang="en-US" sz="2000" dirty="0"/>
          </a:p>
          <a:p>
            <a:pPr indent="0" marL="0">
              <a:spcAft>
                <a:spcPts val="800"/>
              </a:spcAft>
              <a:buNone/>
            </a:pPr>
            <a:r>
              <a:rPr lang="en-US" sz="2000" dirty="0">
                <a:solidFill>
                  <a:srgbClr val="1A1F2B"/>
                </a:solidFill>
                <a:latin typeface="Calibri" pitchFamily="34" charset="0"/>
                <a:ea typeface="Calibri" pitchFamily="34" charset="-122"/>
                <a:cs typeface="Calibri" pitchFamily="34" charset="-120"/>
              </a:rPr>
              <a:t>[6] Bland JM, Altman DG. Statistical methods for assessing agreement between two methods of clinical measurement. Lancet. 1986.</a:t>
            </a:r>
            <a:endParaRPr lang="en-US" sz="2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200" dirty="0">
                <a:solidFill>
                  <a:srgbClr val="5B6472"/>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Motion Capture Proposal</dc:title>
  <dc:subject>PptxGenJS Presentation</dc:subject>
  <dc:creator>Oaj Saini, Asiya Sunesara, Tarun Muruganandham</dc:creator>
  <cp:lastModifiedBy>Oaj Saini, Asiya Sunesara, Tarun Muruganandham</cp:lastModifiedBy>
  <cp:revision>1</cp:revision>
  <dcterms:created xsi:type="dcterms:W3CDTF">2026-09-23T19:08:16Z</dcterms:created>
  <dcterms:modified xsi:type="dcterms:W3CDTF">2026-09-23T19:08:16Z</dcterms:modified>
</cp:coreProperties>
</file>